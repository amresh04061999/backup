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9" r:id="rId1"/>
    <p:sldMasterId id="2147483727" r:id="rId2"/>
  </p:sldMasterIdLst>
  <p:notesMasterIdLst>
    <p:notesMasterId r:id="rId20"/>
  </p:notesMasterIdLst>
  <p:handoutMasterIdLst>
    <p:handoutMasterId r:id="rId21"/>
  </p:handoutMasterIdLst>
  <p:sldIdLst>
    <p:sldId id="2145706995" r:id="rId3"/>
    <p:sldId id="293" r:id="rId4"/>
    <p:sldId id="2145706911" r:id="rId5"/>
    <p:sldId id="2145706986" r:id="rId6"/>
    <p:sldId id="2145706990" r:id="rId7"/>
    <p:sldId id="2145706992" r:id="rId8"/>
    <p:sldId id="2145706993" r:id="rId9"/>
    <p:sldId id="2145706946" r:id="rId10"/>
    <p:sldId id="2145706991" r:id="rId11"/>
    <p:sldId id="2145706980" r:id="rId12"/>
    <p:sldId id="2145706969" r:id="rId13"/>
    <p:sldId id="2145706994" r:id="rId14"/>
    <p:sldId id="2145706953" r:id="rId15"/>
    <p:sldId id="2145706976" r:id="rId16"/>
    <p:sldId id="2145706979" r:id="rId17"/>
    <p:sldId id="2145706977" r:id="rId18"/>
    <p:sldId id="263" r:id="rId19"/>
  </p:sldIdLst>
  <p:sldSz cx="12192000" cy="6858000"/>
  <p:notesSz cx="6858000" cy="9144000"/>
  <p:embeddedFontLst>
    <p:embeddedFont>
      <p:font typeface="Marsh Serif" pitchFamily="50" charset="0"/>
      <p:regular r:id="rId22"/>
      <p:italic r:id="rId23"/>
    </p:embeddedFont>
    <p:embeddedFont>
      <p:font typeface="MMC Display Condensed" panose="020B0606020203020204" pitchFamily="34" charset="0"/>
      <p:regular r:id="rId24"/>
      <p:bold r:id="rId25"/>
    </p:embeddedFont>
    <p:embeddedFont>
      <p:font typeface="Noto Sans" panose="020B0502040504020204" pitchFamily="34" charset="0"/>
      <p:regular r:id="rId26"/>
      <p:bold r:id="rId27"/>
      <p:italic r:id="rId28"/>
      <p:boldItalic r:id="rId29"/>
    </p:embeddedFont>
  </p:embeddedFontLst>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FA9717-B8D6-4DCD-B2BE-2D413760869D}" v="3" dt="2026-05-22T18:22:06.775"/>
  </p1510:revLst>
</p1510:revInfo>
</file>

<file path=ppt/tableStyles.xml><?xml version="1.0" encoding="utf-8"?>
<a:tblStyleLst xmlns:a="http://schemas.openxmlformats.org/drawingml/2006/main" def="{839DD9DD-9E6C-4910-8AC0-68ADFF6A6AFC}">
  <a:tblStyle styleId="{839DD9DD-9E6C-4910-8AC0-68ADFF6A6AFC}" styleName="OW Table 1">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DEE88F5C-1499-4FF7-93D6-36A3AE1B8DDA}" styleName="OW Table 2">
    <a:wholeTbl>
      <a:tcStyle>
        <a:tcBdr>
          <a:left>
            <a:ln>
              <a:noFill/>
            </a:ln>
          </a:left>
          <a:right>
            <a:ln>
              <a:noFill/>
            </a:ln>
          </a:right>
          <a:top>
            <a:ln>
              <a:noFill/>
            </a:ln>
          </a:top>
          <a:bottom>
            <a:ln cmpd="sng">
              <a:noFill/>
            </a:ln>
          </a:bottom>
          <a:insideH>
            <a:ln w="9525" cmpd="sng">
              <a:solidFill>
                <a:srgbClr val="D1CEC9"/>
              </a:solidFill>
            </a:ln>
          </a:insideH>
          <a:insideV>
            <a:ln>
              <a:noFill/>
            </a:ln>
          </a:insideV>
        </a:tcBdr>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tcTxStyle>
      <a:tcStyle>
        <a:tcBdr>
          <a:bottom>
            <a:ln w="9525" cmpd="sng">
              <a:solidFill>
                <a:schemeClr val="tx1"/>
              </a:solidFill>
            </a:ln>
          </a:bottom>
        </a:tcBdr>
        <a:fill>
          <a:noFill/>
        </a:fill>
      </a:tcStyle>
    </a:firstRow>
  </a:tblStyle>
  <a:tblStyle styleId="{C1A551C0-2026-AC11-E31C-4D4D43000001}" styleName="OW Table 3">
    <a:wholeTbl>
      <a:tcStyle>
        <a:tcBdr>
          <a:left>
            <a:ln>
              <a:noFill/>
            </a:ln>
          </a:left>
          <a:right>
            <a:ln>
              <a:noFill/>
            </a:ln>
          </a:right>
          <a:top>
            <a:ln>
              <a:noFill/>
            </a:ln>
          </a:top>
          <a:bottom>
            <a:ln>
              <a:noFill/>
            </a:ln>
          </a:bottom>
          <a:insideH>
            <a:ln w="9525" cmpd="sng">
              <a:solidFill>
                <a:srgbClr val="D1CEC9"/>
              </a:solidFill>
            </a:ln>
          </a:insideH>
          <a:insideV>
            <a:ln>
              <a:noFill/>
            </a:ln>
          </a:insideV>
        </a:tcBdr>
      </a:tcStyle>
    </a:wholeTbl>
    <a:band1H>
      <a:tcStyle>
        <a:tcBdr/>
      </a:tcStyle>
    </a:band1H>
    <a:band2H>
      <a:tcTxStyle>
        <a:fontRef idx="minor">
          <a:prstClr val="black"/>
        </a:fontRef>
        <a:schemeClr val="accent1"/>
      </a:tcTxStyle>
      <a:tcStyle>
        <a:tcBdr>
          <a:left>
            <a:ln>
              <a:noFill/>
            </a:ln>
          </a:left>
          <a:right>
            <a:ln>
              <a:noFill/>
            </a:ln>
          </a:right>
          <a:top>
            <a:ln>
              <a:noFill/>
            </a:ln>
          </a:top>
          <a:bottom>
            <a:ln>
              <a:noFill/>
            </a:ln>
          </a:bottom>
          <a:insideH>
            <a:ln>
              <a:noFill/>
            </a:ln>
          </a:insideH>
          <a:insideV>
            <a:ln>
              <a:noFill/>
            </a:ln>
          </a:insideV>
        </a:tcBdr>
        <a:fill>
          <a:solidFill>
            <a:srgbClr val="F7F3EE"/>
          </a:solidFill>
        </a:fill>
      </a:tcStyle>
    </a:band2H>
    <a:band1V>
      <a:tcTxStyle>
        <a:fontRef idx="minor">
          <a:prstClr val="black"/>
        </a:fontRef>
        <a:schemeClr val="accent1"/>
      </a:tcTxStyle>
      <a:tcStyle>
        <a:tcBdr/>
        <a:fill>
          <a:solidFill>
            <a:srgbClr val="F7F3EE"/>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 styleId="{BFED5174-02BB-453E-812A-08A1B9408351}" styleName="OW Table 4 (for dark bg)">
    <a:wholeTbl>
      <a:tcStyle>
        <a:tcBdr>
          <a:left>
            <a:ln>
              <a:noFill/>
            </a:ln>
          </a:left>
          <a:right>
            <a:ln>
              <a:noFill/>
            </a:ln>
          </a:right>
          <a:top>
            <a:ln>
              <a:noFill/>
            </a:ln>
          </a:top>
          <a:bottom>
            <a:ln>
              <a:noFill/>
            </a:ln>
          </a:bottom>
          <a:insideH>
            <a:ln w="9525" cmpd="sng">
              <a:solidFill>
                <a:schemeClr val="tx1"/>
              </a:solidFill>
            </a:ln>
          </a:insideH>
          <a:insideV>
            <a:ln>
              <a:noFill/>
            </a:ln>
          </a:insideV>
        </a:tcBdr>
      </a:tcStyle>
    </a:wholeTbl>
    <a:band1H>
      <a:tcStyle>
        <a:tcBdr/>
      </a:tcStyle>
    </a:band1H>
    <a:band2H>
      <a:tcStyle>
        <a:tcBdr>
          <a:left>
            <a:ln>
              <a:noFill/>
            </a:ln>
          </a:left>
          <a:right>
            <a:ln>
              <a:noFill/>
            </a:ln>
          </a:right>
          <a:top>
            <a:ln>
              <a:noFill/>
            </a:ln>
          </a:top>
          <a:bottom>
            <a:ln>
              <a:noFill/>
            </a:ln>
          </a:bottom>
          <a:insideH>
            <a:ln>
              <a:noFill/>
            </a:ln>
          </a:insideH>
          <a:insideV>
            <a:ln>
              <a:noFill/>
            </a:ln>
          </a:insideV>
        </a:tcBdr>
        <a:fill>
          <a:solidFill>
            <a:srgbClr val="FFFFFF">
              <a:alpha val="14902"/>
            </a:srgbClr>
          </a:solidFill>
        </a:fill>
      </a:tcStyle>
    </a:band2H>
    <a:band1V>
      <a:tcStyle>
        <a:tcBdr/>
        <a:fill>
          <a:solidFill>
            <a:srgbClr val="FFFFFF">
              <a:alpha val="14902"/>
            </a:srgbClr>
          </a:solidFill>
        </a:fill>
      </a:tcStyle>
    </a:band1V>
    <a:band2V>
      <a:tcStyle>
        <a:tcBdr/>
      </a:tcStyle>
    </a:band2V>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top>
            <a:ln w="9525" cmpd="sng">
              <a:solidFill>
                <a:schemeClr val="tx1"/>
              </a:solidFill>
            </a:ln>
          </a:top>
        </a:tcBdr>
      </a:tcStyle>
    </a:lastRow>
    <a:firstRow>
      <a:tcTxStyle b="on">
        <a:fontRef idx="minor">
          <a:prstClr val="black"/>
        </a:fontRef>
        <a:schemeClr val="bg1"/>
      </a:tcTxStyle>
      <a:tcStyle>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60"/>
  </p:normalViewPr>
  <p:slideViewPr>
    <p:cSldViewPr snapToGrid="0" showGuides="1">
      <p:cViewPr varScale="1">
        <p:scale>
          <a:sx n="161" d="100"/>
          <a:sy n="161" d="100"/>
        </p:scale>
        <p:origin x="23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handoutMaster" Target="handoutMasters/handoutMaster1.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ags" Target="tags/tag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ker, Harry" userId="f60e1eb5-2aca-4ce8-9ba9-cb0e5e1af6ac" providerId="ADAL" clId="{99576023-437D-43C2-BB51-AC59C15311B2}"/>
    <pc:docChg chg="custSel addSld delSld modSld sldOrd">
      <pc:chgData name="Walker, Harry" userId="f60e1eb5-2aca-4ce8-9ba9-cb0e5e1af6ac" providerId="ADAL" clId="{99576023-437D-43C2-BB51-AC59C15311B2}" dt="2026-05-22T18:35:35.850" v="483" actId="20577"/>
      <pc:docMkLst>
        <pc:docMk/>
      </pc:docMkLst>
      <pc:sldChg chg="modSp mod">
        <pc:chgData name="Walker, Harry" userId="f60e1eb5-2aca-4ce8-9ba9-cb0e5e1af6ac" providerId="ADAL" clId="{99576023-437D-43C2-BB51-AC59C15311B2}" dt="2026-05-22T18:22:03.355" v="269" actId="20577"/>
        <pc:sldMkLst>
          <pc:docMk/>
          <pc:sldMk cId="3469511079" sldId="2145706946"/>
        </pc:sldMkLst>
        <pc:spChg chg="mod">
          <ac:chgData name="Walker, Harry" userId="f60e1eb5-2aca-4ce8-9ba9-cb0e5e1af6ac" providerId="ADAL" clId="{99576023-437D-43C2-BB51-AC59C15311B2}" dt="2026-05-22T18:22:03.355" v="269" actId="20577"/>
          <ac:spMkLst>
            <pc:docMk/>
            <pc:sldMk cId="3469511079" sldId="2145706946"/>
            <ac:spMk id="3" creationId="{39952B9F-B216-AE31-AD9D-E7AC2BDA6ACA}"/>
          </ac:spMkLst>
        </pc:spChg>
      </pc:sldChg>
      <pc:sldChg chg="modSp add mod">
        <pc:chgData name="Walker, Harry" userId="f60e1eb5-2aca-4ce8-9ba9-cb0e5e1af6ac" providerId="ADAL" clId="{99576023-437D-43C2-BB51-AC59C15311B2}" dt="2026-05-22T18:20:49" v="149" actId="20577"/>
        <pc:sldMkLst>
          <pc:docMk/>
          <pc:sldMk cId="2498622470" sldId="2145706953"/>
        </pc:sldMkLst>
        <pc:spChg chg="mod">
          <ac:chgData name="Walker, Harry" userId="f60e1eb5-2aca-4ce8-9ba9-cb0e5e1af6ac" providerId="ADAL" clId="{99576023-437D-43C2-BB51-AC59C15311B2}" dt="2026-05-22T18:19:59.104" v="44" actId="20577"/>
          <ac:spMkLst>
            <pc:docMk/>
            <pc:sldMk cId="2498622470" sldId="2145706953"/>
            <ac:spMk id="2" creationId="{55C00828-9023-B90A-E830-A2EA6C790AAD}"/>
          </ac:spMkLst>
        </pc:spChg>
        <pc:graphicFrameChg chg="modGraphic">
          <ac:chgData name="Walker, Harry" userId="f60e1eb5-2aca-4ce8-9ba9-cb0e5e1af6ac" providerId="ADAL" clId="{99576023-437D-43C2-BB51-AC59C15311B2}" dt="2026-05-22T18:20:49" v="149" actId="20577"/>
          <ac:graphicFrameMkLst>
            <pc:docMk/>
            <pc:sldMk cId="2498622470" sldId="2145706953"/>
            <ac:graphicFrameMk id="5" creationId="{F071624B-3EDA-9381-51DF-8FA13FCBA1D8}"/>
          </ac:graphicFrameMkLst>
        </pc:graphicFrameChg>
      </pc:sldChg>
      <pc:sldChg chg="del">
        <pc:chgData name="Walker, Harry" userId="f60e1eb5-2aca-4ce8-9ba9-cb0e5e1af6ac" providerId="ADAL" clId="{99576023-437D-43C2-BB51-AC59C15311B2}" dt="2026-05-22T18:18:39.363" v="6" actId="47"/>
        <pc:sldMkLst>
          <pc:docMk/>
          <pc:sldMk cId="736606126" sldId="2145706964"/>
        </pc:sldMkLst>
      </pc:sldChg>
      <pc:sldChg chg="delSp modSp add mod">
        <pc:chgData name="Walker, Harry" userId="f60e1eb5-2aca-4ce8-9ba9-cb0e5e1af6ac" providerId="ADAL" clId="{99576023-437D-43C2-BB51-AC59C15311B2}" dt="2026-05-22T18:19:20.250" v="10" actId="478"/>
        <pc:sldMkLst>
          <pc:docMk/>
          <pc:sldMk cId="2351099965" sldId="2145706969"/>
        </pc:sldMkLst>
        <pc:spChg chg="del mod">
          <ac:chgData name="Walker, Harry" userId="f60e1eb5-2aca-4ce8-9ba9-cb0e5e1af6ac" providerId="ADAL" clId="{99576023-437D-43C2-BB51-AC59C15311B2}" dt="2026-05-22T18:19:20.250" v="10" actId="478"/>
          <ac:spMkLst>
            <pc:docMk/>
            <pc:sldMk cId="2351099965" sldId="2145706969"/>
            <ac:spMk id="46" creationId="{9285EF4E-B130-5759-8A04-2AED87710013}"/>
          </ac:spMkLst>
        </pc:spChg>
      </pc:sldChg>
      <pc:sldChg chg="modSp add mod">
        <pc:chgData name="Walker, Harry" userId="f60e1eb5-2aca-4ce8-9ba9-cb0e5e1af6ac" providerId="ADAL" clId="{99576023-437D-43C2-BB51-AC59C15311B2}" dt="2026-05-22T18:20:53.633" v="161" actId="20577"/>
        <pc:sldMkLst>
          <pc:docMk/>
          <pc:sldMk cId="1684951133" sldId="2145706976"/>
        </pc:sldMkLst>
        <pc:spChg chg="mod">
          <ac:chgData name="Walker, Harry" userId="f60e1eb5-2aca-4ce8-9ba9-cb0e5e1af6ac" providerId="ADAL" clId="{99576023-437D-43C2-BB51-AC59C15311B2}" dt="2026-05-22T18:20:18.832" v="96" actId="20577"/>
          <ac:spMkLst>
            <pc:docMk/>
            <pc:sldMk cId="1684951133" sldId="2145706976"/>
            <ac:spMk id="2" creationId="{B8E3D34D-1B1D-D3DB-04DA-449818F74CDD}"/>
          </ac:spMkLst>
        </pc:spChg>
        <pc:graphicFrameChg chg="modGraphic">
          <ac:chgData name="Walker, Harry" userId="f60e1eb5-2aca-4ce8-9ba9-cb0e5e1af6ac" providerId="ADAL" clId="{99576023-437D-43C2-BB51-AC59C15311B2}" dt="2026-05-22T18:20:53.633" v="161" actId="20577"/>
          <ac:graphicFrameMkLst>
            <pc:docMk/>
            <pc:sldMk cId="1684951133" sldId="2145706976"/>
            <ac:graphicFrameMk id="5" creationId="{D956DD8C-3487-4B2F-54CF-F0A65630EC4A}"/>
          </ac:graphicFrameMkLst>
        </pc:graphicFrameChg>
      </pc:sldChg>
      <pc:sldChg chg="modSp add mod">
        <pc:chgData name="Walker, Harry" userId="f60e1eb5-2aca-4ce8-9ba9-cb0e5e1af6ac" providerId="ADAL" clId="{99576023-437D-43C2-BB51-AC59C15311B2}" dt="2026-05-22T18:21:22.417" v="233" actId="20577"/>
        <pc:sldMkLst>
          <pc:docMk/>
          <pc:sldMk cId="1000071137" sldId="2145706977"/>
        </pc:sldMkLst>
        <pc:spChg chg="mod">
          <ac:chgData name="Walker, Harry" userId="f60e1eb5-2aca-4ce8-9ba9-cb0e5e1af6ac" providerId="ADAL" clId="{99576023-437D-43C2-BB51-AC59C15311B2}" dt="2026-05-22T18:21:22.417" v="233" actId="20577"/>
          <ac:spMkLst>
            <pc:docMk/>
            <pc:sldMk cId="1000071137" sldId="2145706977"/>
            <ac:spMk id="2" creationId="{4B266797-639C-2715-4728-131B25E85014}"/>
          </ac:spMkLst>
        </pc:spChg>
        <pc:graphicFrameChg chg="modGraphic">
          <ac:chgData name="Walker, Harry" userId="f60e1eb5-2aca-4ce8-9ba9-cb0e5e1af6ac" providerId="ADAL" clId="{99576023-437D-43C2-BB51-AC59C15311B2}" dt="2026-05-22T18:21:00.951" v="175" actId="20577"/>
          <ac:graphicFrameMkLst>
            <pc:docMk/>
            <pc:sldMk cId="1000071137" sldId="2145706977"/>
            <ac:graphicFrameMk id="5" creationId="{49171B25-F392-5036-3D36-75586305A422}"/>
          </ac:graphicFrameMkLst>
        </pc:graphicFrameChg>
      </pc:sldChg>
      <pc:sldChg chg="modSp add mod">
        <pc:chgData name="Walker, Harry" userId="f60e1eb5-2aca-4ce8-9ba9-cb0e5e1af6ac" providerId="ADAL" clId="{99576023-437D-43C2-BB51-AC59C15311B2}" dt="2026-05-22T18:20:42.674" v="139" actId="20577"/>
        <pc:sldMkLst>
          <pc:docMk/>
          <pc:sldMk cId="712453768" sldId="2145706979"/>
        </pc:sldMkLst>
        <pc:spChg chg="mod">
          <ac:chgData name="Walker, Harry" userId="f60e1eb5-2aca-4ce8-9ba9-cb0e5e1af6ac" providerId="ADAL" clId="{99576023-437D-43C2-BB51-AC59C15311B2}" dt="2026-05-22T18:20:34.757" v="121" actId="20577"/>
          <ac:spMkLst>
            <pc:docMk/>
            <pc:sldMk cId="712453768" sldId="2145706979"/>
            <ac:spMk id="2" creationId="{2EB0D85C-9332-420E-7031-C464E0A4ED0E}"/>
          </ac:spMkLst>
        </pc:spChg>
        <pc:graphicFrameChg chg="modGraphic">
          <ac:chgData name="Walker, Harry" userId="f60e1eb5-2aca-4ce8-9ba9-cb0e5e1af6ac" providerId="ADAL" clId="{99576023-437D-43C2-BB51-AC59C15311B2}" dt="2026-05-22T18:20:42.674" v="139" actId="20577"/>
          <ac:graphicFrameMkLst>
            <pc:docMk/>
            <pc:sldMk cId="712453768" sldId="2145706979"/>
            <ac:graphicFrameMk id="5" creationId="{72251937-71AE-95BF-6A0F-07E2C2914020}"/>
          </ac:graphicFrameMkLst>
        </pc:graphicFrameChg>
      </pc:sldChg>
      <pc:sldChg chg="delSp add mod">
        <pc:chgData name="Walker, Harry" userId="f60e1eb5-2aca-4ce8-9ba9-cb0e5e1af6ac" providerId="ADAL" clId="{99576023-437D-43C2-BB51-AC59C15311B2}" dt="2026-05-22T18:19:14.290" v="8" actId="478"/>
        <pc:sldMkLst>
          <pc:docMk/>
          <pc:sldMk cId="1246764708" sldId="2145706980"/>
        </pc:sldMkLst>
        <pc:spChg chg="del">
          <ac:chgData name="Walker, Harry" userId="f60e1eb5-2aca-4ce8-9ba9-cb0e5e1af6ac" providerId="ADAL" clId="{99576023-437D-43C2-BB51-AC59C15311B2}" dt="2026-05-22T18:19:14.290" v="8" actId="478"/>
          <ac:spMkLst>
            <pc:docMk/>
            <pc:sldMk cId="1246764708" sldId="2145706980"/>
            <ac:spMk id="9" creationId="{038DFDF1-5169-4162-0242-E9FE866BF134}"/>
          </ac:spMkLst>
        </pc:spChg>
      </pc:sldChg>
      <pc:sldChg chg="del">
        <pc:chgData name="Walker, Harry" userId="f60e1eb5-2aca-4ce8-9ba9-cb0e5e1af6ac" providerId="ADAL" clId="{99576023-437D-43C2-BB51-AC59C15311B2}" dt="2026-05-22T18:18:25.391" v="3" actId="47"/>
        <pc:sldMkLst>
          <pc:docMk/>
          <pc:sldMk cId="2351040175" sldId="2145706981"/>
        </pc:sldMkLst>
      </pc:sldChg>
      <pc:sldChg chg="modSp mod">
        <pc:chgData name="Walker, Harry" userId="f60e1eb5-2aca-4ce8-9ba9-cb0e5e1af6ac" providerId="ADAL" clId="{99576023-437D-43C2-BB51-AC59C15311B2}" dt="2026-05-22T18:22:34.219" v="347" actId="20577"/>
        <pc:sldMkLst>
          <pc:docMk/>
          <pc:sldMk cId="531472972" sldId="2145706986"/>
        </pc:sldMkLst>
        <pc:spChg chg="mod">
          <ac:chgData name="Walker, Harry" userId="f60e1eb5-2aca-4ce8-9ba9-cb0e5e1af6ac" providerId="ADAL" clId="{99576023-437D-43C2-BB51-AC59C15311B2}" dt="2026-05-22T18:22:34.219" v="347" actId="20577"/>
          <ac:spMkLst>
            <pc:docMk/>
            <pc:sldMk cId="531472972" sldId="2145706986"/>
            <ac:spMk id="3" creationId="{51E35026-4089-71F6-E6C4-F707F9819654}"/>
          </ac:spMkLst>
        </pc:spChg>
      </pc:sldChg>
      <pc:sldChg chg="modSp mod ord">
        <pc:chgData name="Walker, Harry" userId="f60e1eb5-2aca-4ce8-9ba9-cb0e5e1af6ac" providerId="ADAL" clId="{99576023-437D-43C2-BB51-AC59C15311B2}" dt="2026-05-22T18:35:35.850" v="483" actId="20577"/>
        <pc:sldMkLst>
          <pc:docMk/>
          <pc:sldMk cId="1893727916" sldId="2145706991"/>
        </pc:sldMkLst>
        <pc:spChg chg="mod">
          <ac:chgData name="Walker, Harry" userId="f60e1eb5-2aca-4ce8-9ba9-cb0e5e1af6ac" providerId="ADAL" clId="{99576023-437D-43C2-BB51-AC59C15311B2}" dt="2026-05-22T18:35:35.850" v="483" actId="20577"/>
          <ac:spMkLst>
            <pc:docMk/>
            <pc:sldMk cId="1893727916" sldId="2145706991"/>
            <ac:spMk id="3" creationId="{6D8893A6-0A7C-2DE5-1C9C-DACD1FD7DD00}"/>
          </ac:spMkLst>
        </pc:spChg>
      </pc:sldChg>
      <pc:sldChg chg="modSp add mod">
        <pc:chgData name="Walker, Harry" userId="f60e1eb5-2aca-4ce8-9ba9-cb0e5e1af6ac" providerId="ADAL" clId="{99576023-437D-43C2-BB51-AC59C15311B2}" dt="2026-05-22T18:21:57.220" v="260" actId="20577"/>
        <pc:sldMkLst>
          <pc:docMk/>
          <pc:sldMk cId="2591350763" sldId="2145706994"/>
        </pc:sldMkLst>
        <pc:spChg chg="mod">
          <ac:chgData name="Walker, Harry" userId="f60e1eb5-2aca-4ce8-9ba9-cb0e5e1af6ac" providerId="ADAL" clId="{99576023-437D-43C2-BB51-AC59C15311B2}" dt="2026-05-22T18:21:57.220" v="260" actId="20577"/>
          <ac:spMkLst>
            <pc:docMk/>
            <pc:sldMk cId="2591350763" sldId="2145706994"/>
            <ac:spMk id="3" creationId="{81F0EA47-5C94-BB48-D0AC-538B1F518AA8}"/>
          </ac:spMkLst>
        </pc:spChg>
      </pc:sldChg>
      <pc:sldChg chg="modSp add mod ord">
        <pc:chgData name="Walker, Harry" userId="f60e1eb5-2aca-4ce8-9ba9-cb0e5e1af6ac" providerId="ADAL" clId="{99576023-437D-43C2-BB51-AC59C15311B2}" dt="2026-05-22T18:22:14.726" v="292" actId="20577"/>
        <pc:sldMkLst>
          <pc:docMk/>
          <pc:sldMk cId="3947470611" sldId="2145706995"/>
        </pc:sldMkLst>
        <pc:spChg chg="mod">
          <ac:chgData name="Walker, Harry" userId="f60e1eb5-2aca-4ce8-9ba9-cb0e5e1af6ac" providerId="ADAL" clId="{99576023-437D-43C2-BB51-AC59C15311B2}" dt="2026-05-22T18:22:14.726" v="292" actId="20577"/>
          <ac:spMkLst>
            <pc:docMk/>
            <pc:sldMk cId="3947470611" sldId="2145706995"/>
            <ac:spMk id="3" creationId="{55BEAF4B-B4C4-D792-F233-6A7A6A0CC75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rPr lang="en-GB" smtClean="0"/>
              <a:t>22/05/2026</a:t>
            </a:fld>
            <a:endParaRPr lang="en-GB" dirty="0"/>
          </a:p>
        </p:txBody>
      </p:sp>
      <p:sp>
        <p:nvSpPr>
          <p:cNvPr id="4" name="Footer Placeholde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lang="en-GB" smtClean="0"/>
              <a:t>‹#›</a:t>
            </a:fld>
            <a:endParaRPr lang="en-GB"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927E5-BED3-44D0-9ADF-FA873E1D6DAF}" type="datetimeFigureOut">
              <a:rPr lang="en-GB" smtClean="0"/>
              <a:t>22/05/2026</a:t>
            </a:fld>
            <a:endParaRPr lang="en-GB" dirty="0"/>
          </a:p>
        </p:txBody>
      </p:sp>
      <p:sp>
        <p:nvSpPr>
          <p:cNvPr id="4" name="Slide Image Placeholde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Footer Placeholde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24DA73-AE27-4433-BD53-3E1DB61918F0}"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2</a:t>
            </a:fld>
            <a:endParaRPr lang="en-GB"/>
          </a:p>
        </p:txBody>
      </p:sp>
    </p:spTree>
    <p:extLst>
      <p:ext uri="{BB962C8B-B14F-4D97-AF65-F5344CB8AC3E}">
        <p14:creationId xmlns:p14="http://schemas.microsoft.com/office/powerpoint/2010/main" val="1319970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324DA73-AE27-4433-BD53-3E1DB61918F0}" type="slidenum">
              <a:rPr lang="en-GB" smtClean="0"/>
              <a:t>3</a:t>
            </a:fld>
            <a:endParaRPr lang="en-GB"/>
          </a:p>
        </p:txBody>
      </p:sp>
    </p:spTree>
    <p:extLst>
      <p:ext uri="{BB962C8B-B14F-4D97-AF65-F5344CB8AC3E}">
        <p14:creationId xmlns:p14="http://schemas.microsoft.com/office/powerpoint/2010/main" val="3819558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0E32F-D35D-692F-F5FB-9AE5D83AE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9E50D-476C-76C2-4C0F-119BB8060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5A62D-67A3-B90A-E9FB-BB6DC99C19E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C0D312B-C26C-FA0C-5D36-86D6EDEEF070}"/>
              </a:ext>
            </a:extLst>
          </p:cNvPr>
          <p:cNvSpPr>
            <a:spLocks noGrp="1"/>
          </p:cNvSpPr>
          <p:nvPr>
            <p:ph type="sldNum" sz="quarter" idx="5"/>
          </p:nvPr>
        </p:nvSpPr>
        <p:spPr/>
        <p:txBody>
          <a:bodyPr/>
          <a:lstStyle/>
          <a:p>
            <a:fld id="{7324DA73-AE27-4433-BD53-3E1DB61918F0}" type="slidenum">
              <a:rPr lang="en-US" smtClean="0"/>
              <a:t>10</a:t>
            </a:fld>
            <a:endParaRPr lang="en-US"/>
          </a:p>
        </p:txBody>
      </p:sp>
    </p:spTree>
    <p:extLst>
      <p:ext uri="{BB962C8B-B14F-4D97-AF65-F5344CB8AC3E}">
        <p14:creationId xmlns:p14="http://schemas.microsoft.com/office/powerpoint/2010/main" val="1457084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659D-EFC3-E1A9-A878-E2596B999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55DBB-25CA-D85A-E62F-DB569A19D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4D3E4-308B-F06B-2663-3EE850B1F55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EEFF971-95A8-ACBC-D2A6-97512017AFA8}"/>
              </a:ext>
            </a:extLst>
          </p:cNvPr>
          <p:cNvSpPr>
            <a:spLocks noGrp="1"/>
          </p:cNvSpPr>
          <p:nvPr>
            <p:ph type="sldNum" sz="quarter" idx="5"/>
          </p:nvPr>
        </p:nvSpPr>
        <p:spPr/>
        <p:txBody>
          <a:bodyPr/>
          <a:lstStyle/>
          <a:p>
            <a:fld id="{7324DA73-AE27-4433-BD53-3E1DB61918F0}" type="slidenum">
              <a:rPr lang="en-US" smtClean="0"/>
              <a:t>11</a:t>
            </a:fld>
            <a:endParaRPr lang="en-US"/>
          </a:p>
        </p:txBody>
      </p:sp>
    </p:spTree>
    <p:extLst>
      <p:ext uri="{BB962C8B-B14F-4D97-AF65-F5344CB8AC3E}">
        <p14:creationId xmlns:p14="http://schemas.microsoft.com/office/powerpoint/2010/main" val="88067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24DA73-AE27-4433-BD53-3E1DB61918F0}" type="slidenum">
              <a:rPr lang="en-GB" smtClean="0"/>
              <a:t>13</a:t>
            </a:fld>
            <a:endParaRPr lang="en-GB"/>
          </a:p>
        </p:txBody>
      </p:sp>
    </p:spTree>
    <p:extLst>
      <p:ext uri="{BB962C8B-B14F-4D97-AF65-F5344CB8AC3E}">
        <p14:creationId xmlns:p14="http://schemas.microsoft.com/office/powerpoint/2010/main" val="3116918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324DA73-AE27-4433-BD53-3E1DB61918F0}" type="slidenum">
              <a:rPr lang="en-GB" smtClean="0"/>
              <a:t>17</a:t>
            </a:fld>
            <a:endParaRPr lang="en-GB" dirty="0"/>
          </a:p>
        </p:txBody>
      </p:sp>
    </p:spTree>
    <p:extLst>
      <p:ext uri="{BB962C8B-B14F-4D97-AF65-F5344CB8AC3E}">
        <p14:creationId xmlns:p14="http://schemas.microsoft.com/office/powerpoint/2010/main" val="2516066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3745704"/>
            <a:ext cx="7442199" cy="738664"/>
          </a:xfrm>
        </p:spPr>
        <p:txBody>
          <a:bodyPr anchor="b">
            <a:spAutoFit/>
          </a:bodyPr>
          <a:lstStyle>
            <a:lvl1pPr>
              <a:defRPr sz="4800">
                <a:solidFill>
                  <a:schemeClr val="tx1"/>
                </a:solidFill>
                <a:latin typeface="+mj-lt"/>
                <a:ea typeface="+mj-ea"/>
                <a:cs typeface="+mj-cs"/>
              </a:defRPr>
            </a:lvl1pPr>
          </a:lstStyle>
          <a:p>
            <a:pPr lvl="0"/>
            <a:r>
              <a:rPr lang="en-GB" dirty="0"/>
              <a:t>Title</a:t>
            </a:r>
          </a:p>
        </p:txBody>
      </p:sp>
      <p:sp>
        <p:nvSpPr>
          <p:cNvPr id="3" name="Subtitle"/>
          <p:cNvSpPr>
            <a:spLocks noGrp="1"/>
          </p:cNvSpPr>
          <p:nvPr>
            <p:ph type="body" sz="quarter" idx="11" hasCustomPrompt="1"/>
          </p:nvPr>
        </p:nvSpPr>
        <p:spPr>
          <a:xfrm>
            <a:off x="457201" y="4572000"/>
            <a:ext cx="7442198"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latin typeface="+mn-lt"/>
              </a:defRPr>
            </a:lvl2pPr>
            <a:lvl3pPr marL="0" indent="0">
              <a:spcBef>
                <a:spcPts val="0"/>
              </a:spcBef>
              <a:spcAft>
                <a:spcPts val="0"/>
              </a:spcAft>
              <a:buFont typeface="Arial" panose="020B0604020202020204" pitchFamily="34" charset="0"/>
              <a:buChar char="​"/>
              <a:defRPr sz="2000">
                <a:solidFill>
                  <a:schemeClr val="tx1"/>
                </a:solidFill>
                <a:latin typeface="+mn-lt"/>
              </a:defRPr>
            </a:lvl3pPr>
            <a:lvl4pPr marL="0" indent="0">
              <a:spcBef>
                <a:spcPts val="0"/>
              </a:spcBef>
              <a:spcAft>
                <a:spcPts val="0"/>
              </a:spcAft>
              <a:buFont typeface="Arial" panose="020B0604020202020204" pitchFamily="34" charset="0"/>
              <a:buChar char="​"/>
              <a:defRPr sz="2000">
                <a:solidFill>
                  <a:schemeClr val="tx1"/>
                </a:solidFill>
                <a:latin typeface="+mn-lt"/>
              </a:defRPr>
            </a:lvl4pPr>
            <a:lvl5pPr marL="0" indent="0">
              <a:spcBef>
                <a:spcPts val="0"/>
              </a:spcBef>
              <a:spcAft>
                <a:spcPts val="0"/>
              </a:spcAft>
              <a:buFont typeface="Arial" panose="020B0604020202020204" pitchFamily="34" charset="0"/>
              <a:buChar char="​"/>
              <a:defRPr sz="2000" b="0">
                <a:solidFill>
                  <a:schemeClr val="tx1"/>
                </a:solidFill>
                <a:latin typeface="+mn-lt"/>
              </a:defRPr>
            </a:lvl5pPr>
            <a:lvl6pPr marL="0" indent="0">
              <a:spcBef>
                <a:spcPts val="0"/>
              </a:spcBef>
              <a:spcAft>
                <a:spcPts val="0"/>
              </a:spcAft>
              <a:buFont typeface="Arial" panose="020B0604020202020204" pitchFamily="34" charset="0"/>
              <a:buChar char="​"/>
              <a:defRPr sz="2000">
                <a:solidFill>
                  <a:schemeClr val="tx1"/>
                </a:solidFill>
                <a:latin typeface="+mn-lt"/>
              </a:defRPr>
            </a:lvl6pPr>
            <a:lvl7pPr marL="0" indent="0">
              <a:spcBef>
                <a:spcPts val="0"/>
              </a:spcBef>
              <a:spcAft>
                <a:spcPts val="0"/>
              </a:spcAft>
              <a:buFont typeface="Arial" panose="020B0604020202020204" pitchFamily="34" charset="0"/>
              <a:buChar char="​"/>
              <a:defRPr sz="2000">
                <a:solidFill>
                  <a:schemeClr val="tx1"/>
                </a:solidFill>
                <a:latin typeface="+mn-lt"/>
              </a:defRPr>
            </a:lvl7pPr>
            <a:lvl8pPr marL="0" indent="0">
              <a:spcBef>
                <a:spcPts val="0"/>
              </a:spcBef>
              <a:spcAft>
                <a:spcPts val="0"/>
              </a:spcAft>
              <a:buFont typeface="Arial" panose="020B0604020202020204" pitchFamily="34" charset="0"/>
              <a:buChar char="​"/>
              <a:defRPr sz="2000">
                <a:solidFill>
                  <a:schemeClr val="tx1"/>
                </a:solidFill>
                <a:latin typeface="+mn-lt"/>
              </a:defRPr>
            </a:lvl8pPr>
            <a:lvl9pPr marL="0" indent="0">
              <a:spcBef>
                <a:spcPts val="0"/>
              </a:spcBef>
              <a:spcAft>
                <a:spcPts val="0"/>
              </a:spcAft>
              <a:buFont typeface="Arial" panose="020B0604020202020204" pitchFamily="34" charset="0"/>
              <a:buChar char="​"/>
              <a:defRPr sz="2000">
                <a:solidFill>
                  <a:schemeClr val="tx1"/>
                </a:solidFill>
                <a:latin typeface="+mn-lt"/>
              </a:defRPr>
            </a:lvl9pPr>
          </a:lstStyle>
          <a:p>
            <a:pPr lvl="0"/>
            <a:r>
              <a:rPr lang="en-GB" dirty="0"/>
              <a:t>Subtitle</a:t>
            </a:r>
          </a:p>
        </p:txBody>
      </p:sp>
      <p:sp>
        <p:nvSpPr>
          <p:cNvPr id="4" name="Presenter"/>
          <p:cNvSpPr>
            <a:spLocks noGrp="1"/>
          </p:cNvSpPr>
          <p:nvPr>
            <p:ph type="body" sz="quarter" idx="13" hasCustomPrompt="1"/>
          </p:nvPr>
        </p:nvSpPr>
        <p:spPr>
          <a:xfrm>
            <a:off x="457200" y="6185356"/>
            <a:ext cx="6483350" cy="215444"/>
          </a:xfrm>
        </p:spPr>
        <p:txBody>
          <a:bodyPr wrap="square"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rPr lang="en-GB" dirty="0"/>
              <a:t>Date, Presenter, Location (optional), etc.</a:t>
            </a:r>
          </a:p>
        </p:txBody>
      </p:sp>
      <p:pic>
        <p:nvPicPr>
          <p:cNvPr id="7" name="DTP_CompanyLogo">
            <a:extLst>
              <a:ext uri="{FF2B5EF4-FFF2-40B4-BE49-F238E27FC236}">
                <a16:creationId xmlns:a16="http://schemas.microsoft.com/office/drawing/2014/main" id="{E028B7B2-2BDB-9B9B-2ED5-331F0576BF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457200"/>
            <a:ext cx="2495550" cy="476250"/>
          </a:xfrm>
          <a:prstGeom prst="rect">
            <a:avLst/>
          </a:prstGeom>
        </p:spPr>
      </p:pic>
    </p:spTree>
  </p:cSld>
  <p:clrMapOvr>
    <a:masterClrMapping/>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sz="half" idx="11"/>
          </p:nvPr>
        </p:nvSpPr>
        <p:spPr>
          <a:xfrm>
            <a:off x="4572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Right"/>
          <p:cNvSpPr>
            <a:spLocks noGrp="1"/>
          </p:cNvSpPr>
          <p:nvPr>
            <p:ph sz="half" idx="12"/>
          </p:nvPr>
        </p:nvSpPr>
        <p:spPr>
          <a:xfrm>
            <a:off x="6324600" y="1409700"/>
            <a:ext cx="54102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3984">
          <p15:clr>
            <a:srgbClr val="FBAE40"/>
          </p15:clr>
        </p15:guide>
        <p15:guide id="4" pos="36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Middle"/>
          <p:cNvSpPr>
            <a:spLocks noGrp="1"/>
          </p:cNvSpPr>
          <p:nvPr>
            <p:ph idx="12"/>
          </p:nvPr>
        </p:nvSpPr>
        <p:spPr>
          <a:xfrm>
            <a:off x="4368799"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5" name="Content Right"/>
          <p:cNvSpPr>
            <a:spLocks noGrp="1"/>
          </p:cNvSpPr>
          <p:nvPr>
            <p:ph idx="13"/>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1">
          <p15:clr>
            <a:srgbClr val="FBAE40"/>
          </p15:clr>
        </p15:guide>
        <p15:guide id="5" pos="4927">
          <p15:clr>
            <a:srgbClr val="FBAE40"/>
          </p15:clr>
        </p15:guide>
        <p15:guide id="6" pos="521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idx="11"/>
          </p:nvPr>
        </p:nvSpPr>
        <p:spPr>
          <a:xfrm>
            <a:off x="4572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Middle Left"/>
          <p:cNvSpPr>
            <a:spLocks noGrp="1"/>
          </p:cNvSpPr>
          <p:nvPr>
            <p:ph idx="12"/>
          </p:nvPr>
        </p:nvSpPr>
        <p:spPr>
          <a:xfrm>
            <a:off x="33909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5" name="Content Middle Right"/>
          <p:cNvSpPr>
            <a:spLocks noGrp="1"/>
          </p:cNvSpPr>
          <p:nvPr>
            <p:ph sz="quarter" idx="13"/>
          </p:nvPr>
        </p:nvSpPr>
        <p:spPr>
          <a:xfrm>
            <a:off x="63246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6" name="Content Right"/>
          <p:cNvSpPr>
            <a:spLocks noGrp="1"/>
          </p:cNvSpPr>
          <p:nvPr>
            <p:ph idx="14"/>
          </p:nvPr>
        </p:nvSpPr>
        <p:spPr>
          <a:xfrm>
            <a:off x="9258300" y="1409700"/>
            <a:ext cx="24765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1848">
          <p15:clr>
            <a:srgbClr val="FBAE40"/>
          </p15:clr>
        </p15:guide>
        <p15:guide id="4" pos="2136">
          <p15:clr>
            <a:srgbClr val="FBAE40"/>
          </p15:clr>
        </p15:guide>
        <p15:guide id="5" pos="3696">
          <p15:clr>
            <a:srgbClr val="FBAE40"/>
          </p15:clr>
        </p15:guide>
        <p15:guide id="6" pos="3984">
          <p15:clr>
            <a:srgbClr val="FBAE40"/>
          </p15:clr>
        </p15:guide>
        <p15:guide id="7" pos="5544">
          <p15:clr>
            <a:srgbClr val="FBAE40"/>
          </p15:clr>
        </p15:guide>
        <p15:guide id="8" pos="583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idx="11"/>
          </p:nvPr>
        </p:nvSpPr>
        <p:spPr>
          <a:xfrm>
            <a:off x="4572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Right"/>
          <p:cNvSpPr>
            <a:spLocks noGrp="1"/>
          </p:cNvSpPr>
          <p:nvPr>
            <p:ph idx="12"/>
          </p:nvPr>
        </p:nvSpPr>
        <p:spPr>
          <a:xfrm>
            <a:off x="43688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2464">
          <p15:clr>
            <a:srgbClr val="FBAE40"/>
          </p15:clr>
        </p15:guide>
        <p15:guide id="4" pos="27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3" name="Content Lef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4" name="Content Right"/>
          <p:cNvSpPr>
            <a:spLocks noGrp="1"/>
          </p:cNvSpPr>
          <p:nvPr>
            <p:ph idx="12"/>
          </p:nvPr>
        </p:nvSpPr>
        <p:spPr>
          <a:xfrm>
            <a:off x="8280400" y="1409700"/>
            <a:ext cx="34544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ig portrait photo on right">
    <p:spTree>
      <p:nvGrpSpPr>
        <p:cNvPr id="1" name=""/>
        <p:cNvGrpSpPr/>
        <p:nvPr/>
      </p:nvGrpSpPr>
      <p:grpSpPr>
        <a:xfrm>
          <a:off x="0" y="0"/>
          <a:ext cx="0" cy="0"/>
          <a:chOff x="0" y="0"/>
          <a:chExt cx="0" cy="0"/>
        </a:xfrm>
      </p:grpSpPr>
      <p:sp>
        <p:nvSpPr>
          <p:cNvPr id="2" name="Title"/>
          <p:cNvSpPr>
            <a:spLocks noGrp="1"/>
          </p:cNvSpPr>
          <p:nvPr>
            <p:ph type="title"/>
          </p:nvPr>
        </p:nvSpPr>
        <p:spPr>
          <a:xfrm>
            <a:off x="457200" y="384048"/>
            <a:ext cx="7365998" cy="797052"/>
          </a:xfrm>
        </p:spPr>
        <p:txBody>
          <a:bodyPr/>
          <a:lstStyle/>
          <a:p>
            <a:r>
              <a:rPr lang="en-GB"/>
              <a:t>Click to edit Master title style</a:t>
            </a:r>
            <a:endParaRPr lang="en-GB" dirty="0"/>
          </a:p>
        </p:txBody>
      </p:sp>
      <p:sp>
        <p:nvSpPr>
          <p:cNvPr id="3" name="Content"/>
          <p:cNvSpPr>
            <a:spLocks noGrp="1"/>
          </p:cNvSpPr>
          <p:nvPr>
            <p:ph idx="11"/>
          </p:nvPr>
        </p:nvSpPr>
        <p:spPr>
          <a:xfrm>
            <a:off x="457200" y="1409700"/>
            <a:ext cx="7366000" cy="4902200"/>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9" name="Picture"/>
          <p:cNvSpPr>
            <a:spLocks noGrp="1"/>
          </p:cNvSpPr>
          <p:nvPr>
            <p:ph type="pic" idx="20"/>
          </p:nvPr>
        </p:nvSpPr>
        <p:spPr>
          <a:xfrm>
            <a:off x="8280400" y="0"/>
            <a:ext cx="3911600" cy="6858000"/>
          </a:xfrm>
        </p:spPr>
        <p:txBody>
          <a:bodyPr tIns="640080" anchor="ctr"/>
          <a:lstStyle>
            <a:lvl1pPr marL="0" indent="0" algn="ctr">
              <a:buNone/>
              <a:defRPr sz="1400">
                <a:solidFill>
                  <a:srgbClr val="C3C3C3"/>
                </a:solidFill>
              </a:defRPr>
            </a:lvl1pPr>
          </a:lstStyle>
          <a:p>
            <a:r>
              <a:rPr lang="en-GB"/>
              <a:t>Click icon to add picture</a:t>
            </a:r>
            <a:endParaRPr lang="en-GB" dirty="0"/>
          </a:p>
        </p:txBody>
      </p:sp>
    </p:spTree>
  </p:cSld>
  <p:clrMapOvr>
    <a:masterClrMapping/>
  </p:clrMapOvr>
  <p:extLst>
    <p:ext uri="{DCECCB84-F9BA-43D5-87BE-67443E8EF086}">
      <p15:sldGuideLst xmlns:p15="http://schemas.microsoft.com/office/powerpoint/2012/main">
        <p15:guide id="1" orient="horz" pos="888">
          <p15:clr>
            <a:srgbClr val="FBAE40"/>
          </p15:clr>
        </p15:guide>
        <p15:guide id="2" orient="horz" pos="3974">
          <p15:clr>
            <a:srgbClr val="FBAE40"/>
          </p15:clr>
        </p15:guide>
        <p15:guide id="3" pos="4928">
          <p15:clr>
            <a:srgbClr val="FBAE40"/>
          </p15:clr>
        </p15:guide>
        <p15:guide id="4" pos="52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241999"/>
            <a:ext cx="2647950" cy="734155"/>
          </a:xfrm>
        </p:spPr>
        <p:txBody>
          <a:bodyPr anchor="b">
            <a:spAutoFit/>
          </a:bodyPr>
          <a:lstStyle>
            <a:lvl1pPr algn="l" rtl="0">
              <a:defRPr sz="2400"/>
            </a:lvl1pPr>
          </a:lstStyle>
          <a:p>
            <a:r>
              <a:rPr lang="en-GB"/>
              <a:t>Name</a:t>
            </a:r>
            <a:br>
              <a:rPr lang="en-GB"/>
            </a:br>
            <a:r>
              <a:rPr lang="en-GB"/>
              <a:t>Last name</a:t>
            </a:r>
            <a:endParaRPr lang="en-GB" dirty="0"/>
          </a:p>
        </p:txBody>
      </p:sp>
      <p:sp>
        <p:nvSpPr>
          <p:cNvPr id="5" name="Role"/>
          <p:cNvSpPr>
            <a:spLocks noGrp="1"/>
          </p:cNvSpPr>
          <p:nvPr>
            <p:ph type="body" sz="quarter" idx="10" hasCustomPrompt="1"/>
          </p:nvPr>
        </p:nvSpPr>
        <p:spPr>
          <a:xfrm>
            <a:off x="457200" y="4101621"/>
            <a:ext cx="2647950" cy="429768"/>
          </a:xfrm>
        </p:spPr>
        <p:txBody>
          <a:bodyPr/>
          <a:lstStyle>
            <a:lvl1pPr marL="0" indent="0" algn="l" rtl="0">
              <a:spcBef>
                <a:spcPts val="0"/>
              </a:spcBef>
              <a:spcAft>
                <a:spcPts val="0"/>
              </a:spcAft>
              <a:buFont typeface="Arial" panose="020B0604020202020204" pitchFamily="34" charset="0"/>
              <a:buChar char="​"/>
              <a:defRPr sz="1400" b="0">
                <a:solidFill>
                  <a:schemeClr val="tx1"/>
                </a:solidFill>
              </a:defRPr>
            </a:lvl1pPr>
            <a:lvl2pPr marL="0" indent="0" algn="l" rtl="0">
              <a:spcBef>
                <a:spcPts val="0"/>
              </a:spcBef>
              <a:spcAft>
                <a:spcPts val="0"/>
              </a:spcAft>
              <a:buFont typeface="Arial" panose="020B0604020202020204" pitchFamily="34" charset="0"/>
              <a:buChar char="​"/>
              <a:defRPr sz="1400">
                <a:solidFill>
                  <a:schemeClr val="tx1"/>
                </a:solidFill>
              </a:defRPr>
            </a:lvl2pPr>
            <a:lvl3pPr marL="0" indent="0" algn="l" rtl="0">
              <a:spcBef>
                <a:spcPts val="0"/>
              </a:spcBef>
              <a:spcAft>
                <a:spcPts val="0"/>
              </a:spcAft>
              <a:buFont typeface="Arial" panose="020B0604020202020204" pitchFamily="34" charset="0"/>
              <a:buChar char="​"/>
              <a:defRPr sz="1400">
                <a:solidFill>
                  <a:schemeClr val="tx1"/>
                </a:solidFill>
              </a:defRPr>
            </a:lvl3pPr>
            <a:lvl4pPr marL="0" indent="0" algn="l" rtl="0">
              <a:spcBef>
                <a:spcPts val="0"/>
              </a:spcBef>
              <a:spcAft>
                <a:spcPts val="0"/>
              </a:spcAft>
              <a:buFont typeface="Arial" panose="020B0604020202020204" pitchFamily="34" charset="0"/>
              <a:buChar char="​"/>
              <a:defRPr sz="1400">
                <a:solidFill>
                  <a:schemeClr val="tx1"/>
                </a:solidFill>
              </a:defRPr>
            </a:lvl4pPr>
            <a:lvl5pPr marL="0" indent="0" algn="l" rtl="0">
              <a:spcBef>
                <a:spcPts val="0"/>
              </a:spcBef>
              <a:spcAft>
                <a:spcPts val="0"/>
              </a:spcAft>
              <a:buFont typeface="Arial" panose="020B0604020202020204" pitchFamily="34" charset="0"/>
              <a:buChar char="​"/>
              <a:defRPr sz="1400">
                <a:solidFill>
                  <a:schemeClr val="tx1"/>
                </a:solidFill>
              </a:defRPr>
            </a:lvl5pPr>
            <a:lvl6pPr marL="0" indent="0" algn="l" rtl="0">
              <a:spcBef>
                <a:spcPts val="0"/>
              </a:spcBef>
              <a:spcAft>
                <a:spcPts val="0"/>
              </a:spcAft>
              <a:buFont typeface="Arial" panose="020B0604020202020204" pitchFamily="34" charset="0"/>
              <a:buChar char="​"/>
              <a:defRPr sz="1400">
                <a:solidFill>
                  <a:schemeClr val="tx1"/>
                </a:solidFill>
              </a:defRPr>
            </a:lvl6pPr>
            <a:lvl7pPr marL="0" indent="0" algn="l" rtl="0">
              <a:spcBef>
                <a:spcPts val="0"/>
              </a:spcBef>
              <a:spcAft>
                <a:spcPts val="0"/>
              </a:spcAft>
              <a:buFont typeface="Arial" panose="020B0604020202020204" pitchFamily="34" charset="0"/>
              <a:buChar char="​"/>
              <a:defRPr sz="1400">
                <a:solidFill>
                  <a:schemeClr val="tx1"/>
                </a:solidFill>
              </a:defRPr>
            </a:lvl7pPr>
            <a:lvl8pPr marL="0" indent="0" algn="l" rtl="0">
              <a:spcBef>
                <a:spcPts val="0"/>
              </a:spcBef>
              <a:spcAft>
                <a:spcPts val="0"/>
              </a:spcAft>
              <a:buFont typeface="Arial" panose="020B0604020202020204" pitchFamily="34" charset="0"/>
              <a:buChar char="​"/>
              <a:defRPr sz="1400">
                <a:solidFill>
                  <a:schemeClr val="tx1"/>
                </a:solidFill>
              </a:defRPr>
            </a:lvl8pPr>
            <a:lvl9pPr marL="0" indent="0" algn="l" rtl="0">
              <a:spcBef>
                <a:spcPts val="0"/>
              </a:spcBef>
              <a:spcAft>
                <a:spcPts val="0"/>
              </a:spcAft>
              <a:buFont typeface="Arial" panose="020B0604020202020204" pitchFamily="34" charset="0"/>
              <a:buChar char="​"/>
              <a:defRPr sz="1400">
                <a:solidFill>
                  <a:schemeClr val="tx1"/>
                </a:solidFill>
              </a:defRPr>
            </a:lvl9pPr>
          </a:lstStyle>
          <a:p>
            <a:pPr lvl="0"/>
            <a:r>
              <a:rPr lang="en-GB"/>
              <a:t>Role, Position</a:t>
            </a:r>
            <a:br>
              <a:rPr lang="en-GB"/>
            </a:br>
            <a:r>
              <a:rPr lang="en-GB"/>
              <a:t>Location</a:t>
            </a:r>
            <a:endParaRPr lang="en-GB" dirty="0"/>
          </a:p>
        </p:txBody>
      </p:sp>
      <p:sp>
        <p:nvSpPr>
          <p:cNvPr id="7" name="Headshot"/>
          <p:cNvSpPr>
            <a:spLocks noGrp="1" noChangeAspect="1"/>
          </p:cNvSpPr>
          <p:nvPr>
            <p:ph type="pic" sz="quarter" idx="20"/>
          </p:nvPr>
        </p:nvSpPr>
        <p:spPr>
          <a:xfrm>
            <a:off x="457200" y="381000"/>
            <a:ext cx="2647950" cy="2647950"/>
          </a:xfrm>
          <a:prstGeom prst="rect">
            <a:avLst/>
          </a:prstGeom>
          <a:solidFill>
            <a:srgbClr val="F7F3EE"/>
          </a:solidFill>
        </p:spPr>
        <p:txBody>
          <a:bodyPr tIns="868680" anchor="ctr"/>
          <a:lstStyle>
            <a:lvl1pPr marL="0" indent="0" algn="ctr">
              <a:buNone/>
              <a:defRPr sz="1000">
                <a:solidFill>
                  <a:schemeClr val="tx1"/>
                </a:solidFill>
              </a:defRPr>
            </a:lvl1pPr>
          </a:lstStyle>
          <a:p>
            <a:r>
              <a:rPr lang="en-GB"/>
              <a:t>Click icon to add picture</a:t>
            </a:r>
            <a:endParaRPr lang="en-GB" dirty="0"/>
          </a:p>
        </p:txBody>
      </p:sp>
      <p:sp>
        <p:nvSpPr>
          <p:cNvPr id="3" name="Content">
            <a:extLst>
              <a:ext uri="{FF2B5EF4-FFF2-40B4-BE49-F238E27FC236}">
                <a16:creationId xmlns:a16="http://schemas.microsoft.com/office/drawing/2014/main" id="{CF848BCA-2ADB-EC0C-8F27-F589DF6F5040}"/>
              </a:ext>
            </a:extLst>
          </p:cNvPr>
          <p:cNvSpPr>
            <a:spLocks noGrp="1"/>
          </p:cNvSpPr>
          <p:nvPr>
            <p:ph idx="11"/>
          </p:nvPr>
        </p:nvSpPr>
        <p:spPr>
          <a:xfrm>
            <a:off x="3562350" y="381000"/>
            <a:ext cx="8172450" cy="5928360"/>
          </a:xfrm>
        </p:spPr>
        <p:txBody>
          <a:bodyPr/>
          <a:lstStyle>
            <a:lvl5pPr>
              <a:spcBef>
                <a:spcPts val="1800"/>
              </a:spcBef>
              <a:spcAft>
                <a:spcPts val="0"/>
              </a:spcAf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826098615"/>
      </p:ext>
    </p:extLst>
  </p:cSld>
  <p:clrMapOvr>
    <a:masterClrMapping/>
  </p:clrMapOvr>
  <p:extLst>
    <p:ext uri="{DCECCB84-F9BA-43D5-87BE-67443E8EF086}">
      <p15:sldGuideLst xmlns:p15="http://schemas.microsoft.com/office/powerpoint/2012/main">
        <p15:guide id="1" orient="horz" pos="3974">
          <p15:clr>
            <a:srgbClr val="FBAE40"/>
          </p15:clr>
        </p15:guide>
        <p15:guide id="2" pos="1956">
          <p15:clr>
            <a:srgbClr val="FBAE40"/>
          </p15:clr>
        </p15:guide>
        <p15:guide id="3" pos="224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endParaRPr lang="en-GB" dirty="0"/>
          </a:p>
        </p:txBody>
      </p:sp>
      <p:sp>
        <p:nvSpPr>
          <p:cNvPr id="10" name="Impact"/>
          <p:cNvSpPr>
            <a:spLocks noGrp="1"/>
          </p:cNvSpPr>
          <p:nvPr>
            <p:ph type="body" sz="quarter" idx="16" hasCustomPrompt="1"/>
          </p:nvPr>
        </p:nvSpPr>
        <p:spPr>
          <a:xfrm>
            <a:off x="0" y="1407583"/>
            <a:ext cx="12192000" cy="797983"/>
          </a:xfrm>
          <a:solidFill>
            <a:srgbClr val="F7F3EE"/>
          </a:solidFill>
        </p:spPr>
        <p:txBody>
          <a:bodyPr lIns="457200" tIns="45720" rIns="457200" bIns="45720" anchor="ctr"/>
          <a:lstStyle>
            <a:lvl1pPr marL="0" indent="0">
              <a:spcBef>
                <a:spcPts val="0"/>
              </a:spcBef>
              <a:spcAft>
                <a:spcPts val="0"/>
              </a:spcAft>
              <a:buFont typeface="Arial" panose="020B0604020202020204" pitchFamily="34" charset="0"/>
              <a:buChar char="​"/>
              <a:defRPr sz="1600">
                <a:solidFill>
                  <a:schemeClr val="tx1"/>
                </a:solidFill>
              </a:defRPr>
            </a:lvl1pPr>
            <a:lvl2pPr marL="0" indent="0">
              <a:spcBef>
                <a:spcPts val="0"/>
              </a:spcBef>
              <a:spcAft>
                <a:spcPts val="0"/>
              </a:spcAft>
              <a:buFont typeface="Arial" panose="020B0604020202020204" pitchFamily="34" charset="0"/>
              <a:buChar char="​"/>
              <a:defRPr sz="1600">
                <a:solidFill>
                  <a:schemeClr val="tx1"/>
                </a:solidFill>
              </a:defRPr>
            </a:lvl2pPr>
            <a:lvl3pPr marL="0" indent="0">
              <a:spcBef>
                <a:spcPts val="0"/>
              </a:spcBef>
              <a:spcAft>
                <a:spcPts val="0"/>
              </a:spcAft>
              <a:buFont typeface="Arial" panose="020B0604020202020204" pitchFamily="34" charset="0"/>
              <a:buChar char="​"/>
              <a:defRPr sz="1600">
                <a:solidFill>
                  <a:schemeClr val="tx1"/>
                </a:solidFill>
              </a:defRPr>
            </a:lvl3pPr>
            <a:lvl4pPr marL="0" indent="0">
              <a:spcBef>
                <a:spcPts val="0"/>
              </a:spcBef>
              <a:spcAft>
                <a:spcPts val="0"/>
              </a:spcAft>
              <a:buFont typeface="Arial" panose="020B0604020202020204" pitchFamily="34" charset="0"/>
              <a:buChar char="​"/>
              <a:defRPr sz="1600">
                <a:solidFill>
                  <a:schemeClr val="tx1"/>
                </a:solidFill>
              </a:defRPr>
            </a:lvl4pPr>
            <a:lvl5pPr marL="0" indent="0">
              <a:spcBef>
                <a:spcPts val="0"/>
              </a:spcBef>
              <a:spcAft>
                <a:spcPts val="0"/>
              </a:spcAft>
              <a:buFont typeface="Arial" panose="020B0604020202020204" pitchFamily="34" charset="0"/>
              <a:buChar char="​"/>
              <a:defRPr sz="1600">
                <a:solidFill>
                  <a:schemeClr val="tx1"/>
                </a:solidFill>
              </a:defRPr>
            </a:lvl5pPr>
            <a:lvl6pPr marL="0" indent="0">
              <a:spcBef>
                <a:spcPts val="0"/>
              </a:spcBef>
              <a:spcAft>
                <a:spcPts val="0"/>
              </a:spcAft>
              <a:buFont typeface="Arial" panose="020B0604020202020204" pitchFamily="34" charset="0"/>
              <a:buChar char="​"/>
              <a:defRPr sz="1600">
                <a:solidFill>
                  <a:schemeClr val="tx1"/>
                </a:solidFill>
              </a:defRPr>
            </a:lvl6pPr>
            <a:lvl7pPr marL="0" indent="0">
              <a:spcBef>
                <a:spcPts val="0"/>
              </a:spcBef>
              <a:spcAft>
                <a:spcPts val="0"/>
              </a:spcAft>
              <a:buFont typeface="Arial" panose="020B0604020202020204" pitchFamily="34" charset="0"/>
              <a:buChar char="​"/>
              <a:defRPr sz="1600">
                <a:solidFill>
                  <a:schemeClr val="tx1"/>
                </a:solidFill>
              </a:defRPr>
            </a:lvl7pPr>
            <a:lvl8pPr marL="0" indent="0">
              <a:spcBef>
                <a:spcPts val="0"/>
              </a:spcBef>
              <a:spcAft>
                <a:spcPts val="0"/>
              </a:spcAft>
              <a:buFont typeface="Arial" panose="020B0604020202020204" pitchFamily="34" charset="0"/>
              <a:buChar char="​"/>
              <a:defRPr sz="1600">
                <a:solidFill>
                  <a:schemeClr val="tx1"/>
                </a:solidFill>
              </a:defRPr>
            </a:lvl8pPr>
            <a:lvl9pPr marL="0" indent="0">
              <a:spcBef>
                <a:spcPts val="0"/>
              </a:spcBef>
              <a:spcAft>
                <a:spcPts val="0"/>
              </a:spcAft>
              <a:buFont typeface="Arial" panose="020B0604020202020204" pitchFamily="34" charset="0"/>
              <a:buChar char="​"/>
              <a:defRPr sz="1600">
                <a:solidFill>
                  <a:schemeClr val="tx1"/>
                </a:solidFill>
              </a:defRPr>
            </a:lvl9pPr>
          </a:lstStyle>
          <a:p>
            <a:pPr lvl="0"/>
            <a:r>
              <a:rPr lang="en-GB"/>
              <a:t>Insert impact statements here (max 2 lines)</a:t>
            </a:r>
            <a:endParaRPr lang="en-GB" dirty="0"/>
          </a:p>
        </p:txBody>
      </p:sp>
      <p:sp>
        <p:nvSpPr>
          <p:cNvPr id="3" name="Heading Left"/>
          <p:cNvSpPr>
            <a:spLocks noGrp="1"/>
          </p:cNvSpPr>
          <p:nvPr>
            <p:ph idx="10" hasCustomPrompt="1"/>
          </p:nvPr>
        </p:nvSpPr>
        <p:spPr>
          <a:xfrm>
            <a:off x="457200" y="2438400"/>
            <a:ext cx="3454400" cy="184666"/>
          </a:xfrm>
        </p:spPr>
        <p:txBody>
          <a:bodyPr>
            <a:spAutoFit/>
          </a:bodyPr>
          <a:lstStyle>
            <a:lvl1pPr>
              <a:defRPr b="1"/>
            </a:lvl1pPr>
          </a:lstStyle>
          <a:p>
            <a:pPr lvl="0"/>
            <a:r>
              <a:rPr lang="en-GB"/>
              <a:t>Heading – Client situation</a:t>
            </a:r>
            <a:endParaRPr lang="en-GB" dirty="0"/>
          </a:p>
        </p:txBody>
      </p:sp>
      <p:sp>
        <p:nvSpPr>
          <p:cNvPr id="4" name="Content Left"/>
          <p:cNvSpPr>
            <a:spLocks noGrp="1"/>
          </p:cNvSpPr>
          <p:nvPr>
            <p:ph idx="11"/>
          </p:nvPr>
        </p:nvSpPr>
        <p:spPr>
          <a:xfrm>
            <a:off x="4572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5" name="Heading Middle"/>
          <p:cNvSpPr>
            <a:spLocks noGrp="1"/>
          </p:cNvSpPr>
          <p:nvPr>
            <p:ph idx="13" hasCustomPrompt="1"/>
          </p:nvPr>
        </p:nvSpPr>
        <p:spPr>
          <a:xfrm>
            <a:off x="4368800" y="2438400"/>
            <a:ext cx="3454400" cy="184666"/>
          </a:xfrm>
        </p:spPr>
        <p:txBody>
          <a:bodyPr>
            <a:spAutoFit/>
          </a:bodyPr>
          <a:lstStyle>
            <a:lvl1pPr>
              <a:defRPr b="1"/>
            </a:lvl1pPr>
          </a:lstStyle>
          <a:p>
            <a:pPr lvl="0"/>
            <a:r>
              <a:rPr lang="en-GB"/>
              <a:t>Heading – Our approach</a:t>
            </a:r>
            <a:endParaRPr lang="en-GB" dirty="0"/>
          </a:p>
        </p:txBody>
      </p:sp>
      <p:sp>
        <p:nvSpPr>
          <p:cNvPr id="6" name="Content Middle"/>
          <p:cNvSpPr>
            <a:spLocks noGrp="1"/>
          </p:cNvSpPr>
          <p:nvPr>
            <p:ph idx="12"/>
          </p:nvPr>
        </p:nvSpPr>
        <p:spPr>
          <a:xfrm>
            <a:off x="43688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
        <p:nvSpPr>
          <p:cNvPr id="7" name="Heading Right"/>
          <p:cNvSpPr>
            <a:spLocks noGrp="1"/>
          </p:cNvSpPr>
          <p:nvPr>
            <p:ph idx="15" hasCustomPrompt="1"/>
          </p:nvPr>
        </p:nvSpPr>
        <p:spPr>
          <a:xfrm>
            <a:off x="8280400" y="2438400"/>
            <a:ext cx="3454400" cy="184666"/>
          </a:xfrm>
        </p:spPr>
        <p:txBody>
          <a:bodyPr>
            <a:spAutoFit/>
          </a:bodyPr>
          <a:lstStyle>
            <a:lvl1pPr>
              <a:defRPr b="1"/>
            </a:lvl1pPr>
          </a:lstStyle>
          <a:p>
            <a:pPr lvl="0"/>
            <a:r>
              <a:rPr lang="en-GB"/>
              <a:t>Heading – Impact achieved</a:t>
            </a:r>
            <a:endParaRPr lang="en-GB" dirty="0"/>
          </a:p>
        </p:txBody>
      </p:sp>
      <p:sp>
        <p:nvSpPr>
          <p:cNvPr id="8" name="Content Right"/>
          <p:cNvSpPr>
            <a:spLocks noGrp="1"/>
          </p:cNvSpPr>
          <p:nvPr>
            <p:ph idx="14"/>
          </p:nvPr>
        </p:nvSpPr>
        <p:spPr>
          <a:xfrm>
            <a:off x="8280400" y="2732794"/>
            <a:ext cx="3454400" cy="3579106"/>
          </a:xfrm>
        </p:spPr>
        <p:txBody>
          <a:bodyPr/>
          <a:lstStyle/>
          <a:p>
            <a:pPr lvl="0"/>
            <a:r>
              <a:rPr lang="en-GB"/>
              <a:t>Click to edit Master text styles</a:t>
            </a:r>
          </a:p>
          <a:p>
            <a:pPr lvl="1"/>
            <a:r>
              <a:rPr lang="en-GB"/>
              <a:t>Second level</a:t>
            </a:r>
          </a:p>
          <a:p>
            <a:pPr lvl="2"/>
            <a:r>
              <a:rPr lang="en-GB"/>
              <a:t>Third level</a:t>
            </a:r>
          </a:p>
          <a:p>
            <a:pPr lvl="3"/>
            <a:r>
              <a:rPr lang="en-GB"/>
              <a:t>Fourth level</a:t>
            </a:r>
            <a:endParaRPr lang="en-GB" dirty="0"/>
          </a:p>
        </p:txBody>
      </p:sp>
    </p:spTree>
    <p:extLst>
      <p:ext uri="{BB962C8B-B14F-4D97-AF65-F5344CB8AC3E}">
        <p14:creationId xmlns:p14="http://schemas.microsoft.com/office/powerpoint/2010/main" val="2644492672"/>
      </p:ext>
    </p:extLst>
  </p:cSld>
  <p:clrMapOvr>
    <a:masterClrMapping/>
  </p:clrMapOvr>
  <p:extLst>
    <p:ext uri="{DCECCB84-F9BA-43D5-87BE-67443E8EF086}">
      <p15:sldGuideLst xmlns:p15="http://schemas.microsoft.com/office/powerpoint/2012/main">
        <p15:guide id="1" orient="horz" pos="886">
          <p15:clr>
            <a:srgbClr val="FBAE40"/>
          </p15:clr>
        </p15:guide>
        <p15:guide id="2" orient="horz" pos="1389">
          <p15:clr>
            <a:srgbClr val="FBAE40"/>
          </p15:clr>
        </p15:guide>
        <p15:guide id="3" orient="horz" pos="1532">
          <p15:clr>
            <a:srgbClr val="FBAE40"/>
          </p15:clr>
        </p15:guide>
        <p15:guide id="4" orient="horz" pos="3976">
          <p15:clr>
            <a:srgbClr val="FBAE40"/>
          </p15:clr>
        </p15:guide>
        <p15:guide id="5" pos="2464">
          <p15:clr>
            <a:srgbClr val="FBAE40"/>
          </p15:clr>
        </p15:guide>
        <p15:guide id="6" pos="2751">
          <p15:clr>
            <a:srgbClr val="FBAE40"/>
          </p15:clr>
        </p15:guide>
        <p15:guide id="7" pos="4927">
          <p15:clr>
            <a:srgbClr val="FBAE40"/>
          </p15:clr>
        </p15:guide>
        <p15:guide id="8" pos="5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p:bg>
      <p:bgPr>
        <a:solidFill>
          <a:schemeClr val="bg2"/>
        </a:solidFill>
        <a:effectLst/>
      </p:bgPr>
    </p:bg>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200" y="381000"/>
            <a:ext cx="7442200" cy="1261884"/>
          </a:xfrm>
        </p:spPr>
        <p:txBody>
          <a:bodyPr vert="horz" wrap="square" lIns="0" tIns="0" rIns="0" bIns="0" numCol="1" anchor="t" anchorCtr="0" compatLnSpc="1">
            <a:prstTxWarp prst="textNoShape">
              <a:avLst/>
            </a:prstTxWarp>
            <a:spAutoFit/>
          </a:bodyPr>
          <a:lstStyle>
            <a:lvl1pPr marL="0" indent="0" algn="l" fontAlgn="base">
              <a:buFont typeface="Arial" panose="020B0604020202020204" pitchFamily="34" charset="0"/>
              <a:buChar char="​"/>
              <a:defRPr sz="4800">
                <a:solidFill>
                  <a:schemeClr val="tx1"/>
                </a:solidFill>
                <a:latin typeface="+mj-lt"/>
                <a:ea typeface="+mj-ea"/>
                <a:cs typeface="+mj-cs"/>
              </a:defRPr>
            </a:lvl1pPr>
            <a:lvl2pPr marL="0" indent="0" algn="l">
              <a:spcBef>
                <a:spcPts val="1200"/>
              </a:spcBef>
              <a:buFont typeface="Arial" panose="020B0604020202020204" pitchFamily="34" charset="0"/>
              <a:buChar char="​"/>
              <a:defRPr sz="2400">
                <a:solidFill>
                  <a:schemeClr val="tx1"/>
                </a:solidFill>
                <a:latin typeface="+mn-lt"/>
                <a:ea typeface="+mn-ea"/>
                <a:cs typeface="+mn-cs"/>
              </a:defRPr>
            </a:lvl2pPr>
            <a:lvl3pPr marL="0" indent="0">
              <a:buFont typeface="Arial" panose="020B0604020202020204" pitchFamily="34" charset="0"/>
              <a:buChar char="​"/>
              <a:defRPr sz="2400" b="0">
                <a:latin typeface="+mn-lt"/>
                <a:ea typeface="+mn-ea"/>
                <a:cs typeface="+mn-cs"/>
              </a:defRPr>
            </a:lvl3pPr>
            <a:lvl4pPr marL="0" indent="0">
              <a:buFont typeface="Arial" panose="020B0604020202020204" pitchFamily="34" charset="0"/>
              <a:buChar char="​"/>
              <a:defRPr sz="2400" b="0">
                <a:latin typeface="+mn-lt"/>
                <a:ea typeface="+mn-ea"/>
                <a:cs typeface="+mn-cs"/>
              </a:defRPr>
            </a:lvl4pPr>
            <a:lvl5pPr marL="0" indent="0">
              <a:buFont typeface="Arial" panose="020B0604020202020204" pitchFamily="34" charset="0"/>
              <a:buChar char="​"/>
              <a:defRPr sz="2400" b="0">
                <a:latin typeface="+mn-lt"/>
                <a:ea typeface="+mn-ea"/>
                <a:cs typeface="+mn-cs"/>
              </a:defRPr>
            </a:lvl5pPr>
            <a:lvl6pPr marL="0" indent="0">
              <a:buFont typeface="Arial" panose="020B0604020202020204" pitchFamily="34" charset="0"/>
              <a:buChar char="​"/>
              <a:defRPr sz="2400" b="0">
                <a:latin typeface="+mn-lt"/>
                <a:ea typeface="+mn-ea"/>
                <a:cs typeface="+mn-cs"/>
              </a:defRPr>
            </a:lvl6pPr>
            <a:lvl7pPr marL="0" indent="0">
              <a:buFont typeface="Arial" panose="020B0604020202020204" pitchFamily="34" charset="0"/>
              <a:buChar char="​"/>
              <a:defRPr sz="2400" b="0">
                <a:latin typeface="+mn-lt"/>
                <a:ea typeface="+mn-ea"/>
                <a:cs typeface="+mn-cs"/>
              </a:defRPr>
            </a:lvl7pPr>
            <a:lvl8pPr marL="0" indent="0">
              <a:buFont typeface="Arial" panose="020B0604020202020204" pitchFamily="34" charset="0"/>
              <a:buChar char="​"/>
              <a:defRPr sz="2400" b="0">
                <a:latin typeface="+mn-lt"/>
                <a:ea typeface="+mn-ea"/>
                <a:cs typeface="+mn-cs"/>
              </a:defRPr>
            </a:lvl8pPr>
            <a:lvl9pPr marL="0" indent="0">
              <a:buFont typeface="Arial" panose="020B0604020202020204" pitchFamily="34" charset="0"/>
              <a:buChar char="​"/>
              <a:defRPr sz="2400" b="0">
                <a:latin typeface="+mn-lt"/>
                <a:ea typeface="+mn-ea"/>
                <a:cs typeface="+mn-cs"/>
              </a:defRPr>
            </a:lvl9pPr>
          </a:lstStyle>
          <a:p>
            <a:pPr lvl="0"/>
            <a:r>
              <a:rPr lang="en-GB"/>
              <a:t>Click to add section title</a:t>
            </a:r>
          </a:p>
          <a:p>
            <a:pPr lvl="1"/>
            <a:r>
              <a:rPr lang="en-GB"/>
              <a:t>Click to add section subtitle</a:t>
            </a:r>
            <a:endParaRPr lang="en-GB" dirty="0"/>
          </a:p>
        </p:txBody>
      </p:sp>
      <p:sp>
        <p:nvSpPr>
          <p:cNvPr id="3" name="SectionNumber"/>
          <p:cNvSpPr>
            <a:spLocks noGrp="1"/>
          </p:cNvSpPr>
          <p:nvPr>
            <p:ph type="body" sz="quarter" idx="12" hasCustomPrompt="1"/>
          </p:nvPr>
        </p:nvSpPr>
        <p:spPr>
          <a:xfrm>
            <a:off x="6070341" y="3903345"/>
            <a:ext cx="5664459" cy="2954655"/>
          </a:xfrm>
        </p:spPr>
        <p:txBody>
          <a:bodyPr wrap="square" lIns="0" tIns="0" rIns="0" bIns="0" anchor="b">
            <a:spAutoFit/>
          </a:bodyPr>
          <a:lstStyle>
            <a:lvl1pPr marL="0" indent="0" algn="r" fontAlgn="base">
              <a:lnSpc>
                <a:spcPct val="100000"/>
              </a:lnSpc>
              <a:spcBef>
                <a:spcPts val="0"/>
              </a:spcBef>
              <a:spcAft>
                <a:spcPts val="0"/>
              </a:spcAft>
              <a:buFont typeface="Arial" panose="020B0604020202020204" pitchFamily="34" charset="0"/>
              <a:buChar char="​"/>
              <a:defRPr sz="19200">
                <a:solidFill>
                  <a:schemeClr val="tx1"/>
                </a:solidFill>
                <a:latin typeface="+mj-lt"/>
                <a:ea typeface="+mj-ea"/>
                <a:cs typeface="+mj-cs"/>
              </a:defRPr>
            </a:lvl1pPr>
            <a:lvl2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2pPr>
            <a:lvl3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3pPr>
            <a:lvl4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4pPr>
            <a:lvl5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5pPr>
            <a:lvl6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6pPr>
            <a:lvl7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7pPr>
            <a:lvl8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8pPr>
            <a:lvl9pPr marL="0" indent="0" algn="l" fontAlgn="base">
              <a:lnSpc>
                <a:spcPct val="100000"/>
              </a:lnSpc>
              <a:spcBef>
                <a:spcPct val="0"/>
              </a:spcBef>
              <a:spcAft>
                <a:spcPct val="0"/>
              </a:spcAft>
              <a:buFont typeface="Arial" panose="020B0604020202020204" pitchFamily="34" charset="0"/>
              <a:buChar char="​"/>
              <a:defRPr sz="19200">
                <a:solidFill>
                  <a:schemeClr val="tx1"/>
                </a:solidFill>
                <a:latin typeface="+mj-lt"/>
                <a:ea typeface="+mj-ea"/>
                <a:cs typeface="+mj-cs"/>
              </a:defRPr>
            </a:lvl9pPr>
          </a:lstStyle>
          <a:p>
            <a:pPr lvl="0"/>
            <a:r>
              <a:rPr lang="en-GB"/>
              <a:t>##</a:t>
            </a:r>
            <a:endParaRPr lang="en-GB"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Ref idx="1001">
        <a:schemeClr val="bg2"/>
      </p:bgRef>
    </p:bg>
    <p:spTree>
      <p:nvGrpSpPr>
        <p:cNvPr id="1" name=""/>
        <p:cNvGrpSpPr/>
        <p:nvPr/>
      </p:nvGrpSpPr>
      <p:grpSpPr>
        <a:xfrm>
          <a:off x="0" y="0"/>
          <a:ext cx="0" cy="0"/>
          <a:chOff x="0" y="0"/>
          <a:chExt cx="0" cy="0"/>
        </a:xfrm>
      </p:grpSpPr>
      <p:sp>
        <p:nvSpPr>
          <p:cNvPr id="2" name="Title"/>
          <p:cNvSpPr>
            <a:spLocks noGrp="1"/>
          </p:cNvSpPr>
          <p:nvPr>
            <p:ph type="ctrTitle" hasCustomPrompt="1"/>
          </p:nvPr>
        </p:nvSpPr>
        <p:spPr>
          <a:xfrm>
            <a:off x="457200" y="2637592"/>
            <a:ext cx="7442200" cy="677108"/>
          </a:xfrm>
        </p:spPr>
        <p:txBody>
          <a:bodyPr anchor="b">
            <a:spAutoFit/>
          </a:bodyPr>
          <a:lstStyle>
            <a:lvl1pPr>
              <a:defRPr sz="4400">
                <a:solidFill>
                  <a:schemeClr val="tx1"/>
                </a:solidFill>
                <a:latin typeface="+mj-lt"/>
                <a:ea typeface="+mj-ea"/>
                <a:cs typeface="+mj-cs"/>
              </a:defRPr>
            </a:lvl1pPr>
          </a:lstStyle>
          <a:p>
            <a:pPr lvl="0"/>
            <a:r>
              <a:rPr lang="en-GB"/>
              <a:t>Title</a:t>
            </a:r>
            <a:endParaRPr lang="en-GB" dirty="0"/>
          </a:p>
        </p:txBody>
      </p:sp>
      <p:sp>
        <p:nvSpPr>
          <p:cNvPr id="3" name="Subtitle"/>
          <p:cNvSpPr>
            <a:spLocks noGrp="1"/>
          </p:cNvSpPr>
          <p:nvPr>
            <p:ph type="body" sz="quarter" idx="11" hasCustomPrompt="1"/>
          </p:nvPr>
        </p:nvSpPr>
        <p:spPr>
          <a:xfrm>
            <a:off x="8128000" y="2790505"/>
            <a:ext cx="3606800" cy="430887"/>
          </a:xfrm>
        </p:spPr>
        <p:txBody>
          <a:bodyPr wrap="square" lIns="0" tIns="0" rIns="0" bIns="0" anchor="b">
            <a:spAutoFit/>
          </a:bodyPr>
          <a:lstStyle>
            <a:lvl1pPr marL="0" marR="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sz="1400">
                <a:solidFill>
                  <a:schemeClr val="tx1"/>
                </a:solidFill>
              </a:defRPr>
            </a:lvl1pPr>
            <a:lvl2pPr marL="0" indent="0">
              <a:spcBef>
                <a:spcPts val="0"/>
              </a:spcBef>
              <a:spcAft>
                <a:spcPts val="0"/>
              </a:spcAft>
              <a:buFont typeface="Arial" panose="020B0604020202020204" pitchFamily="34" charset="0"/>
              <a:buChar char="​"/>
              <a:defRPr sz="1800">
                <a:solidFill>
                  <a:schemeClr val="tx1"/>
                </a:solidFill>
              </a:defRPr>
            </a:lvl2pPr>
            <a:lvl3pPr marL="0" indent="0">
              <a:spcBef>
                <a:spcPts val="0"/>
              </a:spcBef>
              <a:spcAft>
                <a:spcPts val="0"/>
              </a:spcAft>
              <a:buFont typeface="Arial" panose="020B0604020202020204" pitchFamily="34" charset="0"/>
              <a:buChar char="​"/>
              <a:defRPr sz="1800">
                <a:solidFill>
                  <a:schemeClr val="tx1"/>
                </a:solidFill>
              </a:defRPr>
            </a:lvl3pPr>
            <a:lvl4pPr marL="0" indent="0">
              <a:spcBef>
                <a:spcPts val="0"/>
              </a:spcBef>
              <a:spcAft>
                <a:spcPts val="0"/>
              </a:spcAft>
              <a:buFont typeface="Arial" panose="020B0604020202020204" pitchFamily="34" charset="0"/>
              <a:buChar char="​"/>
              <a:defRPr sz="1800">
                <a:solidFill>
                  <a:schemeClr val="tx1"/>
                </a:solidFill>
              </a:defRPr>
            </a:lvl4pPr>
            <a:lvl5pPr marL="0" indent="0">
              <a:spcBef>
                <a:spcPts val="0"/>
              </a:spcBef>
              <a:spcAft>
                <a:spcPts val="0"/>
              </a:spcAft>
              <a:buFont typeface="Arial" panose="020B0604020202020204" pitchFamily="34" charset="0"/>
              <a:buChar char="​"/>
              <a:defRPr sz="1800" b="0">
                <a:solidFill>
                  <a:schemeClr val="tx1"/>
                </a:solidFill>
              </a:defRPr>
            </a:lvl5pPr>
            <a:lvl6pPr marL="0" indent="0">
              <a:spcBef>
                <a:spcPts val="0"/>
              </a:spcBef>
              <a:spcAft>
                <a:spcPts val="0"/>
              </a:spcAft>
              <a:buFont typeface="Arial" panose="020B0604020202020204" pitchFamily="34" charset="0"/>
              <a:buChar char="​"/>
              <a:defRPr sz="1800">
                <a:solidFill>
                  <a:schemeClr val="tx1"/>
                </a:solidFill>
              </a:defRPr>
            </a:lvl6pPr>
            <a:lvl7pPr marL="0" indent="0">
              <a:spcBef>
                <a:spcPts val="0"/>
              </a:spcBef>
              <a:spcAft>
                <a:spcPts val="0"/>
              </a:spcAft>
              <a:buFont typeface="Arial" panose="020B0604020202020204" pitchFamily="34" charset="0"/>
              <a:buChar char="​"/>
              <a:defRPr sz="1800">
                <a:solidFill>
                  <a:schemeClr val="tx1"/>
                </a:solidFill>
              </a:defRPr>
            </a:lvl7pPr>
            <a:lvl8pPr marL="0" indent="0">
              <a:spcBef>
                <a:spcPts val="0"/>
              </a:spcBef>
              <a:spcAft>
                <a:spcPts val="0"/>
              </a:spcAft>
              <a:buFont typeface="Arial" panose="020B0604020202020204" pitchFamily="34" charset="0"/>
              <a:buChar char="​"/>
              <a:defRPr sz="1800">
                <a:solidFill>
                  <a:schemeClr val="tx1"/>
                </a:solidFill>
              </a:defRPr>
            </a:lvl8pPr>
            <a:lvl9pPr marL="0" indent="0">
              <a:spcBef>
                <a:spcPts val="0"/>
              </a:spcBef>
              <a:spcAft>
                <a:spcPts val="0"/>
              </a:spcAft>
              <a:buFont typeface="Arial" panose="020B0604020202020204" pitchFamily="34" charset="0"/>
              <a:buChar char="​"/>
              <a:defRPr sz="1800">
                <a:solidFill>
                  <a:schemeClr val="tx1"/>
                </a:solidFill>
              </a:defRPr>
            </a:lvl9p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a:t>Subtitle</a:t>
            </a:r>
            <a:br>
              <a:rPr lang="en-GB"/>
            </a:br>
            <a:r>
              <a:rPr lang="en-GB"/>
              <a:t>Date, Presenter, Location (optional), etc.</a:t>
            </a:r>
            <a:endParaRPr lang="en-GB" dirty="0"/>
          </a:p>
        </p:txBody>
      </p:sp>
      <p:sp>
        <p:nvSpPr>
          <p:cNvPr id="7" name="Picture">
            <a:extLst>
              <a:ext uri="{FF2B5EF4-FFF2-40B4-BE49-F238E27FC236}">
                <a16:creationId xmlns:a16="http://schemas.microsoft.com/office/drawing/2014/main" id="{497E5236-F463-B055-9C7A-37B46D9AE818}"/>
              </a:ext>
            </a:extLst>
          </p:cNvPr>
          <p:cNvSpPr>
            <a:spLocks noGrp="1"/>
          </p:cNvSpPr>
          <p:nvPr>
            <p:ph type="pic" sz="quarter" idx="14"/>
          </p:nvPr>
        </p:nvSpPr>
        <p:spPr>
          <a:xfrm>
            <a:off x="457200" y="3543300"/>
            <a:ext cx="11277600" cy="3314700"/>
          </a:xfrm>
        </p:spPr>
        <p:txBody>
          <a:bodyPr/>
          <a:lstStyle/>
          <a:p>
            <a:r>
              <a:rPr lang="en-GB"/>
              <a:t>Click icon to add picture</a:t>
            </a:r>
            <a:endParaRPr lang="en-GB" dirty="0"/>
          </a:p>
        </p:txBody>
      </p:sp>
      <p:pic>
        <p:nvPicPr>
          <p:cNvPr id="6" name="DTP_CompanyLogo">
            <a:extLst>
              <a:ext uri="{FF2B5EF4-FFF2-40B4-BE49-F238E27FC236}">
                <a16:creationId xmlns:a16="http://schemas.microsoft.com/office/drawing/2014/main" id="{30508C80-9BC7-1D05-8951-05E09D3C092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457200"/>
            <a:ext cx="2495550" cy="476250"/>
          </a:xfrm>
          <a:prstGeom prst="rect">
            <a:avLst/>
          </a:prstGeom>
        </p:spPr>
      </p:pic>
    </p:spTree>
    <p:extLst>
      <p:ext uri="{BB962C8B-B14F-4D97-AF65-F5344CB8AC3E}">
        <p14:creationId xmlns:p14="http://schemas.microsoft.com/office/powerpoint/2010/main" val="28778274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s">
    <p:bg>
      <p:bgPr>
        <a:solidFill>
          <a:schemeClr val="bg2"/>
        </a:solidFill>
        <a:effectLst/>
      </p:bgPr>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457200" y="384048"/>
            <a:ext cx="5413248" cy="797052"/>
          </a:xfrm>
        </p:spPr>
        <p:txBody>
          <a:bodyPr/>
          <a:lstStyle>
            <a:lvl1pPr>
              <a:defRPr sz="4800"/>
            </a:lvl1pPr>
          </a:lstStyle>
          <a:p>
            <a:r>
              <a:rPr lang="en-GB"/>
              <a:t>Contents</a:t>
            </a:r>
            <a:endParaRPr lang="en-GB"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p:extLst>
              <p:ext uri="{D42A27DB-BD31-4B8C-83A1-F6EECF244321}">
                <p14:modId xmlns:p14="http://schemas.microsoft.com/office/powerpoint/2010/main" val="2588479765"/>
              </p:ext>
            </p:extLst>
          </p:nvPr>
        </p:nvGraphicFramePr>
        <p:xfrm>
          <a:off x="457200" y="2529840"/>
          <a:ext cx="9359900" cy="1798320"/>
        </p:xfrm>
        <a:graphic>
          <a:graphicData uri="http://schemas.openxmlformats.org/drawingml/2006/table">
            <a:tbl>
              <a:tblPr/>
              <a:tblGrid>
                <a:gridCol w="9359900">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GB" sz="2600" b="0" cap="none">
                          <a:ln>
                            <a:noFill/>
                          </a:ln>
                          <a:solidFill>
                            <a:schemeClr val="tx1"/>
                          </a:solidFill>
                          <a:effectLst/>
                          <a:latin typeface="+mj-lt"/>
                          <a:ea typeface="+mj-ea"/>
                          <a:cs typeface="+mj-cs"/>
                        </a:rPr>
                        <a:t>Confidentiality</a:t>
                      </a:r>
                      <a:endParaRPr lang="en-GB" sz="2600" b="0" cap="none" dirty="0">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endParaRPr lang="en-GB" sz="1200" dirty="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087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p:extLst>
              <p:ext uri="{D42A27DB-BD31-4B8C-83A1-F6EECF244321}">
                <p14:modId xmlns:p14="http://schemas.microsoft.com/office/powerpoint/2010/main" val="3602293491"/>
              </p:ext>
            </p:extLst>
          </p:nvPr>
        </p:nvGraphicFramePr>
        <p:xfrm>
          <a:off x="457198" y="1668780"/>
          <a:ext cx="9359901" cy="3520440"/>
        </p:xfrm>
        <a:graphic>
          <a:graphicData uri="http://schemas.openxmlformats.org/drawingml/2006/table">
            <a:tbl>
              <a:tblPr/>
              <a:tblGrid>
                <a:gridCol w="9359901">
                  <a:extLst>
                    <a:ext uri="{9D8B030D-6E8A-4147-A177-3AD203B41FA5}">
                      <a16:colId xmlns:a16="http://schemas.microsoft.com/office/drawing/2014/main" val="20000"/>
                    </a:ext>
                  </a:extLst>
                </a:gridCol>
              </a:tblGrid>
              <a:tr h="548640">
                <a:tc>
                  <a:txBody>
                    <a:bodyPr/>
                    <a:lstStyle/>
                    <a:p>
                      <a:pPr marL="0" marR="0" lvl="0" indent="0" algn="l" defTabSz="914400" rtl="0" eaLnBrk="1" fontAlgn="base" latinLnBrk="0" hangingPunct="1">
                        <a:lnSpc>
                          <a:spcPct val="100000"/>
                        </a:lnSpc>
                        <a:spcBef>
                          <a:spcPts val="0"/>
                        </a:spcBef>
                        <a:spcAft>
                          <a:spcPts val="600"/>
                        </a:spcAft>
                        <a:buClrTx/>
                        <a:buSzTx/>
                        <a:buFontTx/>
                        <a:buNone/>
                        <a:tabLst/>
                      </a:pPr>
                      <a:r>
                        <a:rPr lang="en-US" sz="2600" b="0" cap="none">
                          <a:ln>
                            <a:noFill/>
                          </a:ln>
                          <a:solidFill>
                            <a:schemeClr val="tx1"/>
                          </a:solidFill>
                          <a:effectLst/>
                          <a:latin typeface="+mj-lt"/>
                          <a:ea typeface="+mj-ea"/>
                          <a:cs typeface="+mj-cs"/>
                        </a:rPr>
                        <a:t>Qualifications, assumptions, and limiting conditions</a:t>
                      </a:r>
                      <a:endParaRPr lang="en-GB" sz="2600" b="0" cap="none" dirty="0">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endParaRPr lang="en-GB" sz="1200" dirty="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1681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ackcover">
    <p:bg>
      <p:bgPr>
        <a:solidFill>
          <a:schemeClr val="bg2"/>
        </a:solidFill>
        <a:effectLst/>
      </p:bgPr>
    </p:bg>
    <p:spTree>
      <p:nvGrpSpPr>
        <p:cNvPr id="1" name=""/>
        <p:cNvGrpSpPr/>
        <p:nvPr/>
      </p:nvGrpSpPr>
      <p:grpSpPr>
        <a:xfrm>
          <a:off x="0" y="0"/>
          <a:ext cx="0" cy="0"/>
          <a:chOff x="0" y="0"/>
          <a:chExt cx="0" cy="0"/>
        </a:xfrm>
      </p:grpSpPr>
      <p:pic>
        <p:nvPicPr>
          <p:cNvPr id="4" name="DTP_CompanyLogo">
            <a:extLst>
              <a:ext uri="{FF2B5EF4-FFF2-40B4-BE49-F238E27FC236}">
                <a16:creationId xmlns:a16="http://schemas.microsoft.com/office/drawing/2014/main" id="{B2058691-F78D-753E-2E4C-81277DA8441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3191256"/>
            <a:ext cx="2495550" cy="47625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accent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p>
        </p:txBody>
      </p:sp>
      <p:pic>
        <p:nvPicPr>
          <p:cNvPr id="7" name="DTP_CompanyLogo_112">
            <a:extLst>
              <a:ext uri="{FF2B5EF4-FFF2-40B4-BE49-F238E27FC236}">
                <a16:creationId xmlns:a16="http://schemas.microsoft.com/office/drawing/2014/main" id="{E24FE6BF-F31C-539C-4B16-46E5575470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199" y="393188"/>
            <a:ext cx="2453640" cy="469392"/>
          </a:xfrm>
          <a:prstGeom prst="rect">
            <a:avLst/>
          </a:prstGeom>
        </p:spPr>
      </p:pic>
    </p:spTree>
    <p:extLst>
      <p:ext uri="{BB962C8B-B14F-4D97-AF65-F5344CB8AC3E}">
        <p14:creationId xmlns:p14="http://schemas.microsoft.com/office/powerpoint/2010/main" val="2536235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Content"/>
          <p:cNvSpPr>
            <a:spLocks noGrp="1"/>
          </p:cNvSpPr>
          <p:nvPr>
            <p:ph idx="1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28329380"/>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4038051894"/>
      </p:ext>
    </p:extLst>
  </p:cSld>
  <p:clrMapOvr>
    <a:masterClrMapping/>
  </p:clrMapOvr>
  <p:extLst>
    <p:ext uri="{DCECCB84-F9BA-43D5-87BE-67443E8EF086}">
      <p15:sldGuideLst xmlns:p15="http://schemas.microsoft.com/office/powerpoint/2012/main">
        <p15:guide id="1" orient="horz" pos="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1096979660"/>
      </p:ext>
    </p:extLst>
  </p:cSld>
  <p:clrMapOvr>
    <a:masterClrMapping/>
  </p:clrMapOvr>
  <p:extLst>
    <p:ext uri="{DCECCB84-F9BA-43D5-87BE-67443E8EF086}">
      <p15:sldGuideLst xmlns:p15="http://schemas.microsoft.com/office/powerpoint/2012/main">
        <p15:guide id="3" orient="horz" pos="880">
          <p15:clr>
            <a:srgbClr val="FBAE40"/>
          </p15:clr>
        </p15:guide>
        <p15:guide id="5" orient="horz" pos="118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p:cNvSpPr>
            <a:spLocks noGrp="1"/>
          </p:cNvSpPr>
          <p:nvPr>
            <p:ph idx="11"/>
          </p:nvPr>
        </p:nvSpPr>
        <p:spPr>
          <a:xfrm>
            <a:off x="457200" y="1883664"/>
            <a:ext cx="11277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6772914"/>
      </p:ext>
    </p:extLst>
  </p:cSld>
  <p:clrMapOvr>
    <a:masterClrMapping/>
  </p:clrMapOvr>
  <p:extLst>
    <p:ext uri="{DCECCB84-F9BA-43D5-87BE-67443E8EF086}">
      <p15:sldGuideLst xmlns:p15="http://schemas.microsoft.com/office/powerpoint/2012/main">
        <p15:guide id="3" orient="horz" pos="880">
          <p15:clr>
            <a:srgbClr val="FBAE40"/>
          </p15:clr>
        </p15:guide>
        <p15:guide id="6" orient="horz" pos="118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g portrait photo on right">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63C4256-FB04-439A-992B-410C42319741}"/>
              </a:ext>
            </a:extLst>
          </p:cNvPr>
          <p:cNvSpPr>
            <a:spLocks noGrp="1"/>
          </p:cNvSpPr>
          <p:nvPr>
            <p:ph type="title"/>
          </p:nvPr>
        </p:nvSpPr>
        <p:spPr>
          <a:xfrm>
            <a:off x="457200" y="384048"/>
            <a:ext cx="7365998" cy="758952"/>
          </a:xfrm>
        </p:spPr>
        <p:txBody>
          <a:bodyPr/>
          <a:lstStyle/>
          <a:p>
            <a:r>
              <a:rPr lang="en-GB"/>
              <a:t>Click to edit Master title style</a:t>
            </a:r>
          </a:p>
        </p:txBody>
      </p:sp>
      <p:sp>
        <p:nvSpPr>
          <p:cNvPr id="3" name="Heading"/>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p:cNvSpPr>
            <a:spLocks noGrp="1"/>
          </p:cNvSpPr>
          <p:nvPr>
            <p:ph sz="half" idx="11"/>
          </p:nvPr>
        </p:nvSpPr>
        <p:spPr>
          <a:xfrm>
            <a:off x="457198"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a:extLst>
              <a:ext uri="{FF2B5EF4-FFF2-40B4-BE49-F238E27FC236}">
                <a16:creationId xmlns:a16="http://schemas.microsoft.com/office/drawing/2014/main" id="{0D3F1C2C-B46E-4074-AA0F-9EAD49A9905B}"/>
              </a:ext>
            </a:extLst>
          </p:cNvPr>
          <p:cNvSpPr>
            <a:spLocks noGrp="1"/>
          </p:cNvSpPr>
          <p:nvPr>
            <p:ph type="pic" sz="quarter" idx="20"/>
          </p:nvPr>
        </p:nvSpPr>
        <p:spPr>
          <a:xfrm>
            <a:off x="8280400" y="0"/>
            <a:ext cx="3911600" cy="6858000"/>
          </a:xfrm>
        </p:spPr>
        <p:txBody>
          <a:bodyPr tIns="640080" anchor="ctr"/>
          <a:lstStyle>
            <a:lvl1pPr marL="0" indent="0" algn="ctr">
              <a:buNone/>
              <a:defRPr sz="1400">
                <a:solidFill>
                  <a:schemeClr val="accent3"/>
                </a:solidFill>
              </a:defRPr>
            </a:lvl1pPr>
          </a:lstStyle>
          <a:p>
            <a:r>
              <a:rPr lang="en-GB"/>
              <a:t>Click icon to add picture</a:t>
            </a:r>
          </a:p>
        </p:txBody>
      </p:sp>
    </p:spTree>
    <p:extLst>
      <p:ext uri="{BB962C8B-B14F-4D97-AF65-F5344CB8AC3E}">
        <p14:creationId xmlns:p14="http://schemas.microsoft.com/office/powerpoint/2010/main" val="1772035756"/>
      </p:ext>
    </p:extLst>
  </p:cSld>
  <p:clrMapOvr>
    <a:masterClrMapping/>
  </p:clrMapOvr>
  <p:extLst>
    <p:ext uri="{DCECCB84-F9BA-43D5-87BE-67443E8EF086}">
      <p15:sldGuideLst xmlns:p15="http://schemas.microsoft.com/office/powerpoint/2012/main">
        <p15:guide id="1" orient="horz" pos="880">
          <p15:clr>
            <a:srgbClr val="FBAE40"/>
          </p15:clr>
        </p15:guide>
        <p15:guide id="4" orient="horz" pos="1184">
          <p15:clr>
            <a:srgbClr val="FBAE40"/>
          </p15:clr>
        </p15:guide>
        <p15:guide id="6" pos="4928">
          <p15:clr>
            <a:srgbClr val="FBAE40"/>
          </p15:clr>
        </p15:guide>
        <p15:guide id="9" pos="52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Color">
    <p:bg>
      <p:bgPr>
        <a:solidFill>
          <a:schemeClr val="accent1"/>
        </a:solidFill>
        <a:effectLst/>
      </p:bgPr>
    </p:bg>
    <p:spTree>
      <p:nvGrpSpPr>
        <p:cNvPr id="1" name=""/>
        <p:cNvGrpSpPr/>
        <p:nvPr/>
      </p:nvGrpSpPr>
      <p:grpSpPr>
        <a:xfrm>
          <a:off x="0" y="0"/>
          <a:ext cx="0" cy="0"/>
          <a:chOff x="0" y="0"/>
          <a:chExt cx="0" cy="0"/>
        </a:xfrm>
      </p:grpSpPr>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fontAlgn="base">
              <a:lnSpc>
                <a:spcPct val="85000"/>
              </a:lnSpc>
              <a:spcBef>
                <a:spcPts val="0"/>
              </a:spcBef>
              <a:spcAft>
                <a:spcPts val="0"/>
              </a:spcAft>
              <a:buFont typeface="Arial" panose="020B0604020202020204" pitchFamily="34" charset="0"/>
              <a:buChar char="​"/>
              <a:defRPr sz="7200" b="1">
                <a:solidFill>
                  <a:schemeClr val="tx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GB"/>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GB"/>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GB"/>
              <a:t>Date</a:t>
            </a:r>
            <a:br>
              <a:rPr lang="en-GB"/>
            </a:br>
            <a:br>
              <a:rPr lang="en-GB"/>
            </a:br>
            <a:r>
              <a:rPr lang="en-GB"/>
              <a:t>Presenter, Location (optional) | Presenter 2, Location 2 (optional) | etc.</a:t>
            </a:r>
          </a:p>
        </p:txBody>
      </p:sp>
      <p:pic>
        <p:nvPicPr>
          <p:cNvPr id="7" name="DTP_CompanyLogo_inv_112">
            <a:extLst>
              <a:ext uri="{FF2B5EF4-FFF2-40B4-BE49-F238E27FC236}">
                <a16:creationId xmlns:a16="http://schemas.microsoft.com/office/drawing/2014/main" id="{26E160C4-216B-7D9D-C3ED-2582D24799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7200" y="393189"/>
            <a:ext cx="2453640" cy="469392"/>
          </a:xfrm>
          <a:prstGeom prst="rect">
            <a:avLst/>
          </a:prstGeom>
        </p:spPr>
      </p:pic>
    </p:spTree>
    <p:extLst>
      <p:ext uri="{BB962C8B-B14F-4D97-AF65-F5344CB8AC3E}">
        <p14:creationId xmlns:p14="http://schemas.microsoft.com/office/powerpoint/2010/main" val="1483735239"/>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sp>
        <p:nvSpPr>
          <p:cNvPr id="2" name="SectionTitle"/>
          <p:cNvSpPr>
            <a:spLocks noGrp="1"/>
          </p:cNvSpPr>
          <p:nvPr>
            <p:ph type="body" sz="quarter" idx="11" hasCustomPrompt="1"/>
          </p:nvPr>
        </p:nvSpPr>
        <p:spPr>
          <a:xfrm>
            <a:off x="457199" y="4426803"/>
            <a:ext cx="8348472" cy="1354217"/>
          </a:xfrm>
          <a:noFill/>
          <a:ln>
            <a:noFill/>
          </a:ln>
          <a:effectLst/>
        </p:spPr>
        <p:txBody>
          <a:bodyPr vert="horz" wrap="square" lIns="0" tIns="0" rIns="0" bIns="0" numCol="1" anchor="t" anchorCtr="0" compatLnSpc="1">
            <a:prstTxWarp prst="textNoShape">
              <a:avLst/>
            </a:prstTxWarp>
            <a:spAutoFit/>
          </a:bodyPr>
          <a:lstStyle>
            <a:lvl1pPr marL="0" indent="0" algn="l" fontAlgn="base">
              <a:lnSpc>
                <a:spcPct val="85000"/>
              </a:lnSpc>
              <a:spcBef>
                <a:spcPts val="0"/>
              </a:spcBef>
              <a:spcAft>
                <a:spcPts val="0"/>
              </a:spcAft>
              <a:buFont typeface="Arial" panose="020B0604020202020204" pitchFamily="34" charset="0"/>
              <a:buChar char="​"/>
              <a:defRPr sz="4000" b="1">
                <a:solidFill>
                  <a:schemeClr val="tx1"/>
                </a:solidFill>
                <a:latin typeface="+mj-lt"/>
                <a:ea typeface="+mj-ea"/>
                <a:cs typeface="+mj-cs"/>
              </a:defRPr>
            </a:lvl1pPr>
            <a:lvl2pPr marL="0" indent="0" algn="l">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lvl3pPr>
            <a:lvl4pPr marL="0" indent="0">
              <a:lnSpc>
                <a:spcPct val="100000"/>
              </a:lnSpc>
              <a:spcBef>
                <a:spcPts val="0"/>
              </a:spcBef>
              <a:spcAft>
                <a:spcPts val="0"/>
              </a:spcAft>
              <a:buFont typeface="Arial" panose="020B0604020202020204" pitchFamily="34" charset="0"/>
              <a:buChar char="​"/>
              <a:defRPr sz="2000"/>
            </a:lvl4pPr>
            <a:lvl5pPr marL="0" indent="0">
              <a:lnSpc>
                <a:spcPct val="100000"/>
              </a:lnSpc>
              <a:spcBef>
                <a:spcPts val="0"/>
              </a:spcBef>
              <a:spcAft>
                <a:spcPts val="0"/>
              </a:spcAft>
              <a:buFont typeface="Arial" panose="020B0604020202020204" pitchFamily="34" charset="0"/>
              <a:buChar char="​"/>
              <a:defRPr sz="2000"/>
            </a:lvl5pPr>
            <a:lvl6pPr marL="0" indent="0">
              <a:lnSpc>
                <a:spcPct val="100000"/>
              </a:lnSpc>
              <a:spcBef>
                <a:spcPts val="0"/>
              </a:spcBef>
              <a:spcAft>
                <a:spcPts val="0"/>
              </a:spcAft>
              <a:buFont typeface="Arial" panose="020B0604020202020204" pitchFamily="34" charset="0"/>
              <a:buChar char="​"/>
              <a:defRPr sz="2000"/>
            </a:lvl6pPr>
            <a:lvl7pPr marL="0" indent="0">
              <a:lnSpc>
                <a:spcPct val="100000"/>
              </a:lnSpc>
              <a:spcBef>
                <a:spcPts val="0"/>
              </a:spcBef>
              <a:spcAft>
                <a:spcPts val="0"/>
              </a:spcAft>
              <a:buFont typeface="Arial" panose="020B0604020202020204" pitchFamily="34" charset="0"/>
              <a:buChar char="​"/>
              <a:defRPr sz="2000"/>
            </a:lvl7pPr>
            <a:lvl8pPr marL="0" indent="0">
              <a:lnSpc>
                <a:spcPct val="100000"/>
              </a:lnSpc>
              <a:spcBef>
                <a:spcPts val="0"/>
              </a:spcBef>
              <a:spcAft>
                <a:spcPts val="0"/>
              </a:spcAft>
              <a:buFont typeface="Arial" panose="020B0604020202020204" pitchFamily="34" charset="0"/>
              <a:buChar char="​"/>
              <a:defRPr sz="2000"/>
            </a:lvl8pPr>
            <a:lvl9pPr marL="0" indent="0">
              <a:lnSpc>
                <a:spcPct val="100000"/>
              </a:lnSpc>
              <a:spcBef>
                <a:spcPts val="0"/>
              </a:spcBef>
              <a:spcAft>
                <a:spcPts val="0"/>
              </a:spcAft>
              <a:buFont typeface="Arial" panose="020B0604020202020204" pitchFamily="34" charset="0"/>
              <a:buChar char="​"/>
              <a:defRPr sz="2000"/>
            </a:lvl9pPr>
          </a:lstStyle>
          <a:p>
            <a:pPr lvl="0"/>
            <a:r>
              <a:rPr lang="en-GB"/>
              <a:t>Add section title,</a:t>
            </a:r>
            <a:br>
              <a:rPr lang="en-GB"/>
            </a:br>
            <a:r>
              <a:rPr lang="en-GB"/>
              <a:t>press TAB to format as subtitle</a:t>
            </a:r>
          </a:p>
          <a:p>
            <a:pPr lvl="1"/>
            <a:r>
              <a:rPr lang="en-GB"/>
              <a:t>Section subtitle</a:t>
            </a:r>
          </a:p>
        </p:txBody>
      </p:sp>
      <p:sp>
        <p:nvSpPr>
          <p:cNvPr id="3" name="SectionNumber"/>
          <p:cNvSpPr>
            <a:spLocks noGrp="1"/>
          </p:cNvSpPr>
          <p:nvPr>
            <p:ph type="body" sz="quarter" idx="12" hasCustomPrompt="1"/>
          </p:nvPr>
        </p:nvSpPr>
        <p:spPr>
          <a:xfrm>
            <a:off x="457200" y="2274838"/>
            <a:ext cx="8348472" cy="2308324"/>
          </a:xfrm>
        </p:spPr>
        <p:txBody>
          <a:bodyPr wrap="square" lIns="0" tIns="0" rIns="0" bIns="0" anchor="b">
            <a:spAutoFit/>
          </a:bodyPr>
          <a:lstStyle>
            <a:lvl1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1pPr>
            <a:lvl2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2pPr>
            <a:lvl3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3pPr>
            <a:lvl4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4pPr>
            <a:lvl5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5pPr>
            <a:lvl6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6pPr>
            <a:lvl7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7pPr>
            <a:lvl8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8pPr>
            <a:lvl9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9pPr>
          </a:lstStyle>
          <a:p>
            <a:pPr lvl="0"/>
            <a:r>
              <a:rPr lang="en-GB"/>
              <a:t>##</a:t>
            </a:r>
          </a:p>
        </p:txBody>
      </p:sp>
    </p:spTree>
    <p:extLst>
      <p:ext uri="{BB962C8B-B14F-4D97-AF65-F5344CB8AC3E}">
        <p14:creationId xmlns:p14="http://schemas.microsoft.com/office/powerpoint/2010/main" val="15712509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Content Left"/>
          <p:cNvSpPr>
            <a:spLocks noGrp="1"/>
          </p:cNvSpPr>
          <p:nvPr>
            <p:ph idx="11"/>
          </p:nvPr>
        </p:nvSpPr>
        <p:spPr>
          <a:xfrm>
            <a:off x="457200" y="1399032"/>
            <a:ext cx="54102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Right"/>
          <p:cNvSpPr>
            <a:spLocks noGrp="1"/>
          </p:cNvSpPr>
          <p:nvPr>
            <p:ph idx="12"/>
          </p:nvPr>
        </p:nvSpPr>
        <p:spPr>
          <a:xfrm>
            <a:off x="6324600" y="1399032"/>
            <a:ext cx="5410199"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418536660"/>
      </p:ext>
    </p:extLst>
  </p:cSld>
  <p:clrMapOvr>
    <a:masterClrMapping/>
  </p:clrMapOvr>
  <p:extLst>
    <p:ext uri="{DCECCB84-F9BA-43D5-87BE-67443E8EF086}">
      <p15:sldGuideLst xmlns:p15="http://schemas.microsoft.com/office/powerpoint/2012/main">
        <p15:guide id="1" orient="horz" pos="880">
          <p15:clr>
            <a:srgbClr val="FBAE40"/>
          </p15:clr>
        </p15:guide>
        <p15:guide id="2" pos="3696">
          <p15:clr>
            <a:srgbClr val="FBAE40"/>
          </p15:clr>
        </p15:guide>
        <p15:guide id="5" pos="398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5" name="Heading Right"/>
          <p:cNvSpPr>
            <a:spLocks noGrp="1"/>
          </p:cNvSpPr>
          <p:nvPr>
            <p:ph type="body" sz="quarter"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4035781693"/>
      </p:ext>
    </p:extLst>
  </p:cSld>
  <p:clrMapOvr>
    <a:masterClrMapping/>
  </p:clrMapOvr>
  <p:extLst>
    <p:ext uri="{DCECCB84-F9BA-43D5-87BE-67443E8EF086}">
      <p15:sldGuideLst xmlns:p15="http://schemas.microsoft.com/office/powerpoint/2012/main">
        <p15:guide id="5" orient="horz" pos="880">
          <p15:clr>
            <a:srgbClr val="FBAE40"/>
          </p15:clr>
        </p15:guide>
        <p15:guide id="6" pos="3696">
          <p15:clr>
            <a:srgbClr val="FBAE40"/>
          </p15:clr>
        </p15:guide>
        <p15:guide id="7" pos="3984">
          <p15:clr>
            <a:srgbClr val="FBAE40"/>
          </p15:clr>
        </p15:guide>
        <p15:guide id="9" orient="horz" pos="118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2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63246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6324600" y="1883664"/>
            <a:ext cx="54102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16363592"/>
      </p:ext>
    </p:extLst>
  </p:cSld>
  <p:clrMapOvr>
    <a:masterClrMapping/>
  </p:clrMapOvr>
  <p:extLst>
    <p:ext uri="{DCECCB84-F9BA-43D5-87BE-67443E8EF086}">
      <p15:sldGuideLst xmlns:p15="http://schemas.microsoft.com/office/powerpoint/2012/main">
        <p15:guide id="5" orient="horz" pos="880">
          <p15:clr>
            <a:srgbClr val="FBAE40"/>
          </p15:clr>
        </p15:guide>
        <p15:guide id="6" pos="3696">
          <p15:clr>
            <a:srgbClr val="FBAE40"/>
          </p15:clr>
        </p15:guide>
        <p15:guide id="7" pos="3984">
          <p15:clr>
            <a:srgbClr val="FBAE40"/>
          </p15:clr>
        </p15:guide>
        <p15:guide id="9" orient="horz" pos="118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Title and 2 Content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Top"/>
          <p:cNvSpPr>
            <a:spLocks noGrp="1"/>
          </p:cNvSpPr>
          <p:nvPr>
            <p:ph type="body" idx="10" hasCustomPrompt="1"/>
          </p:nvPr>
        </p:nvSpPr>
        <p:spPr>
          <a:xfrm>
            <a:off x="457200" y="139903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p>
        </p:txBody>
      </p:sp>
      <p:sp>
        <p:nvSpPr>
          <p:cNvPr id="4" name="Content Top"/>
          <p:cNvSpPr>
            <a:spLocks noGrp="1"/>
          </p:cNvSpPr>
          <p:nvPr>
            <p:ph idx="11"/>
          </p:nvPr>
        </p:nvSpPr>
        <p:spPr>
          <a:xfrm>
            <a:off x="457200" y="188366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Bottom"/>
          <p:cNvSpPr>
            <a:spLocks noGrp="1"/>
          </p:cNvSpPr>
          <p:nvPr>
            <p:ph type="body" idx="13" hasCustomPrompt="1"/>
          </p:nvPr>
        </p:nvSpPr>
        <p:spPr>
          <a:xfrm>
            <a:off x="457200" y="4005072"/>
            <a:ext cx="11277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GB"/>
              <a:t>Heading 14 pt</a:t>
            </a:r>
          </a:p>
          <a:p>
            <a:pPr lvl="1"/>
            <a:r>
              <a:rPr lang="en-GB"/>
              <a:t>Subheading 14 pt</a:t>
            </a:r>
          </a:p>
        </p:txBody>
      </p:sp>
      <p:sp>
        <p:nvSpPr>
          <p:cNvPr id="6" name="Content Bottom"/>
          <p:cNvSpPr>
            <a:spLocks noGrp="1"/>
          </p:cNvSpPr>
          <p:nvPr>
            <p:ph idx="12"/>
          </p:nvPr>
        </p:nvSpPr>
        <p:spPr>
          <a:xfrm>
            <a:off x="457200" y="4489704"/>
            <a:ext cx="112776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92833962"/>
      </p:ext>
    </p:extLst>
  </p:cSld>
  <p:clrMapOvr>
    <a:masterClrMapping/>
  </p:clrMapOvr>
  <p:extLst>
    <p:ext uri="{DCECCB84-F9BA-43D5-87BE-67443E8EF086}">
      <p15:sldGuideLst xmlns:p15="http://schemas.microsoft.com/office/powerpoint/2012/main">
        <p15:guide id="3" orient="horz" pos="2523">
          <p15:clr>
            <a:srgbClr val="FBAE40"/>
          </p15:clr>
        </p15:guide>
        <p15:guide id="5" orient="horz" pos="880">
          <p15:clr>
            <a:srgbClr val="FBAE40"/>
          </p15:clr>
        </p15:guide>
        <p15:guide id="6" orient="horz" pos="2832">
          <p15:clr>
            <a:srgbClr val="FBAE40"/>
          </p15:clr>
        </p15:guide>
        <p15:guide id="8" orient="horz" pos="118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43687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43687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195003351"/>
      </p:ext>
    </p:extLst>
  </p:cSld>
  <p:clrMapOvr>
    <a:masterClrMapping/>
  </p:clrMapOvr>
  <p:extLst>
    <p:ext uri="{DCECCB84-F9BA-43D5-87BE-67443E8EF086}">
      <p15:sldGuideLst xmlns:p15="http://schemas.microsoft.com/office/powerpoint/2012/main">
        <p15:guide id="5" orient="horz" pos="880">
          <p15:clr>
            <a:srgbClr val="FBAE40"/>
          </p15:clr>
        </p15:guide>
        <p15:guide id="6" pos="2464">
          <p15:clr>
            <a:srgbClr val="FBAE40"/>
          </p15:clr>
        </p15:guide>
        <p15:guide id="7" pos="2752">
          <p15:clr>
            <a:srgbClr val="FBAE40"/>
          </p15:clr>
        </p15:guide>
        <p15:guide id="9" orient="horz" pos="11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199" y="1399032"/>
            <a:ext cx="73660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199" y="1883664"/>
            <a:ext cx="73660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p:cNvSpPr>
            <a:spLocks noGrp="1"/>
          </p:cNvSpPr>
          <p:nvPr>
            <p:ph type="body" sz="quarter" idx="13"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p:cNvSpPr>
            <a:spLocks noGrp="1"/>
          </p:cNvSpPr>
          <p:nvPr>
            <p:ph sz="quarter" idx="12"/>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56760417"/>
      </p:ext>
    </p:extLst>
  </p:cSld>
  <p:clrMapOvr>
    <a:masterClrMapping/>
  </p:clrMapOvr>
  <p:extLst>
    <p:ext uri="{DCECCB84-F9BA-43D5-87BE-67443E8EF086}">
      <p15:sldGuideLst xmlns:p15="http://schemas.microsoft.com/office/powerpoint/2012/main">
        <p15:guide id="5" orient="horz" pos="880">
          <p15:clr>
            <a:srgbClr val="FBAE40"/>
          </p15:clr>
        </p15:guide>
        <p15:guide id="6" pos="4928">
          <p15:clr>
            <a:srgbClr val="FBAE40"/>
          </p15:clr>
        </p15:guide>
        <p15:guide id="7" pos="5216">
          <p15:clr>
            <a:srgbClr val="FBAE40"/>
          </p15:clr>
        </p15:guide>
        <p15:guide id="9" orient="horz" pos="118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4" name="Content Left"/>
          <p:cNvSpPr>
            <a:spLocks noGrp="1"/>
          </p:cNvSpPr>
          <p:nvPr>
            <p:ph sz="half" idx="11"/>
          </p:nvPr>
        </p:nvSpPr>
        <p:spPr>
          <a:xfrm>
            <a:off x="4572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Content Middle"/>
          <p:cNvSpPr>
            <a:spLocks noGrp="1"/>
          </p:cNvSpPr>
          <p:nvPr>
            <p:ph sz="quarter" idx="12"/>
          </p:nvPr>
        </p:nvSpPr>
        <p:spPr>
          <a:xfrm>
            <a:off x="4368799"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Content Right"/>
          <p:cNvSpPr>
            <a:spLocks noGrp="1"/>
          </p:cNvSpPr>
          <p:nvPr>
            <p:ph sz="quarter" idx="14"/>
          </p:nvPr>
        </p:nvSpPr>
        <p:spPr>
          <a:xfrm>
            <a:off x="8280400" y="1399032"/>
            <a:ext cx="3454400" cy="5001768"/>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2031929"/>
      </p:ext>
    </p:extLst>
  </p:cSld>
  <p:clrMapOvr>
    <a:masterClrMapping/>
  </p:clrMapOvr>
  <p:extLst>
    <p:ext uri="{DCECCB84-F9BA-43D5-87BE-67443E8EF086}">
      <p15:sldGuideLst xmlns:p15="http://schemas.microsoft.com/office/powerpoint/2012/main">
        <p15:guide id="1" orient="horz" pos="880">
          <p15:clr>
            <a:srgbClr val="FBAE40"/>
          </p15:clr>
        </p15:guide>
        <p15:guide id="2" pos="5216">
          <p15:clr>
            <a:srgbClr val="FBAE40"/>
          </p15:clr>
        </p15:guide>
        <p15:guide id="4" pos="2752">
          <p15:clr>
            <a:srgbClr val="FBAE40"/>
          </p15:clr>
        </p15:guide>
        <p15:guide id="5" pos="4928">
          <p15:clr>
            <a:srgbClr val="FBAE40"/>
          </p15:clr>
        </p15:guide>
        <p15:guide id="6" pos="246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heading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5" name="Heading Middle"/>
          <p:cNvSpPr>
            <a:spLocks noGrp="1"/>
          </p:cNvSpPr>
          <p:nvPr>
            <p:ph type="body" sz="quarter" idx="13" hasCustomPrompt="1"/>
          </p:nvPr>
        </p:nvSpPr>
        <p:spPr>
          <a:xfrm>
            <a:off x="4368800" y="1399032"/>
            <a:ext cx="34543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Tree>
    <p:extLst>
      <p:ext uri="{BB962C8B-B14F-4D97-AF65-F5344CB8AC3E}">
        <p14:creationId xmlns:p14="http://schemas.microsoft.com/office/powerpoint/2010/main" val="4241367790"/>
      </p:ext>
    </p:extLst>
  </p:cSld>
  <p:clrMapOvr>
    <a:masterClrMapping/>
  </p:clrMapOvr>
  <p:extLst>
    <p:ext uri="{DCECCB84-F9BA-43D5-87BE-67443E8EF086}">
      <p15:sldGuideLst xmlns:p15="http://schemas.microsoft.com/office/powerpoint/2012/main">
        <p15:guide id="7" orient="horz" pos="880">
          <p15:clr>
            <a:srgbClr val="FBAE40"/>
          </p15:clr>
        </p15:guide>
        <p15:guide id="8" pos="5216">
          <p15:clr>
            <a:srgbClr val="FBAE40"/>
          </p15:clr>
        </p15:guide>
        <p15:guide id="10" pos="2752">
          <p15:clr>
            <a:srgbClr val="FBAE40"/>
          </p15:clr>
        </p15:guide>
        <p15:guide id="11" pos="4928">
          <p15:clr>
            <a:srgbClr val="FBAE40"/>
          </p15:clr>
        </p15:guide>
        <p15:guide id="12" pos="2464">
          <p15:clr>
            <a:srgbClr val="FBAE40"/>
          </p15:clr>
        </p15:guide>
        <p15:guide id="14" orient="horz" pos="118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3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p:cNvSpPr>
            <a:spLocks noGrp="1"/>
          </p:cNvSpPr>
          <p:nvPr>
            <p:ph sz="half" idx="11"/>
          </p:nvPr>
        </p:nvSpPr>
        <p:spPr>
          <a:xfrm>
            <a:off x="4572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p:cNvSpPr>
            <a:spLocks noGrp="1"/>
          </p:cNvSpPr>
          <p:nvPr>
            <p:ph type="body" sz="quarter"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p:cNvSpPr>
            <a:spLocks noGrp="1"/>
          </p:cNvSpPr>
          <p:nvPr>
            <p:ph sz="quarter" idx="12"/>
          </p:nvPr>
        </p:nvSpPr>
        <p:spPr>
          <a:xfrm>
            <a:off x="4368799"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Right"/>
          <p:cNvSpPr>
            <a:spLocks noGrp="1"/>
          </p:cNvSpPr>
          <p:nvPr>
            <p:ph sz="quarter" idx="14"/>
          </p:nvPr>
        </p:nvSpPr>
        <p:spPr>
          <a:xfrm>
            <a:off x="8280400" y="1883664"/>
            <a:ext cx="34544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043714555"/>
      </p:ext>
    </p:extLst>
  </p:cSld>
  <p:clrMapOvr>
    <a:masterClrMapping/>
  </p:clrMapOvr>
  <p:extLst>
    <p:ext uri="{DCECCB84-F9BA-43D5-87BE-67443E8EF086}">
      <p15:sldGuideLst xmlns:p15="http://schemas.microsoft.com/office/powerpoint/2012/main">
        <p15:guide id="7" orient="horz" pos="880">
          <p15:clr>
            <a:srgbClr val="FBAE40"/>
          </p15:clr>
        </p15:guide>
        <p15:guide id="8" pos="2464">
          <p15:clr>
            <a:srgbClr val="FBAE40"/>
          </p15:clr>
        </p15:guide>
        <p15:guide id="9" pos="2752">
          <p15:clr>
            <a:srgbClr val="FBAE40"/>
          </p15:clr>
        </p15:guide>
        <p15:guide id="10" pos="4928">
          <p15:clr>
            <a:srgbClr val="FBAE40"/>
          </p15:clr>
        </p15:guide>
        <p15:guide id="11" pos="5216">
          <p15:clr>
            <a:srgbClr val="FBAE40"/>
          </p15:clr>
        </p15:guide>
        <p15:guide id="13" orient="horz" pos="118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4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199"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199"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Left"/>
          <p:cNvSpPr>
            <a:spLocks noGrp="1"/>
          </p:cNvSpPr>
          <p:nvPr>
            <p:ph type="body" idx="13" hasCustomPrompt="1"/>
          </p:nvPr>
        </p:nvSpPr>
        <p:spPr>
          <a:xfrm>
            <a:off x="33909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Left"/>
          <p:cNvSpPr>
            <a:spLocks noGrp="1"/>
          </p:cNvSpPr>
          <p:nvPr>
            <p:ph sz="quarter" idx="12"/>
          </p:nvPr>
        </p:nvSpPr>
        <p:spPr>
          <a:xfrm>
            <a:off x="33909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Middle Right"/>
          <p:cNvSpPr>
            <a:spLocks noGrp="1"/>
          </p:cNvSpPr>
          <p:nvPr>
            <p:ph type="body" idx="15" hasCustomPrompt="1"/>
          </p:nvPr>
        </p:nvSpPr>
        <p:spPr>
          <a:xfrm>
            <a:off x="63246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Middle Right"/>
          <p:cNvSpPr>
            <a:spLocks noGrp="1"/>
          </p:cNvSpPr>
          <p:nvPr>
            <p:ph sz="quarter" idx="14"/>
          </p:nvPr>
        </p:nvSpPr>
        <p:spPr>
          <a:xfrm>
            <a:off x="63246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Right"/>
          <p:cNvSpPr>
            <a:spLocks noGrp="1"/>
          </p:cNvSpPr>
          <p:nvPr>
            <p:ph type="body" idx="17" hasCustomPrompt="1"/>
          </p:nvPr>
        </p:nvSpPr>
        <p:spPr>
          <a:xfrm>
            <a:off x="9258300" y="1399032"/>
            <a:ext cx="24765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Right"/>
          <p:cNvSpPr>
            <a:spLocks noGrp="1"/>
          </p:cNvSpPr>
          <p:nvPr>
            <p:ph sz="quarter" idx="16"/>
          </p:nvPr>
        </p:nvSpPr>
        <p:spPr>
          <a:xfrm>
            <a:off x="9258300" y="1883664"/>
            <a:ext cx="24765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18573005"/>
      </p:ext>
    </p:extLst>
  </p:cSld>
  <p:clrMapOvr>
    <a:masterClrMapping/>
  </p:clrMapOvr>
  <p:extLst>
    <p:ext uri="{DCECCB84-F9BA-43D5-87BE-67443E8EF086}">
      <p15:sldGuideLst xmlns:p15="http://schemas.microsoft.com/office/powerpoint/2012/main">
        <p15:guide id="5" orient="horz" pos="880">
          <p15:clr>
            <a:srgbClr val="FBAE40"/>
          </p15:clr>
        </p15:guide>
        <p15:guide id="10" pos="2136">
          <p15:clr>
            <a:srgbClr val="FBAE40"/>
          </p15:clr>
        </p15:guide>
        <p15:guide id="11" pos="3696">
          <p15:clr>
            <a:srgbClr val="FBAE40"/>
          </p15:clr>
        </p15:guide>
        <p15:guide id="12" pos="1848">
          <p15:clr>
            <a:srgbClr val="FBAE40"/>
          </p15:clr>
        </p15:guide>
        <p15:guide id="13" pos="3984">
          <p15:clr>
            <a:srgbClr val="FBAE40"/>
          </p15:clr>
        </p15:guide>
        <p15:guide id="14" pos="5544">
          <p15:clr>
            <a:srgbClr val="FBAE40"/>
          </p15:clr>
        </p15:guide>
        <p15:guide id="15" pos="5832">
          <p15:clr>
            <a:srgbClr val="FBAE40"/>
          </p15:clr>
        </p15:guide>
        <p15:guide id="17" orient="horz" pos="118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5 column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Left"/>
          <p:cNvSpPr>
            <a:spLocks noGrp="1"/>
          </p:cNvSpPr>
          <p:nvPr>
            <p:ph type="body" idx="13" hasCustomPrompt="1"/>
          </p:nvPr>
        </p:nvSpPr>
        <p:spPr>
          <a:xfrm>
            <a:off x="28067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Left"/>
          <p:cNvSpPr>
            <a:spLocks noGrp="1"/>
          </p:cNvSpPr>
          <p:nvPr>
            <p:ph sz="quarter" idx="12"/>
          </p:nvPr>
        </p:nvSpPr>
        <p:spPr>
          <a:xfrm>
            <a:off x="28067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Middle"/>
          <p:cNvSpPr>
            <a:spLocks noGrp="1"/>
          </p:cNvSpPr>
          <p:nvPr>
            <p:ph type="body" idx="15" hasCustomPrompt="1"/>
          </p:nvPr>
        </p:nvSpPr>
        <p:spPr>
          <a:xfrm>
            <a:off x="5156200" y="1399032"/>
            <a:ext cx="18796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Middle"/>
          <p:cNvSpPr>
            <a:spLocks noGrp="1"/>
          </p:cNvSpPr>
          <p:nvPr>
            <p:ph sz="quarter" idx="14"/>
          </p:nvPr>
        </p:nvSpPr>
        <p:spPr>
          <a:xfrm>
            <a:off x="5156200" y="1883664"/>
            <a:ext cx="18796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Middle Right"/>
          <p:cNvSpPr>
            <a:spLocks noGrp="1"/>
          </p:cNvSpPr>
          <p:nvPr>
            <p:ph type="body" idx="17" hasCustomPrompt="1"/>
          </p:nvPr>
        </p:nvSpPr>
        <p:spPr>
          <a:xfrm>
            <a:off x="74930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Middle Right"/>
          <p:cNvSpPr>
            <a:spLocks noGrp="1"/>
          </p:cNvSpPr>
          <p:nvPr>
            <p:ph sz="quarter" idx="16"/>
          </p:nvPr>
        </p:nvSpPr>
        <p:spPr>
          <a:xfrm>
            <a:off x="74930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0" name="Heading Right">
            <a:extLst>
              <a:ext uri="{FF2B5EF4-FFF2-40B4-BE49-F238E27FC236}">
                <a16:creationId xmlns:a16="http://schemas.microsoft.com/office/drawing/2014/main" id="{28D70AB5-46A8-4A97-AAB4-47C1BD4B837B}"/>
              </a:ext>
            </a:extLst>
          </p:cNvPr>
          <p:cNvSpPr>
            <a:spLocks noGrp="1"/>
          </p:cNvSpPr>
          <p:nvPr>
            <p:ph type="body" idx="18" hasCustomPrompt="1"/>
          </p:nvPr>
        </p:nvSpPr>
        <p:spPr>
          <a:xfrm>
            <a:off x="9842500" y="1399032"/>
            <a:ext cx="18923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21" name="Content Right">
            <a:extLst>
              <a:ext uri="{FF2B5EF4-FFF2-40B4-BE49-F238E27FC236}">
                <a16:creationId xmlns:a16="http://schemas.microsoft.com/office/drawing/2014/main" id="{8E85D35B-391E-43DD-85C1-F96075528789}"/>
              </a:ext>
            </a:extLst>
          </p:cNvPr>
          <p:cNvSpPr>
            <a:spLocks noGrp="1"/>
          </p:cNvSpPr>
          <p:nvPr>
            <p:ph sz="quarter" idx="19"/>
          </p:nvPr>
        </p:nvSpPr>
        <p:spPr>
          <a:xfrm>
            <a:off x="9842500" y="1883664"/>
            <a:ext cx="1892300" cy="451713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63782460"/>
      </p:ext>
    </p:extLst>
  </p:cSld>
  <p:clrMapOvr>
    <a:masterClrMapping/>
  </p:clrMapOvr>
  <p:extLst>
    <p:ext uri="{DCECCB84-F9BA-43D5-87BE-67443E8EF086}">
      <p15:sldGuideLst xmlns:p15="http://schemas.microsoft.com/office/powerpoint/2012/main">
        <p15:guide id="5" orient="horz" pos="880">
          <p15:clr>
            <a:srgbClr val="FBAE40"/>
          </p15:clr>
        </p15:guide>
        <p15:guide id="6" pos="1480">
          <p15:clr>
            <a:srgbClr val="FBAE40"/>
          </p15:clr>
        </p15:guide>
        <p15:guide id="7" pos="1768">
          <p15:clr>
            <a:srgbClr val="FBAE40"/>
          </p15:clr>
        </p15:guide>
        <p15:guide id="8" pos="2960">
          <p15:clr>
            <a:srgbClr val="FBAE40"/>
          </p15:clr>
        </p15:guide>
        <p15:guide id="9" pos="3248">
          <p15:clr>
            <a:srgbClr val="FBAE40"/>
          </p15:clr>
        </p15:guide>
        <p15:guide id="10" pos="4432">
          <p15:clr>
            <a:srgbClr val="FBAE40"/>
          </p15:clr>
        </p15:guide>
        <p15:guide id="11" pos="4720">
          <p15:clr>
            <a:srgbClr val="FBAE40"/>
          </p15:clr>
        </p15:guide>
        <p15:guide id="12" pos="5912">
          <p15:clr>
            <a:srgbClr val="FBAE40"/>
          </p15:clr>
        </p15:guide>
        <p15:guide id="13" pos="6200">
          <p15:clr>
            <a:srgbClr val="FBAE40"/>
          </p15:clr>
        </p15:guide>
        <p15:guide id="15" orient="horz" pos="118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4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Right Top"/>
          <p:cNvSpPr>
            <a:spLocks noGrp="1"/>
          </p:cNvSpPr>
          <p:nvPr>
            <p:ph type="body" idx="13" hasCustomPrompt="1"/>
          </p:nvPr>
        </p:nvSpPr>
        <p:spPr>
          <a:xfrm>
            <a:off x="6324600" y="139903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Right Top"/>
          <p:cNvSpPr>
            <a:spLocks noGrp="1"/>
          </p:cNvSpPr>
          <p:nvPr>
            <p:ph sz="quarter" idx="12"/>
          </p:nvPr>
        </p:nvSpPr>
        <p:spPr>
          <a:xfrm>
            <a:off x="6324600" y="188366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Left Bottom"/>
          <p:cNvSpPr>
            <a:spLocks noGrp="1"/>
          </p:cNvSpPr>
          <p:nvPr>
            <p:ph type="body" idx="15" hasCustomPrompt="1"/>
          </p:nvPr>
        </p:nvSpPr>
        <p:spPr>
          <a:xfrm>
            <a:off x="457200" y="4005072"/>
            <a:ext cx="54102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Left Bottom"/>
          <p:cNvSpPr>
            <a:spLocks noGrp="1"/>
          </p:cNvSpPr>
          <p:nvPr>
            <p:ph sz="quarter" idx="14"/>
          </p:nvPr>
        </p:nvSpPr>
        <p:spPr>
          <a:xfrm>
            <a:off x="457200" y="4489704"/>
            <a:ext cx="54102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Right Bottom"/>
          <p:cNvSpPr>
            <a:spLocks noGrp="1"/>
          </p:cNvSpPr>
          <p:nvPr>
            <p:ph type="body" idx="17" hasCustomPrompt="1"/>
          </p:nvPr>
        </p:nvSpPr>
        <p:spPr>
          <a:xfrm>
            <a:off x="6324600" y="4005072"/>
            <a:ext cx="5410199"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Right Bottom"/>
          <p:cNvSpPr>
            <a:spLocks noGrp="1"/>
          </p:cNvSpPr>
          <p:nvPr>
            <p:ph sz="quarter" idx="16"/>
          </p:nvPr>
        </p:nvSpPr>
        <p:spPr>
          <a:xfrm>
            <a:off x="6324600" y="4489704"/>
            <a:ext cx="5410199"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3936828"/>
      </p:ext>
    </p:extLst>
  </p:cSld>
  <p:clrMapOvr>
    <a:masterClrMapping/>
  </p:clrMapOvr>
  <p:extLst>
    <p:ext uri="{DCECCB84-F9BA-43D5-87BE-67443E8EF086}">
      <p15:sldGuideLst xmlns:p15="http://schemas.microsoft.com/office/powerpoint/2012/main">
        <p15:guide id="7" orient="horz" pos="880">
          <p15:clr>
            <a:srgbClr val="FBAE40"/>
          </p15:clr>
        </p15:guide>
        <p15:guide id="10" pos="3984">
          <p15:clr>
            <a:srgbClr val="FBAE40"/>
          </p15:clr>
        </p15:guide>
        <p15:guide id="14" pos="3696">
          <p15:clr>
            <a:srgbClr val="FBAE40"/>
          </p15:clr>
        </p15:guide>
        <p15:guide id="15" orient="horz" pos="1184">
          <p15:clr>
            <a:srgbClr val="FBAE40"/>
          </p15:clr>
        </p15:guide>
        <p15:guide id="17" orient="horz" pos="2832">
          <p15:clr>
            <a:srgbClr val="FBAE40"/>
          </p15:clr>
        </p15:guide>
        <p15:guide id="18" orient="horz" pos="25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 textboxes with heading">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3" name="Heading Left Top"/>
          <p:cNvSpPr>
            <a:spLocks noGrp="1"/>
          </p:cNvSpPr>
          <p:nvPr>
            <p:ph type="body" idx="10" hasCustomPrompt="1"/>
          </p:nvPr>
        </p:nvSpPr>
        <p:spPr>
          <a:xfrm>
            <a:off x="4572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4" name="Content Left Top"/>
          <p:cNvSpPr>
            <a:spLocks noGrp="1"/>
          </p:cNvSpPr>
          <p:nvPr>
            <p:ph sz="quarter" idx="11"/>
          </p:nvPr>
        </p:nvSpPr>
        <p:spPr>
          <a:xfrm>
            <a:off x="4572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Top"/>
          <p:cNvSpPr>
            <a:spLocks noGrp="1"/>
          </p:cNvSpPr>
          <p:nvPr>
            <p:ph type="body" idx="13" hasCustomPrompt="1"/>
          </p:nvPr>
        </p:nvSpPr>
        <p:spPr>
          <a:xfrm>
            <a:off x="4368799"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6" name="Content Middle Top"/>
          <p:cNvSpPr>
            <a:spLocks noGrp="1"/>
          </p:cNvSpPr>
          <p:nvPr>
            <p:ph sz="quarter" idx="12"/>
          </p:nvPr>
        </p:nvSpPr>
        <p:spPr>
          <a:xfrm>
            <a:off x="4368799"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Top"/>
          <p:cNvSpPr>
            <a:spLocks noGrp="1"/>
          </p:cNvSpPr>
          <p:nvPr>
            <p:ph type="body" idx="15" hasCustomPrompt="1"/>
          </p:nvPr>
        </p:nvSpPr>
        <p:spPr>
          <a:xfrm>
            <a:off x="8280400" y="139903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8" name="Content Right Top"/>
          <p:cNvSpPr>
            <a:spLocks noGrp="1"/>
          </p:cNvSpPr>
          <p:nvPr>
            <p:ph sz="quarter" idx="14"/>
          </p:nvPr>
        </p:nvSpPr>
        <p:spPr>
          <a:xfrm>
            <a:off x="8280400" y="188366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Heading Left Bottom"/>
          <p:cNvSpPr>
            <a:spLocks noGrp="1"/>
          </p:cNvSpPr>
          <p:nvPr>
            <p:ph type="body" idx="17" hasCustomPrompt="1"/>
          </p:nvPr>
        </p:nvSpPr>
        <p:spPr>
          <a:xfrm>
            <a:off x="4572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0" name="Content Left Bottom"/>
          <p:cNvSpPr>
            <a:spLocks noGrp="1"/>
          </p:cNvSpPr>
          <p:nvPr>
            <p:ph sz="quarter" idx="16"/>
          </p:nvPr>
        </p:nvSpPr>
        <p:spPr>
          <a:xfrm>
            <a:off x="4572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Heading Middle Bottom"/>
          <p:cNvSpPr>
            <a:spLocks noGrp="1"/>
          </p:cNvSpPr>
          <p:nvPr>
            <p:ph type="body" idx="19" hasCustomPrompt="1"/>
          </p:nvPr>
        </p:nvSpPr>
        <p:spPr>
          <a:xfrm>
            <a:off x="4368799"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2" name="Content Middle Bottom"/>
          <p:cNvSpPr>
            <a:spLocks noGrp="1"/>
          </p:cNvSpPr>
          <p:nvPr>
            <p:ph sz="quarter" idx="18"/>
          </p:nvPr>
        </p:nvSpPr>
        <p:spPr>
          <a:xfrm>
            <a:off x="4368799"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Heading Right Bottom"/>
          <p:cNvSpPr>
            <a:spLocks noGrp="1"/>
          </p:cNvSpPr>
          <p:nvPr>
            <p:ph type="body" idx="21" hasCustomPrompt="1"/>
          </p:nvPr>
        </p:nvSpPr>
        <p:spPr>
          <a:xfrm>
            <a:off x="8280400" y="4005072"/>
            <a:ext cx="3454400" cy="429768"/>
          </a:xfrm>
        </p:spPr>
        <p:txBody>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a:p>
            <a:pPr lvl="1"/>
            <a:r>
              <a:rPr lang="en-GB"/>
              <a:t>Subheading 14 pt</a:t>
            </a:r>
          </a:p>
        </p:txBody>
      </p:sp>
      <p:sp>
        <p:nvSpPr>
          <p:cNvPr id="14" name="Content Right Bottom"/>
          <p:cNvSpPr>
            <a:spLocks noGrp="1"/>
          </p:cNvSpPr>
          <p:nvPr>
            <p:ph sz="quarter" idx="20"/>
          </p:nvPr>
        </p:nvSpPr>
        <p:spPr>
          <a:xfrm>
            <a:off x="8280400" y="4489704"/>
            <a:ext cx="3454400" cy="1911096"/>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781032988"/>
      </p:ext>
    </p:extLst>
  </p:cSld>
  <p:clrMapOvr>
    <a:masterClrMapping/>
  </p:clrMapOvr>
  <p:extLst>
    <p:ext uri="{DCECCB84-F9BA-43D5-87BE-67443E8EF086}">
      <p15:sldGuideLst xmlns:p15="http://schemas.microsoft.com/office/powerpoint/2012/main">
        <p15:guide id="12" pos="2752">
          <p15:clr>
            <a:srgbClr val="FBAE40"/>
          </p15:clr>
        </p15:guide>
        <p15:guide id="14" pos="5216">
          <p15:clr>
            <a:srgbClr val="FBAE40"/>
          </p15:clr>
        </p15:guide>
        <p15:guide id="18" pos="2464">
          <p15:clr>
            <a:srgbClr val="FBAE40"/>
          </p15:clr>
        </p15:guide>
        <p15:guide id="20" pos="4928">
          <p15:clr>
            <a:srgbClr val="FBAE40"/>
          </p15:clr>
        </p15:guide>
        <p15:guide id="21" orient="horz" pos="2520">
          <p15:clr>
            <a:srgbClr val="FBAE40"/>
          </p15:clr>
        </p15:guide>
        <p15:guide id="24" orient="horz" pos="880">
          <p15:clr>
            <a:srgbClr val="FBAE40"/>
          </p15:clr>
        </p15:guide>
        <p15:guide id="25" orient="horz" pos="1184">
          <p15:clr>
            <a:srgbClr val="FBAE40"/>
          </p15:clr>
        </p15:guide>
        <p15:guide id="27" orient="horz" pos="283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cxnSp>
        <p:nvCxnSpPr>
          <p:cNvPr id="8" name="Line"/>
          <p:cNvCxnSpPr/>
          <p:nvPr userDrawn="1"/>
        </p:nvCxnSpPr>
        <p:spPr>
          <a:xfrm>
            <a:off x="3911600" y="0"/>
            <a:ext cx="0" cy="6858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hasCustomPrompt="1"/>
          </p:nvPr>
        </p:nvSpPr>
        <p:spPr>
          <a:xfrm>
            <a:off x="457200" y="4114800"/>
            <a:ext cx="2997200" cy="734155"/>
          </a:xfrm>
        </p:spPr>
        <p:txBody>
          <a:bodyPr anchor="b">
            <a:noAutofit/>
          </a:bodyPr>
          <a:lstStyle>
            <a:lvl1pPr algn="ctr">
              <a:defRPr sz="2400"/>
            </a:lvl1pPr>
          </a:lstStyle>
          <a:p>
            <a:r>
              <a:rPr lang="en-GB"/>
              <a:t>Name</a:t>
            </a:r>
          </a:p>
        </p:txBody>
      </p:sp>
      <p:sp>
        <p:nvSpPr>
          <p:cNvPr id="5" name="Role"/>
          <p:cNvSpPr>
            <a:spLocks noGrp="1"/>
          </p:cNvSpPr>
          <p:nvPr>
            <p:ph type="body" sz="quarter" idx="10" hasCustomPrompt="1"/>
          </p:nvPr>
        </p:nvSpPr>
        <p:spPr>
          <a:xfrm>
            <a:off x="457200" y="4848955"/>
            <a:ext cx="2997200" cy="429768"/>
          </a:xfrm>
        </p:spPr>
        <p:txBody>
          <a:bodyPr/>
          <a:lstStyle>
            <a:lvl1pPr marL="0" indent="0" algn="ctr">
              <a:spcBef>
                <a:spcPts val="0"/>
              </a:spcBef>
              <a:buFont typeface="Arial" panose="020B0604020202020204" pitchFamily="34" charset="0"/>
              <a:buChar char="​"/>
              <a:defRPr sz="1400" b="0">
                <a:solidFill>
                  <a:schemeClr val="tx1"/>
                </a:solidFill>
              </a:defRPr>
            </a:lvl1pPr>
            <a:lvl2pPr marL="0" indent="0" algn="ctr">
              <a:spcBef>
                <a:spcPts val="0"/>
              </a:spcBef>
              <a:buFont typeface="Arial" panose="020B0604020202020204" pitchFamily="34" charset="0"/>
              <a:buChar char="​"/>
              <a:defRPr sz="1400">
                <a:solidFill>
                  <a:schemeClr val="tx1"/>
                </a:solidFill>
              </a:defRPr>
            </a:lvl2pPr>
            <a:lvl3pPr marL="0" indent="0" algn="ctr">
              <a:spcBef>
                <a:spcPts val="0"/>
              </a:spcBef>
              <a:buFont typeface="Arial" panose="020B0604020202020204" pitchFamily="34" charset="0"/>
              <a:buChar char="​"/>
              <a:defRPr sz="1400">
                <a:solidFill>
                  <a:schemeClr val="tx1"/>
                </a:solidFill>
              </a:defRPr>
            </a:lvl3pPr>
            <a:lvl4pPr marL="0" indent="0" algn="ctr">
              <a:spcBef>
                <a:spcPts val="0"/>
              </a:spcBef>
              <a:buFont typeface="Arial" panose="020B0604020202020204" pitchFamily="34" charset="0"/>
              <a:buChar char="​"/>
              <a:defRPr sz="1400">
                <a:solidFill>
                  <a:schemeClr val="tx1"/>
                </a:solidFill>
              </a:defRPr>
            </a:lvl4pPr>
            <a:lvl5pPr marL="0" indent="0" algn="ctr">
              <a:spcBef>
                <a:spcPts val="0"/>
              </a:spcBef>
              <a:buFont typeface="Arial" panose="020B0604020202020204" pitchFamily="34" charset="0"/>
              <a:buChar char="​"/>
              <a:defRPr sz="1400">
                <a:solidFill>
                  <a:schemeClr val="tx1"/>
                </a:solidFill>
              </a:defRPr>
            </a:lvl5pPr>
            <a:lvl6pPr marL="0" indent="0" algn="ctr">
              <a:spcBef>
                <a:spcPts val="0"/>
              </a:spcBef>
              <a:buFont typeface="Arial" panose="020B0604020202020204" pitchFamily="34" charset="0"/>
              <a:buChar char="​"/>
              <a:defRPr sz="1400">
                <a:solidFill>
                  <a:schemeClr val="tx1"/>
                </a:solidFill>
              </a:defRPr>
            </a:lvl6pPr>
            <a:lvl7pPr marL="0" indent="0" algn="ctr">
              <a:spcBef>
                <a:spcPts val="0"/>
              </a:spcBef>
              <a:buFont typeface="Arial" panose="020B0604020202020204" pitchFamily="34" charset="0"/>
              <a:buChar char="​"/>
              <a:defRPr sz="1400">
                <a:solidFill>
                  <a:schemeClr val="tx1"/>
                </a:solidFill>
              </a:defRPr>
            </a:lvl7pPr>
            <a:lvl8pPr marL="0" indent="0" algn="ctr">
              <a:spcBef>
                <a:spcPts val="0"/>
              </a:spcBef>
              <a:buFont typeface="Arial" panose="020B0604020202020204" pitchFamily="34" charset="0"/>
              <a:buChar char="​"/>
              <a:defRPr sz="1400">
                <a:solidFill>
                  <a:schemeClr val="tx1"/>
                </a:solidFill>
              </a:defRPr>
            </a:lvl8pPr>
            <a:lvl9pPr marL="0" indent="0" algn="ctr">
              <a:spcBef>
                <a:spcPts val="0"/>
              </a:spcBef>
              <a:buFont typeface="Arial" panose="020B0604020202020204" pitchFamily="34" charset="0"/>
              <a:buChar char="​"/>
              <a:defRPr sz="1400">
                <a:solidFill>
                  <a:schemeClr val="tx1"/>
                </a:solidFill>
              </a:defRPr>
            </a:lvl9pPr>
          </a:lstStyle>
          <a:p>
            <a:pPr lvl="0"/>
            <a:r>
              <a:rPr lang="en-GB"/>
              <a:t>Role &amp; Position</a:t>
            </a:r>
          </a:p>
        </p:txBody>
      </p:sp>
      <p:sp>
        <p:nvSpPr>
          <p:cNvPr id="7" name="Headshot"/>
          <p:cNvSpPr>
            <a:spLocks noGrp="1" noChangeAspect="1"/>
          </p:cNvSpPr>
          <p:nvPr>
            <p:ph type="pic" sz="quarter" idx="20" hasCustomPrompt="1"/>
          </p:nvPr>
        </p:nvSpPr>
        <p:spPr>
          <a:xfrm>
            <a:off x="457200" y="786128"/>
            <a:ext cx="2997200" cy="2997200"/>
          </a:xfrm>
          <a:prstGeom prst="ellipse">
            <a:avLst/>
          </a:prstGeom>
          <a:solidFill>
            <a:srgbClr val="F0F0F0"/>
          </a:solidFill>
        </p:spPr>
        <p:txBody>
          <a:bodyPr tIns="868680" anchor="ctr"/>
          <a:lstStyle>
            <a:lvl1pPr marL="0" indent="0" algn="ctr">
              <a:buNone/>
              <a:defRPr sz="1400">
                <a:solidFill>
                  <a:schemeClr val="tx1"/>
                </a:solidFill>
              </a:defRPr>
            </a:lvl1pPr>
          </a:lstStyle>
          <a:p>
            <a:r>
              <a:rPr lang="en-GB"/>
              <a:t>Click icon to add headshot</a:t>
            </a:r>
          </a:p>
        </p:txBody>
      </p:sp>
      <p:sp>
        <p:nvSpPr>
          <p:cNvPr id="6" name="Content"/>
          <p:cNvSpPr>
            <a:spLocks noGrp="1"/>
          </p:cNvSpPr>
          <p:nvPr>
            <p:ph type="body" sz="quarter" idx="11"/>
          </p:nvPr>
        </p:nvSpPr>
        <p:spPr>
          <a:xfrm>
            <a:off x="4368799" y="381000"/>
            <a:ext cx="7366000" cy="6019800"/>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51174822"/>
      </p:ext>
    </p:extLst>
  </p:cSld>
  <p:clrMapOvr>
    <a:masterClrMapping/>
  </p:clrMapOvr>
  <p:extLst>
    <p:ext uri="{DCECCB84-F9BA-43D5-87BE-67443E8EF086}">
      <p15:sldGuideLst xmlns:p15="http://schemas.microsoft.com/office/powerpoint/2012/main">
        <p15:guide id="2" pos="217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pager credenti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GB"/>
              <a:t>Click to edit Master title style</a:t>
            </a:r>
          </a:p>
        </p:txBody>
      </p:sp>
      <p:sp>
        <p:nvSpPr>
          <p:cNvPr id="10" name="Impact"/>
          <p:cNvSpPr>
            <a:spLocks noGrp="1"/>
          </p:cNvSpPr>
          <p:nvPr>
            <p:ph type="body" sz="quarter" idx="16" hasCustomPrompt="1"/>
          </p:nvPr>
        </p:nvSpPr>
        <p:spPr>
          <a:xfrm>
            <a:off x="0" y="1399033"/>
            <a:ext cx="12192000" cy="1080135"/>
          </a:xfrm>
          <a:solidFill>
            <a:schemeClr val="accent1"/>
          </a:solidFill>
        </p:spPr>
        <p:txBody>
          <a:bodyPr lIns="457200" tIns="45720" rIns="457200" bIns="45720" anchor="ctr"/>
          <a:lstStyle>
            <a:lvl1pPr marL="0" indent="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bg1"/>
                </a:solidFill>
              </a:defRPr>
            </a:lvl2pPr>
            <a:lvl3pPr marL="0" indent="0">
              <a:spcBef>
                <a:spcPts val="0"/>
              </a:spcBef>
              <a:spcAft>
                <a:spcPts val="0"/>
              </a:spcAft>
              <a:buFont typeface="Arial" panose="020B0604020202020204" pitchFamily="34" charset="0"/>
              <a:buChar char="​"/>
              <a:defRPr sz="2000">
                <a:solidFill>
                  <a:schemeClr val="bg1"/>
                </a:solidFill>
              </a:defRPr>
            </a:lvl3pPr>
            <a:lvl4pPr marL="0" indent="0">
              <a:spcBef>
                <a:spcPts val="0"/>
              </a:spcBef>
              <a:spcAft>
                <a:spcPts val="0"/>
              </a:spcAft>
              <a:buFont typeface="Arial" panose="020B0604020202020204" pitchFamily="34" charset="0"/>
              <a:buChar char="​"/>
              <a:defRPr sz="2000">
                <a:solidFill>
                  <a:schemeClr val="bg1"/>
                </a:solidFill>
              </a:defRPr>
            </a:lvl4pPr>
            <a:lvl5pPr marL="0" indent="0">
              <a:spcBef>
                <a:spcPts val="0"/>
              </a:spcBef>
              <a:spcAft>
                <a:spcPts val="0"/>
              </a:spcAft>
              <a:buFont typeface="Arial" panose="020B0604020202020204" pitchFamily="34" charset="0"/>
              <a:buChar char="​"/>
              <a:defRPr sz="2000">
                <a:solidFill>
                  <a:schemeClr val="bg1"/>
                </a:solidFill>
              </a:defRPr>
            </a:lvl5pPr>
            <a:lvl6pPr marL="0" indent="0">
              <a:spcBef>
                <a:spcPts val="0"/>
              </a:spcBef>
              <a:spcAft>
                <a:spcPts val="0"/>
              </a:spcAft>
              <a:buFont typeface="Arial" panose="020B0604020202020204" pitchFamily="34" charset="0"/>
              <a:buChar char="​"/>
              <a:defRPr sz="2000">
                <a:solidFill>
                  <a:schemeClr val="bg1"/>
                </a:solidFill>
              </a:defRPr>
            </a:lvl6pPr>
            <a:lvl7pPr marL="0" indent="0">
              <a:spcBef>
                <a:spcPts val="0"/>
              </a:spcBef>
              <a:spcAft>
                <a:spcPts val="0"/>
              </a:spcAft>
              <a:buFont typeface="Arial" panose="020B0604020202020204" pitchFamily="34" charset="0"/>
              <a:buChar char="​"/>
              <a:defRPr sz="2000">
                <a:solidFill>
                  <a:schemeClr val="bg1"/>
                </a:solidFill>
              </a:defRPr>
            </a:lvl7pPr>
            <a:lvl8pPr marL="0" indent="0">
              <a:spcBef>
                <a:spcPts val="0"/>
              </a:spcBef>
              <a:spcAft>
                <a:spcPts val="0"/>
              </a:spcAft>
              <a:buFont typeface="Arial" panose="020B0604020202020204" pitchFamily="34" charset="0"/>
              <a:buChar char="​"/>
              <a:defRPr sz="2000">
                <a:solidFill>
                  <a:schemeClr val="bg1"/>
                </a:solidFill>
              </a:defRPr>
            </a:lvl8pPr>
            <a:lvl9pPr marL="0" indent="0">
              <a:spcBef>
                <a:spcPts val="0"/>
              </a:spcBef>
              <a:spcAft>
                <a:spcPts val="0"/>
              </a:spcAft>
              <a:buFont typeface="Arial" panose="020B0604020202020204" pitchFamily="34" charset="0"/>
              <a:buChar char="​"/>
              <a:defRPr sz="2000">
                <a:solidFill>
                  <a:schemeClr val="bg1"/>
                </a:solidFill>
              </a:defRPr>
            </a:lvl9pPr>
          </a:lstStyle>
          <a:p>
            <a:pPr lvl="0"/>
            <a:r>
              <a:rPr lang="en-GB"/>
              <a:t>Insert impact statements here (alternatively change background </a:t>
            </a:r>
            <a:r>
              <a:rPr lang="en-GB" err="1"/>
              <a:t>color</a:t>
            </a:r>
            <a:r>
              <a:rPr lang="en-GB"/>
              <a:t>)</a:t>
            </a:r>
          </a:p>
        </p:txBody>
      </p:sp>
      <p:sp>
        <p:nvSpPr>
          <p:cNvPr id="3" name="Heading Left"/>
          <p:cNvSpPr>
            <a:spLocks noGrp="1"/>
          </p:cNvSpPr>
          <p:nvPr>
            <p:ph type="body" idx="10" hasCustomPrompt="1"/>
          </p:nvPr>
        </p:nvSpPr>
        <p:spPr>
          <a:xfrm>
            <a:off x="4572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4" name="Content Left"/>
          <p:cNvSpPr>
            <a:spLocks noGrp="1"/>
          </p:cNvSpPr>
          <p:nvPr>
            <p:ph type="body" sz="half" idx="11"/>
          </p:nvPr>
        </p:nvSpPr>
        <p:spPr>
          <a:xfrm>
            <a:off x="457200" y="3063236"/>
            <a:ext cx="3454400" cy="3337564"/>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Heading Middle"/>
          <p:cNvSpPr>
            <a:spLocks noGrp="1"/>
          </p:cNvSpPr>
          <p:nvPr>
            <p:ph type="body" sz="quarter" idx="13" hasCustomPrompt="1"/>
          </p:nvPr>
        </p:nvSpPr>
        <p:spPr>
          <a:xfrm>
            <a:off x="4368799"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6" name="Content Middle"/>
          <p:cNvSpPr>
            <a:spLocks noGrp="1"/>
          </p:cNvSpPr>
          <p:nvPr>
            <p:ph type="body" sz="quarter" idx="12"/>
          </p:nvPr>
        </p:nvSpPr>
        <p:spPr>
          <a:xfrm>
            <a:off x="4368799"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Heading Right"/>
          <p:cNvSpPr>
            <a:spLocks noGrp="1"/>
          </p:cNvSpPr>
          <p:nvPr>
            <p:ph type="body" sz="quarter" idx="15" hasCustomPrompt="1"/>
          </p:nvPr>
        </p:nvSpPr>
        <p:spPr>
          <a:xfrm>
            <a:off x="8280400" y="2703194"/>
            <a:ext cx="3454400" cy="215444"/>
          </a:xfrm>
        </p:spPr>
        <p:txBody>
          <a:bodyPr>
            <a:noAutofit/>
          </a:bodyPr>
          <a:lstStyle>
            <a:lvl1pPr marL="0" indent="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GB"/>
              <a:t>Heading 14 pt</a:t>
            </a:r>
          </a:p>
        </p:txBody>
      </p:sp>
      <p:sp>
        <p:nvSpPr>
          <p:cNvPr id="8" name="Content Right"/>
          <p:cNvSpPr>
            <a:spLocks noGrp="1"/>
          </p:cNvSpPr>
          <p:nvPr>
            <p:ph type="body" sz="quarter" idx="14"/>
          </p:nvPr>
        </p:nvSpPr>
        <p:spPr>
          <a:xfrm>
            <a:off x="8280400" y="3063239"/>
            <a:ext cx="3454400" cy="3337561"/>
          </a:xfrm>
        </p:spPr>
        <p:txBody>
          <a:bodyPr/>
          <a:lstStyle>
            <a:lvl1pPr>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177237110"/>
      </p:ext>
    </p:extLst>
  </p:cSld>
  <p:clrMapOvr>
    <a:masterClrMapping/>
  </p:clrMapOvr>
  <p:extLst>
    <p:ext uri="{DCECCB84-F9BA-43D5-87BE-67443E8EF086}">
      <p15:sldGuideLst xmlns:p15="http://schemas.microsoft.com/office/powerpoint/2012/main">
        <p15:guide id="15" pos="2464">
          <p15:clr>
            <a:srgbClr val="FBAE40"/>
          </p15:clr>
        </p15:guide>
        <p15:guide id="16" pos="2752">
          <p15:clr>
            <a:srgbClr val="FBAE40"/>
          </p15:clr>
        </p15:guide>
        <p15:guide id="17" pos="4928">
          <p15:clr>
            <a:srgbClr val="FBAE40"/>
          </p15:clr>
        </p15:guide>
        <p15:guide id="18" pos="5216">
          <p15:clr>
            <a:srgbClr val="FBAE40"/>
          </p15:clr>
        </p15:guide>
        <p15:guide id="20" orient="horz" pos="880">
          <p15:clr>
            <a:srgbClr val="FBAE40"/>
          </p15:clr>
        </p15:guide>
        <p15:guide id="21" orient="horz" pos="1560">
          <p15:clr>
            <a:srgbClr val="FBAE40"/>
          </p15:clr>
        </p15:guide>
        <p15:guide id="24" orient="horz" pos="170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p>
            <a:r>
              <a:rPr lang="en-GB"/>
              <a:t>Contents</a:t>
            </a:r>
          </a:p>
        </p:txBody>
      </p:sp>
    </p:spTree>
    <p:extLst>
      <p:ext uri="{BB962C8B-B14F-4D97-AF65-F5344CB8AC3E}">
        <p14:creationId xmlns:p14="http://schemas.microsoft.com/office/powerpoint/2010/main" val="2622829344"/>
      </p:ext>
    </p:extLst>
  </p:cSld>
  <p:clrMapOvr>
    <a:masterClrMapping/>
  </p:clrMapOvr>
  <p:extLst>
    <p:ext uri="{DCECCB84-F9BA-43D5-87BE-67443E8EF086}">
      <p15:sldGuideLst xmlns:p15="http://schemas.microsoft.com/office/powerpoint/2012/main">
        <p15:guide id="1" orient="horz" pos="88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userDrawn="1">
            <p:extLst>
              <p:ext uri="{D42A27DB-BD31-4B8C-83A1-F6EECF244321}">
                <p14:modId xmlns:p14="http://schemas.microsoft.com/office/powerpoint/2010/main" val="2511821090"/>
              </p:ext>
            </p:extLst>
          </p:nvPr>
        </p:nvGraphicFramePr>
        <p:xfrm>
          <a:off x="457200" y="2598420"/>
          <a:ext cx="9321800" cy="1661160"/>
        </p:xfrm>
        <a:graphic>
          <a:graphicData uri="http://schemas.openxmlformats.org/drawingml/2006/table">
            <a:tbl>
              <a:tblPr/>
              <a:tblGrid>
                <a:gridCol w="9321800">
                  <a:extLst>
                    <a:ext uri="{9D8B030D-6E8A-4147-A177-3AD203B41FA5}">
                      <a16:colId xmlns:a16="http://schemas.microsoft.com/office/drawing/2014/main" val="20000"/>
                    </a:ext>
                  </a:extLst>
                </a:gridCol>
              </a:tblGrid>
              <a:tr h="36576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GB" sz="2400" b="1"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endParaRPr lang="en-GB" sz="120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659258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userDrawn="1">
            <p:extLst>
              <p:ext uri="{D42A27DB-BD31-4B8C-83A1-F6EECF244321}">
                <p14:modId xmlns:p14="http://schemas.microsoft.com/office/powerpoint/2010/main" val="291662468"/>
              </p:ext>
            </p:extLst>
          </p:nvPr>
        </p:nvGraphicFramePr>
        <p:xfrm>
          <a:off x="457199" y="1828800"/>
          <a:ext cx="9321800" cy="3200400"/>
        </p:xfrm>
        <a:graphic>
          <a:graphicData uri="http://schemas.openxmlformats.org/drawingml/2006/table">
            <a:tbl>
              <a:tblPr/>
              <a:tblGrid>
                <a:gridCol w="9321800">
                  <a:extLst>
                    <a:ext uri="{9D8B030D-6E8A-4147-A177-3AD203B41FA5}">
                      <a16:colId xmlns:a16="http://schemas.microsoft.com/office/drawing/2014/main" val="20000"/>
                    </a:ext>
                  </a:extLst>
                </a:gridCol>
              </a:tblGrid>
              <a:tr h="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US" sz="2400" b="1" cap="none">
                          <a:ln>
                            <a:noFill/>
                          </a:ln>
                          <a:solidFill>
                            <a:schemeClr val="tx1"/>
                          </a:solidFill>
                          <a:effectLst/>
                          <a:latin typeface="+mj-lt"/>
                          <a:ea typeface="+mj-ea"/>
                          <a:cs typeface="+mj-cs"/>
                        </a:rPr>
                        <a:t>QUALIFICATIONS, ASSUMPTIONS, AND LIMITING CONDITIONS</a:t>
                      </a:r>
                      <a:endParaRPr lang="en-GB" sz="2400" b="1" cap="none">
                        <a:ln>
                          <a:noFill/>
                        </a:ln>
                        <a:solidFill>
                          <a:schemeClr val="tx1"/>
                        </a:solidFill>
                        <a:effectLst/>
                        <a:latin typeface="+mj-lt"/>
                        <a:ea typeface="+mj-ea"/>
                        <a:cs typeface="+mj-cs"/>
                      </a:endParaRP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US"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endParaRPr lang="en-GB" sz="1200">
                        <a:ln>
                          <a:noFill/>
                        </a:ln>
                        <a:solidFill>
                          <a:schemeClr val="tx1"/>
                        </a:solidFill>
                        <a:effectLst/>
                        <a:latin typeface="+mn-lt"/>
                        <a:ea typeface="+mn-ea"/>
                        <a:cs typeface="+mn-cs"/>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6185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Backcover">
    <p:spTree>
      <p:nvGrpSpPr>
        <p:cNvPr id="1" name=""/>
        <p:cNvGrpSpPr/>
        <p:nvPr/>
      </p:nvGrpSpPr>
      <p:grpSpPr>
        <a:xfrm>
          <a:off x="0" y="0"/>
          <a:ext cx="0" cy="0"/>
          <a:chOff x="0" y="0"/>
          <a:chExt cx="0" cy="0"/>
        </a:xfrm>
      </p:grpSpPr>
      <p:pic>
        <p:nvPicPr>
          <p:cNvPr id="4" name="DTP_CompanyLogo_112">
            <a:extLst>
              <a:ext uri="{FF2B5EF4-FFF2-40B4-BE49-F238E27FC236}">
                <a16:creationId xmlns:a16="http://schemas.microsoft.com/office/drawing/2014/main" id="{B2CC4801-8229-7CBF-25F7-42D895CCD6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69180" y="3194304"/>
            <a:ext cx="2453640" cy="469392"/>
          </a:xfrm>
          <a:prstGeom prst="rect">
            <a:avLst/>
          </a:prstGeom>
        </p:spPr>
      </p:pic>
    </p:spTree>
    <p:extLst>
      <p:ext uri="{BB962C8B-B14F-4D97-AF65-F5344CB8AC3E}">
        <p14:creationId xmlns:p14="http://schemas.microsoft.com/office/powerpoint/2010/main" val="27464562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472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slideLayout" Target="../slideLayouts/slideLayout44.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slideLayout" Target="../slideLayouts/slideLayout43.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29"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slideLayout" Target="../slideLayouts/slideLayout42.xml"/><Relationship Id="rId32" Type="http://schemas.openxmlformats.org/officeDocument/2006/relationships/image" Target="../media/image3.emf"/><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slideLayout" Target="../slideLayouts/slideLayout41.xml"/><Relationship Id="rId28" Type="http://schemas.openxmlformats.org/officeDocument/2006/relationships/slideLayout" Target="../slideLayouts/slideLayout46.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31" Type="http://schemas.openxmlformats.org/officeDocument/2006/relationships/oleObject" Target="../embeddings/oleObject2.bin"/><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 Id="rId27" Type="http://schemas.openxmlformats.org/officeDocument/2006/relationships/slideLayout" Target="../slideLayouts/slideLayout45.xml"/><Relationship Id="rId30"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44477464-1B8E-BD3E-594C-240EA66E0548}"/>
              </a:ext>
            </a:extLst>
          </p:cNvPr>
          <p:cNvGraphicFramePr>
            <a:graphicFrameLocks noChangeAspect="1"/>
          </p:cNvGraphicFramePr>
          <p:nvPr userDrawn="1">
            <p:custDataLst>
              <p:tags r:id="rId20"/>
            </p:custDataLst>
            <p:extLst>
              <p:ext uri="{D42A27DB-BD31-4B8C-83A1-F6EECF244321}">
                <p14:modId xmlns:p14="http://schemas.microsoft.com/office/powerpoint/2010/main" val="33404109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469" imgH="469" progId="TCLayout.ActiveDocument.1">
                  <p:embed/>
                </p:oleObj>
              </mc:Choice>
              <mc:Fallback>
                <p:oleObj name="think-cell Slide" r:id="rId21" imgW="469" imgH="469" progId="TCLayout.ActiveDocument.1">
                  <p:embed/>
                  <p:pic>
                    <p:nvPicPr>
                      <p:cNvPr id="11" name="think-cell data - do not delete" hidden="1">
                        <a:extLst>
                          <a:ext uri="{FF2B5EF4-FFF2-40B4-BE49-F238E27FC236}">
                            <a16:creationId xmlns:a16="http://schemas.microsoft.com/office/drawing/2014/main" id="{44477464-1B8E-BD3E-594C-240EA66E0548}"/>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97052"/>
          </a:xfrm>
          <a:prstGeom prst="rect">
            <a:avLst/>
          </a:prstGeom>
        </p:spPr>
        <p:txBody>
          <a:bodyPr vert="horz" lIns="0" tIns="0" rIns="0" bIns="0" rtlCol="0" anchorCtr="0">
            <a:noAutofit/>
          </a:bodyPr>
          <a:lstStyle/>
          <a:p>
            <a:r>
              <a:rPr lang="en-GB"/>
              <a:t>Click to edit Master title style</a:t>
            </a:r>
            <a:endParaRPr lang="en-GB" dirty="0"/>
          </a:p>
        </p:txBody>
      </p:sp>
      <p:sp>
        <p:nvSpPr>
          <p:cNvPr id="3" name="BodyText"/>
          <p:cNvSpPr>
            <a:spLocks noGrp="1"/>
          </p:cNvSpPr>
          <p:nvPr>
            <p:ph type="body" idx="1"/>
          </p:nvPr>
        </p:nvSpPr>
        <p:spPr>
          <a:xfrm>
            <a:off x="457200" y="1409700"/>
            <a:ext cx="11277600" cy="4899660"/>
          </a:xfrm>
          <a:prstGeom prst="rect">
            <a:avLst/>
          </a:prstGeom>
        </p:spPr>
        <p:txBody>
          <a:bodyPr vert="horz" lIns="0" tIns="0" rIns="0" bIns="0" rtlCol="0">
            <a:noAutofit/>
          </a:bodyPr>
          <a:lstStyle/>
          <a:p>
            <a:pPr lvl="0"/>
            <a:r>
              <a:rPr lang="en-GB"/>
              <a:t>First level - Body text</a:t>
            </a:r>
          </a:p>
          <a:p>
            <a:pPr lvl="1"/>
            <a:r>
              <a:rPr lang="en-GB"/>
              <a:t>Second level</a:t>
            </a:r>
          </a:p>
          <a:p>
            <a:pPr lvl="2"/>
            <a:r>
              <a:rPr lang="en-GB"/>
              <a:t>Third level</a:t>
            </a:r>
          </a:p>
          <a:p>
            <a:pPr lvl="3"/>
            <a:r>
              <a:rPr lang="en-GB"/>
              <a:t>Fourth level</a:t>
            </a:r>
          </a:p>
          <a:p>
            <a:pPr lvl="4"/>
            <a:r>
              <a:rPr lang="en-GB"/>
              <a:t>Fifth level - Heading</a:t>
            </a:r>
          </a:p>
          <a:p>
            <a:pPr lvl="5"/>
            <a:r>
              <a:rPr lang="en-GB"/>
              <a:t>Sixth level - Subheading</a:t>
            </a:r>
          </a:p>
          <a:p>
            <a:pPr lvl="6"/>
            <a:r>
              <a:rPr lang="en-GB"/>
              <a:t>Seventh level</a:t>
            </a:r>
          </a:p>
          <a:p>
            <a:pPr lvl="7"/>
            <a:r>
              <a:rPr lang="en-GB"/>
              <a:t>Eighth level</a:t>
            </a:r>
          </a:p>
          <a:p>
            <a:pPr lvl="8"/>
            <a:r>
              <a:rPr lang="en-GB"/>
              <a:t>Ninth level</a:t>
            </a:r>
            <a:endParaRPr lang="en-GB" dirty="0"/>
          </a:p>
        </p:txBody>
      </p:sp>
      <p:sp>
        <p:nvSpPr>
          <p:cNvPr id="8" name="DTP_Copyright"/>
          <p:cNvSpPr txBox="1"/>
          <p:nvPr/>
        </p:nvSpPr>
        <p:spPr>
          <a:xfrm>
            <a:off x="457200" y="6567848"/>
            <a:ext cx="793487" cy="123111"/>
          </a:xfrm>
          <a:prstGeom prst="rect">
            <a:avLst/>
          </a:prstGeom>
          <a:noFill/>
        </p:spPr>
        <p:txBody>
          <a:bodyPr wrap="none" lIns="0" tIns="0" rIns="0" bIns="0" rtlCol="0" anchor="ctr" anchorCtr="0">
            <a:spAutoFit/>
          </a:bodyPr>
          <a:lstStyle/>
          <a:p>
            <a:pPr marL="0" indent="0" algn="l" defTabSz="914400" rtl="0" eaLnBrk="1" latinLnBrk="0" hangingPunct="1">
              <a:lnSpc>
                <a:spcPct val="100000"/>
              </a:lnSpc>
              <a:spcBef>
                <a:spcPct val="0"/>
              </a:spcBef>
              <a:spcAft>
                <a:spcPct val="0"/>
              </a:spcAft>
              <a:buFontTx/>
              <a:buNone/>
            </a:pPr>
            <a:r>
              <a:rPr lang="en-GB" sz="800">
                <a:solidFill>
                  <a:schemeClr val="tx1"/>
                </a:solidFill>
                <a:latin typeface="+mn-lt"/>
                <a:ea typeface="+mn-ea"/>
                <a:cs typeface="+mn-cs"/>
              </a:rPr>
              <a:t>© Oliver Wyman</a:t>
            </a:r>
            <a:endParaRPr lang="en-GB" sz="800" dirty="0">
              <a:solidFill>
                <a:schemeClr val="tx1"/>
              </a:solidFill>
              <a:latin typeface="+mn-lt"/>
              <a:ea typeface="+mn-ea"/>
              <a:cs typeface="+mn-cs"/>
            </a:endParaRPr>
          </a:p>
        </p:txBody>
      </p:sp>
      <p:sp>
        <p:nvSpPr>
          <p:cNvPr id="7" name="SlideNumber"/>
          <p:cNvSpPr txBox="1"/>
          <p:nvPr/>
        </p:nvSpPr>
        <p:spPr>
          <a:xfrm>
            <a:off x="11604960" y="6567850"/>
            <a:ext cx="129850" cy="123110"/>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lang="en-GB" sz="8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lang="en-GB" sz="800" dirty="0">
              <a:solidFill>
                <a:schemeClr val="tx1"/>
              </a:solidFill>
            </a:endParaRPr>
          </a:p>
        </p:txBody>
      </p:sp>
      <p:sp>
        <p:nvSpPr>
          <p:cNvPr id="4" name="Date Placeholder" hidden="1"/>
          <p:cNvSpPr>
            <a:spLocks noGrp="1"/>
          </p:cNvSpPr>
          <p:nvPr>
            <p:ph type="dt" sz="half" idx="2"/>
          </p:nvPr>
        </p:nvSpPr>
        <p:spPr>
          <a:xfrm>
            <a:off x="10968687" y="6864350"/>
            <a:ext cx="522516" cy="98425"/>
          </a:xfrm>
          <a:prstGeom prst="rect">
            <a:avLst/>
          </a:prstGeom>
        </p:spPr>
        <p:txBody>
          <a:bodyPr vert="horz" lIns="0" tIns="0" rIns="0" bIns="0" rtlCol="0" anchor="ctr"/>
          <a:lstStyle>
            <a:lvl1pPr algn="l">
              <a:defRPr sz="800">
                <a:solidFill>
                  <a:schemeClr val="tx1"/>
                </a:solidFill>
              </a:defRPr>
            </a:lvl1pPr>
          </a:lstStyle>
          <a:p>
            <a:fld id="{7ECE2914-4E17-487A-A4E5-C87617449E51}" type="datetimeFigureOut">
              <a:rPr lang="en-GB" smtClean="0"/>
              <a:pPr/>
              <a:t>22/05/2026</a:t>
            </a:fld>
            <a:endParaRPr lang="en-GB" sz="800" dirty="0"/>
          </a:p>
        </p:txBody>
      </p:sp>
      <p:sp>
        <p:nvSpPr>
          <p:cNvPr id="5" name="Footer Placeholder" hidden="1"/>
          <p:cNvSpPr>
            <a:spLocks noGrp="1"/>
          </p:cNvSpPr>
          <p:nvPr>
            <p:ph type="ftr" sz="quarter" idx="3"/>
          </p:nvPr>
        </p:nvSpPr>
        <p:spPr>
          <a:xfrm>
            <a:off x="5757334" y="6580188"/>
            <a:ext cx="677333" cy="98425"/>
          </a:xfrm>
          <a:prstGeom prst="rect">
            <a:avLst/>
          </a:prstGeom>
        </p:spPr>
        <p:txBody>
          <a:bodyPr vert="horz" lIns="0" tIns="0" rIns="0" bIns="0" rtlCol="0" anchor="ctr"/>
          <a:lstStyle>
            <a:lvl1pPr algn="ctr">
              <a:defRPr sz="800">
                <a:solidFill>
                  <a:schemeClr val="tx1"/>
                </a:solidFill>
              </a:defRPr>
            </a:lvl1pPr>
          </a:lstStyle>
          <a:p>
            <a:endParaRPr lang="en-GB" sz="800" dirty="0"/>
          </a:p>
        </p:txBody>
      </p:sp>
      <p:sp>
        <p:nvSpPr>
          <p:cNvPr id="6" name="Slide Number Placeholder" hidden="1"/>
          <p:cNvSpPr>
            <a:spLocks noGrp="1"/>
          </p:cNvSpPr>
          <p:nvPr>
            <p:ph type="sldNum" sz="quarter" idx="4"/>
          </p:nvPr>
        </p:nvSpPr>
        <p:spPr>
          <a:xfrm>
            <a:off x="11541276" y="6864350"/>
            <a:ext cx="193524" cy="98425"/>
          </a:xfrm>
          <a:prstGeom prst="rect">
            <a:avLst/>
          </a:prstGeom>
        </p:spPr>
        <p:txBody>
          <a:bodyPr vert="horz" lIns="0" tIns="0" rIns="0" bIns="0" rtlCol="0" anchor="ctr"/>
          <a:lstStyle>
            <a:lvl1pPr algn="r">
              <a:defRPr sz="1000">
                <a:solidFill>
                  <a:schemeClr val="tx1"/>
                </a:solidFill>
              </a:defRPr>
            </a:lvl1pPr>
          </a:lstStyle>
          <a:p>
            <a:fld id="{8F63CC74-D785-4C96-8C6E-EB177D1B9A1D}" type="slidenum">
              <a:rPr lang="en-GB" smtClean="0"/>
              <a:pPr/>
              <a:t>‹#›</a:t>
            </a:fld>
            <a:endParaRPr lang="en-GB" dirty="0"/>
          </a:p>
        </p:txBody>
      </p:sp>
      <p:cxnSp>
        <p:nvCxnSpPr>
          <p:cNvPr id="9" name="Line">
            <a:extLst>
              <a:ext uri="{FF2B5EF4-FFF2-40B4-BE49-F238E27FC236}">
                <a16:creationId xmlns:a16="http://schemas.microsoft.com/office/drawing/2014/main" id="{7198974C-7877-52E2-BEA4-04B16B8867A0}"/>
              </a:ext>
              <a:ext uri="{C183D7F6-B498-43B3-948B-1728B52AA6E4}">
                <adec:decorative xmlns:adec="http://schemas.microsoft.com/office/drawing/2017/decorative" val="1"/>
              </a:ext>
            </a:extLst>
          </p:cNvPr>
          <p:cNvCxnSpPr>
            <a:cxnSpLocks/>
          </p:cNvCxnSpPr>
          <p:nvPr/>
        </p:nvCxnSpPr>
        <p:spPr>
          <a:xfrm>
            <a:off x="457200" y="6400800"/>
            <a:ext cx="11277600"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8" r:id="rId1"/>
    <p:sldLayoutId id="2147483691" r:id="rId2"/>
    <p:sldLayoutId id="2147483692" r:id="rId3"/>
    <p:sldLayoutId id="2147483698" r:id="rId4"/>
    <p:sldLayoutId id="2147483704" r:id="rId5"/>
    <p:sldLayoutId id="2147483720" r:id="rId6"/>
    <p:sldLayoutId id="2147483702" r:id="rId7"/>
    <p:sldLayoutId id="2147483703" r:id="rId8"/>
    <p:sldLayoutId id="2147483695" r:id="rId9"/>
    <p:sldLayoutId id="2147483725" r:id="rId10"/>
    <p:sldLayoutId id="2147483726" r:id="rId11"/>
    <p:sldLayoutId id="2147483719" r:id="rId12"/>
    <p:sldLayoutId id="2147483721" r:id="rId13"/>
    <p:sldLayoutId id="2147483713" r:id="rId14"/>
    <p:sldLayoutId id="2147483722" r:id="rId15"/>
    <p:sldLayoutId id="2147483723" r:id="rId16"/>
    <p:sldLayoutId id="2147483716" r:id="rId17"/>
    <p:sldLayoutId id="2147483717" r:id="rId18"/>
  </p:sldLayoutIdLst>
  <p:txStyles>
    <p:titleStyle>
      <a:lvl1pPr algn="l" defTabSz="914400" rtl="0" eaLnBrk="1" latinLnBrk="0" hangingPunct="1">
        <a:spcBef>
          <a:spcPct val="0"/>
        </a:spcBef>
        <a:buNone/>
        <a:defRPr sz="2600" b="0" kern="0">
          <a:solidFill>
            <a:schemeClr val="tx1"/>
          </a:solidFill>
          <a:latin typeface="+mj-lt"/>
          <a:ea typeface="+mj-ea"/>
          <a:cs typeface="+mj-cs"/>
        </a:defRPr>
      </a:lvl1pPr>
    </p:titleStyle>
    <p:bodyStyle>
      <a:lvl1pPr marL="0" indent="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1pPr>
      <a:lvl2pPr marL="180000" indent="-180000" algn="l" defTabSz="914400" rtl="0" eaLnBrk="1" latinLnBrk="0" hangingPunct="1">
        <a:spcBef>
          <a:spcPts val="600"/>
        </a:spcBef>
        <a:buFont typeface="Arial" panose="020B0604020202020204" pitchFamily="34" charset="0"/>
        <a:buChar char="•"/>
        <a:defRPr sz="1200" kern="0">
          <a:solidFill>
            <a:schemeClr val="tx1"/>
          </a:solidFill>
          <a:latin typeface="+mn-lt"/>
          <a:ea typeface="+mn-ea"/>
          <a:cs typeface="+mn-cs"/>
        </a:defRPr>
      </a:lvl2pPr>
      <a:lvl3pPr marL="36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3pPr>
      <a:lvl4pPr marL="540000" indent="-180000" algn="l" defTabSz="914400" rtl="0" eaLnBrk="1" latinLnBrk="0" hangingPunct="1">
        <a:spcBef>
          <a:spcPts val="300"/>
        </a:spcBef>
        <a:buFont typeface="Arial" panose="020B0604020202020204" pitchFamily="34" charset="0"/>
        <a:buChar char="-"/>
        <a:defRPr sz="1200" kern="0">
          <a:solidFill>
            <a:schemeClr val="tx1"/>
          </a:solidFill>
          <a:latin typeface="+mn-lt"/>
          <a:ea typeface="+mn-ea"/>
          <a:cs typeface="+mn-cs"/>
        </a:defRPr>
      </a:lvl4pPr>
      <a:lvl5pPr marL="0" indent="0" algn="l" defTabSz="914400" rtl="0" eaLnBrk="1" latinLnBrk="0" hangingPunct="1">
        <a:spcBef>
          <a:spcPts val="1500"/>
        </a:spcBef>
        <a:spcAft>
          <a:spcPts val="300"/>
        </a:spcAft>
        <a:buFont typeface="Arial" panose="020B0604020202020204" pitchFamily="34" charset="0"/>
        <a:buChar char="​"/>
        <a:defRPr sz="1200" b="1" kern="0">
          <a:solidFill>
            <a:schemeClr val="tx1"/>
          </a:solidFill>
          <a:latin typeface="+mn-lt"/>
          <a:ea typeface="+mn-ea"/>
          <a:cs typeface="+mn-cs"/>
        </a:defRPr>
      </a:lvl5pPr>
      <a:lvl6pPr marL="0" indent="0" algn="l" defTabSz="914400" rtl="0" eaLnBrk="1" latinLnBrk="0" hangingPunct="1">
        <a:spcBef>
          <a:spcPts val="0"/>
        </a:spcBef>
        <a:spcAft>
          <a:spcPts val="300"/>
        </a:spcAft>
        <a:buFont typeface="Arial" panose="020B0604020202020204" pitchFamily="34" charset="0"/>
        <a:buChar char="​"/>
        <a:defRPr sz="1200" kern="0">
          <a:solidFill>
            <a:schemeClr val="tx1"/>
          </a:solidFill>
          <a:latin typeface="+mn-lt"/>
          <a:ea typeface="+mn-ea"/>
          <a:cs typeface="+mn-cs"/>
        </a:defRPr>
      </a:lvl6pPr>
      <a:lvl7pPr marL="0" indent="0" algn="l" defTabSz="914400" rtl="0" eaLnBrk="1" latinLnBrk="0" hangingPunct="1">
        <a:spcBef>
          <a:spcPts val="0"/>
        </a:spcBef>
        <a:buFont typeface="Arial" panose="020B0604020202020204" pitchFamily="34" charset="0"/>
        <a:buChar char="​"/>
        <a:defRPr sz="2600" kern="0">
          <a:solidFill>
            <a:schemeClr val="tx1"/>
          </a:solidFill>
          <a:latin typeface="+mj-lt"/>
          <a:ea typeface="+mj-ea"/>
          <a:cs typeface="+mj-cs"/>
        </a:defRPr>
      </a:lvl7pPr>
      <a:lvl8pPr marL="0" indent="0" algn="l" defTabSz="914400" rtl="0" eaLnBrk="1" latinLnBrk="0" hangingPunct="1">
        <a:spcBef>
          <a:spcPts val="0"/>
        </a:spcBef>
        <a:buFont typeface="Arial" panose="020B0604020202020204" pitchFamily="34" charset="0"/>
        <a:buChar char="​"/>
        <a:defRPr sz="4000" kern="0">
          <a:solidFill>
            <a:schemeClr val="tx1"/>
          </a:solidFill>
          <a:latin typeface="+mj-lt"/>
          <a:ea typeface="+mj-ea"/>
          <a:cs typeface="+mj-cs"/>
        </a:defRPr>
      </a:lvl8pPr>
      <a:lvl9pPr marL="0" indent="0" algn="l" defTabSz="914400" rtl="0" eaLnBrk="1" latinLnBrk="0" hangingPunct="1">
        <a:spcBef>
          <a:spcPts val="300"/>
        </a:spcBef>
        <a:buFont typeface="Arial" panose="020B0604020202020204" pitchFamily="34" charset="0"/>
        <a:buChar char="​"/>
        <a:defRPr sz="5400" kern="0">
          <a:solidFill>
            <a:schemeClr val="tx1"/>
          </a:solidFill>
          <a:latin typeface="+mj-lt"/>
          <a:ea typeface="+mj-ea"/>
          <a:cs typeface="+mj-cs"/>
        </a:defRPr>
      </a:lvl9pPr>
    </p:bodyStyle>
    <p:otherStyle>
      <a:defPPr/>
      <a:lvl1pPr marL="0" algn="l" defTabSz="914400" rtl="0" eaLnBrk="1" latinLnBrk="0" hangingPunct="1">
        <a:defRPr sz="1200" kern="0">
          <a:solidFill>
            <a:schemeClr val="tx1"/>
          </a:solidFill>
          <a:latin typeface="+mn-lt"/>
          <a:ea typeface="+mn-ea"/>
          <a:cs typeface="+mn-cs"/>
        </a:defRPr>
      </a:lvl1pPr>
      <a:lvl2pPr marL="180000" algn="l" defTabSz="914400" rtl="0" eaLnBrk="1" latinLnBrk="0" hangingPunct="1">
        <a:defRPr sz="1200" kern="0">
          <a:solidFill>
            <a:schemeClr val="tx1"/>
          </a:solidFill>
          <a:latin typeface="+mn-lt"/>
          <a:ea typeface="+mn-ea"/>
          <a:cs typeface="+mn-cs"/>
        </a:defRPr>
      </a:lvl2pPr>
      <a:lvl3pPr marL="360000" algn="l" defTabSz="914400" rtl="0" eaLnBrk="1" latinLnBrk="0" hangingPunct="1">
        <a:defRPr sz="1200" kern="0">
          <a:solidFill>
            <a:schemeClr val="tx1"/>
          </a:solidFill>
          <a:latin typeface="+mn-lt"/>
          <a:ea typeface="+mn-ea"/>
          <a:cs typeface="+mn-cs"/>
        </a:defRPr>
      </a:lvl3pPr>
      <a:lvl4pPr marL="540000" algn="l" defTabSz="914400" rtl="0" eaLnBrk="1" latinLnBrk="0" hangingPunct="1">
        <a:defRPr sz="1200" kern="0">
          <a:solidFill>
            <a:schemeClr val="tx1"/>
          </a:solidFill>
          <a:latin typeface="+mn-lt"/>
          <a:ea typeface="+mn-ea"/>
          <a:cs typeface="+mn-cs"/>
        </a:defRPr>
      </a:lvl4pPr>
      <a:lvl5pPr marL="720000" algn="l" defTabSz="914400" rtl="0" eaLnBrk="1" latinLnBrk="0" hangingPunct="1">
        <a:defRPr sz="1200" kern="0">
          <a:solidFill>
            <a:schemeClr val="tx1"/>
          </a:solidFill>
          <a:latin typeface="+mn-lt"/>
          <a:ea typeface="+mn-ea"/>
          <a:cs typeface="+mn-cs"/>
        </a:defRPr>
      </a:lvl5pPr>
      <a:lvl6pPr marL="900000" algn="l" defTabSz="914400" rtl="0" eaLnBrk="1" latinLnBrk="0" hangingPunct="1">
        <a:defRPr sz="1200" kern="0">
          <a:solidFill>
            <a:schemeClr val="tx1"/>
          </a:solidFill>
          <a:latin typeface="+mn-lt"/>
          <a:ea typeface="+mn-ea"/>
          <a:cs typeface="+mn-cs"/>
        </a:defRPr>
      </a:lvl6pPr>
      <a:lvl7pPr marL="1080000" algn="l" defTabSz="914400" rtl="0" eaLnBrk="1" latinLnBrk="0" hangingPunct="1">
        <a:defRPr sz="1200" kern="0">
          <a:solidFill>
            <a:schemeClr val="tx1"/>
          </a:solidFill>
          <a:latin typeface="+mn-lt"/>
          <a:ea typeface="+mn-ea"/>
          <a:cs typeface="+mn-cs"/>
        </a:defRPr>
      </a:lvl7pPr>
      <a:lvl8pPr marL="1260000" algn="l" defTabSz="914400" rtl="0" eaLnBrk="1" latinLnBrk="0" hangingPunct="1">
        <a:defRPr sz="1200" kern="0">
          <a:solidFill>
            <a:schemeClr val="tx1"/>
          </a:solidFill>
          <a:latin typeface="+mn-lt"/>
          <a:ea typeface="+mn-ea"/>
          <a:cs typeface="+mn-cs"/>
        </a:defRPr>
      </a:lvl8pPr>
      <a:lvl9pPr marL="1440000" algn="l" defTabSz="91440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orient="horz" pos="4032">
          <p15:clr>
            <a:srgbClr val="F26B43"/>
          </p15:clr>
        </p15:guide>
        <p15:guide id="3" pos="288">
          <p15:clr>
            <a:srgbClr val="F26B43"/>
          </p15:clr>
        </p15:guide>
        <p15:guide id="4" pos="73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5470A24-024D-B515-AD37-93E45085613B}"/>
              </a:ext>
            </a:extLst>
          </p:cNvPr>
          <p:cNvGraphicFramePr>
            <a:graphicFrameLocks noChangeAspect="1"/>
          </p:cNvGraphicFramePr>
          <p:nvPr userDrawn="1">
            <p:custDataLst>
              <p:tags r:id="rId30"/>
            </p:custDataLst>
            <p:extLst>
              <p:ext uri="{D42A27DB-BD31-4B8C-83A1-F6EECF244321}">
                <p14:modId xmlns:p14="http://schemas.microsoft.com/office/powerpoint/2010/main" val="22649714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 imgW="425" imgH="425" progId="TCLayout.ActiveDocument.1">
                  <p:embed/>
                </p:oleObj>
              </mc:Choice>
              <mc:Fallback>
                <p:oleObj name="think-cell Slide" r:id="rId31" imgW="425" imgH="425" progId="TCLayout.ActiveDocument.1">
                  <p:embed/>
                  <p:pic>
                    <p:nvPicPr>
                      <p:cNvPr id="10" name="think-cell data - do not delete" hidden="1">
                        <a:extLst>
                          <a:ext uri="{FF2B5EF4-FFF2-40B4-BE49-F238E27FC236}">
                            <a16:creationId xmlns:a16="http://schemas.microsoft.com/office/drawing/2014/main" id="{45470A24-024D-B515-AD37-93E45085613B}"/>
                          </a:ext>
                        </a:extLst>
                      </p:cNvPr>
                      <p:cNvPicPr/>
                      <p:nvPr/>
                    </p:nvPicPr>
                    <p:blipFill>
                      <a:blip r:embed="rId32"/>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58952"/>
          </a:xfrm>
          <a:prstGeom prst="rect">
            <a:avLst/>
          </a:prstGeom>
        </p:spPr>
        <p:txBody>
          <a:bodyPr vert="horz" lIns="0" tIns="0" rIns="0" bIns="0" rtlCol="0" anchorCtr="0">
            <a:noAutofit/>
          </a:bodyPr>
          <a:lstStyle/>
          <a:p>
            <a:r>
              <a:rPr lang="en-GB"/>
              <a:t>Click to edit Master title style</a:t>
            </a:r>
          </a:p>
        </p:txBody>
      </p:sp>
      <p:sp>
        <p:nvSpPr>
          <p:cNvPr id="3" name="BodyText"/>
          <p:cNvSpPr>
            <a:spLocks noGrp="1"/>
          </p:cNvSpPr>
          <p:nvPr>
            <p:ph type="body" idx="1"/>
          </p:nvPr>
        </p:nvSpPr>
        <p:spPr>
          <a:xfrm>
            <a:off x="457200" y="1399032"/>
            <a:ext cx="11277600" cy="500176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hidden="1"/>
          <p:cNvSpPr>
            <a:spLocks noGrp="1"/>
          </p:cNvSpPr>
          <p:nvPr>
            <p:ph type="dt" sz="half" idx="2"/>
          </p:nvPr>
        </p:nvSpPr>
        <p:spPr>
          <a:xfrm>
            <a:off x="580573" y="6864350"/>
            <a:ext cx="399143" cy="98425"/>
          </a:xfrm>
          <a:prstGeom prst="rect">
            <a:avLst/>
          </a:prstGeom>
        </p:spPr>
        <p:txBody>
          <a:bodyPr vert="horz" lIns="0" tIns="0" rIns="0" bIns="0" rtlCol="0" anchor="ctr"/>
          <a:lstStyle>
            <a:lvl1pPr algn="l">
              <a:defRPr sz="300">
                <a:solidFill>
                  <a:schemeClr val="tx1"/>
                </a:solidFill>
              </a:defRPr>
            </a:lvl1pPr>
          </a:lstStyle>
          <a:p>
            <a:fld id="{7ECE2914-4E17-487A-A4E5-C87617449E51}" type="datetimeFigureOut">
              <a:rPr lang="en-GB" smtClean="0"/>
              <a:pPr/>
              <a:t>22/05/2026</a:t>
            </a:fld>
            <a:endParaRPr lang="en-GB"/>
          </a:p>
        </p:txBody>
      </p:sp>
      <p:sp>
        <p:nvSpPr>
          <p:cNvPr id="5" name="Footer Placeholder" hidden="1"/>
          <p:cNvSpPr>
            <a:spLocks noGrp="1"/>
          </p:cNvSpPr>
          <p:nvPr>
            <p:ph type="ftr" sz="quarter" idx="3"/>
          </p:nvPr>
        </p:nvSpPr>
        <p:spPr>
          <a:xfrm>
            <a:off x="979714" y="6864350"/>
            <a:ext cx="677333" cy="98425"/>
          </a:xfrm>
          <a:prstGeom prst="rect">
            <a:avLst/>
          </a:prstGeom>
        </p:spPr>
        <p:txBody>
          <a:bodyPr vert="horz" lIns="0" tIns="0" rIns="0" bIns="0" rtlCol="0" anchor="ctr"/>
          <a:lstStyle>
            <a:lvl1pPr algn="ctr">
              <a:defRPr sz="300">
                <a:solidFill>
                  <a:schemeClr val="tx1"/>
                </a:solidFill>
              </a:defRPr>
            </a:lvl1pPr>
          </a:lstStyle>
          <a:p>
            <a:endParaRPr lang="en-GB"/>
          </a:p>
        </p:txBody>
      </p:sp>
      <p:sp>
        <p:nvSpPr>
          <p:cNvPr id="6" name="Slide Number Placeholder" hidden="1"/>
          <p:cNvSpPr>
            <a:spLocks noGrp="1"/>
          </p:cNvSpPr>
          <p:nvPr>
            <p:ph type="sldNum" sz="quarter" idx="4"/>
          </p:nvPr>
        </p:nvSpPr>
        <p:spPr>
          <a:xfrm>
            <a:off x="1657048" y="6864350"/>
            <a:ext cx="193524" cy="98425"/>
          </a:xfrm>
          <a:prstGeom prst="rect">
            <a:avLst/>
          </a:prstGeom>
        </p:spPr>
        <p:txBody>
          <a:bodyPr vert="horz" lIns="0" tIns="0" rIns="0" bIns="0" rtlCol="0" anchor="ctr"/>
          <a:lstStyle>
            <a:lvl1pPr algn="r">
              <a:defRPr sz="300">
                <a:solidFill>
                  <a:schemeClr val="tx1"/>
                </a:solidFill>
              </a:defRPr>
            </a:lvl1pPr>
          </a:lstStyle>
          <a:p>
            <a:fld id="{8F63CC74-D785-4C96-8C6E-EB177D1B9A1D}" type="slidenum">
              <a:rPr lang="en-GB" smtClean="0"/>
              <a:pPr/>
              <a:t>‹#›</a:t>
            </a:fld>
            <a:endParaRPr lang="en-GB"/>
          </a:p>
        </p:txBody>
      </p:sp>
      <p:sp>
        <p:nvSpPr>
          <p:cNvPr id="7" name="SlideNumber"/>
          <p:cNvSpPr txBox="1"/>
          <p:nvPr userDrawn="1"/>
        </p:nvSpPr>
        <p:spPr>
          <a:xfrm>
            <a:off x="11584118" y="6552456"/>
            <a:ext cx="150682" cy="153888"/>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lang="en-GB" sz="10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lang="en-GB" sz="1000">
              <a:solidFill>
                <a:schemeClr val="tx1"/>
              </a:solidFill>
            </a:endParaRPr>
          </a:p>
        </p:txBody>
      </p:sp>
      <p:sp>
        <p:nvSpPr>
          <p:cNvPr id="8" name="DTP_Copyright"/>
          <p:cNvSpPr txBox="1"/>
          <p:nvPr userDrawn="1"/>
        </p:nvSpPr>
        <p:spPr>
          <a:xfrm>
            <a:off x="457200" y="6567848"/>
            <a:ext cx="702115" cy="123111"/>
          </a:xfrm>
          <a:prstGeom prst="rect">
            <a:avLst/>
          </a:prstGeom>
          <a:noFill/>
        </p:spPr>
        <p:txBody>
          <a:bodyPr wrap="none" lIns="0" tIns="0" rIns="0" bIns="0" rtlCol="0" anchor="ctr" anchorCtr="0">
            <a:spAutoFit/>
          </a:bodyPr>
          <a:lstStyle/>
          <a:p>
            <a:pPr marL="0" indent="0" algn="l" defTabSz="914370" rtl="0" eaLnBrk="1" latinLnBrk="0" hangingPunct="1">
              <a:lnSpc>
                <a:spcPct val="100000"/>
              </a:lnSpc>
              <a:spcBef>
                <a:spcPct val="0"/>
              </a:spcBef>
              <a:spcAft>
                <a:spcPct val="0"/>
              </a:spcAft>
              <a:buFontTx/>
              <a:buNone/>
            </a:pPr>
            <a:r>
              <a:rPr lang="en-GB" sz="800" b="0" i="0" u="none" baseline="0">
                <a:solidFill>
                  <a:schemeClr val="tx1"/>
                </a:solidFill>
                <a:latin typeface="+mn-lt"/>
                <a:ea typeface="+mn-ea"/>
                <a:cs typeface="+mn-cs"/>
              </a:rPr>
              <a:t>© Oliver Wyman</a:t>
            </a:r>
          </a:p>
        </p:txBody>
      </p:sp>
    </p:spTree>
    <p:extLst>
      <p:ext uri="{BB962C8B-B14F-4D97-AF65-F5344CB8AC3E}">
        <p14:creationId xmlns:p14="http://schemas.microsoft.com/office/powerpoint/2010/main" val="2103614862"/>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 id="2147483755" r:id="rId28"/>
  </p:sldLayoutIdLst>
  <p:txStyles>
    <p:titleStyle>
      <a:lvl1pPr algn="l" defTabSz="914370" rtl="0" eaLnBrk="1" latinLnBrk="0" hangingPunct="1">
        <a:lnSpc>
          <a:spcPct val="90000"/>
        </a:lnSpc>
        <a:spcBef>
          <a:spcPct val="0"/>
        </a:spcBef>
        <a:buNone/>
        <a:defRPr sz="2600" b="1" kern="0" cap="all" baseline="0">
          <a:solidFill>
            <a:schemeClr val="tx1"/>
          </a:solidFill>
          <a:latin typeface="+mj-lt"/>
          <a:ea typeface="+mj-ea"/>
          <a:cs typeface="+mj-cs"/>
        </a:defRPr>
      </a:lvl1pPr>
    </p:titleStyle>
    <p:body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p:bodyStyle>
    <p:otherStyle>
      <a:defPPr/>
      <a:lvl1pPr marL="0" algn="l" defTabSz="914370" rtl="0" eaLnBrk="1" latinLnBrk="0" hangingPunct="1">
        <a:defRPr sz="1200" kern="0">
          <a:solidFill>
            <a:schemeClr val="tx1"/>
          </a:solidFill>
          <a:latin typeface="+mn-lt"/>
          <a:ea typeface="+mn-ea"/>
          <a:cs typeface="+mn-cs"/>
        </a:defRPr>
      </a:lvl1pPr>
      <a:lvl2pPr marL="179994" algn="l" defTabSz="914370" rtl="0" eaLnBrk="1" latinLnBrk="0" hangingPunct="1">
        <a:defRPr sz="1200" kern="0">
          <a:solidFill>
            <a:schemeClr val="tx1"/>
          </a:solidFill>
          <a:latin typeface="+mn-lt"/>
          <a:ea typeface="+mn-ea"/>
          <a:cs typeface="+mn-cs"/>
        </a:defRPr>
      </a:lvl2pPr>
      <a:lvl3pPr marL="359988" algn="l" defTabSz="914370" rtl="0" eaLnBrk="1" latinLnBrk="0" hangingPunct="1">
        <a:defRPr sz="1200" kern="0">
          <a:solidFill>
            <a:schemeClr val="tx1"/>
          </a:solidFill>
          <a:latin typeface="+mn-lt"/>
          <a:ea typeface="+mn-ea"/>
          <a:cs typeface="+mn-cs"/>
        </a:defRPr>
      </a:lvl3pPr>
      <a:lvl4pPr marL="539982" algn="l" defTabSz="914370" rtl="0" eaLnBrk="1" latinLnBrk="0" hangingPunct="1">
        <a:defRPr sz="1200" kern="0">
          <a:solidFill>
            <a:schemeClr val="tx1"/>
          </a:solidFill>
          <a:latin typeface="+mn-lt"/>
          <a:ea typeface="+mn-ea"/>
          <a:cs typeface="+mn-cs"/>
        </a:defRPr>
      </a:lvl4pPr>
      <a:lvl5pPr marL="719977" algn="l" defTabSz="914370" rtl="0" eaLnBrk="1" latinLnBrk="0" hangingPunct="1">
        <a:defRPr sz="1200" kern="0">
          <a:solidFill>
            <a:schemeClr val="tx1"/>
          </a:solidFill>
          <a:latin typeface="+mn-lt"/>
          <a:ea typeface="+mn-ea"/>
          <a:cs typeface="+mn-cs"/>
        </a:defRPr>
      </a:lvl5pPr>
      <a:lvl6pPr marL="899971" algn="l" defTabSz="914370" rtl="0" eaLnBrk="1" latinLnBrk="0" hangingPunct="1">
        <a:defRPr sz="1200" kern="0">
          <a:solidFill>
            <a:schemeClr val="tx1"/>
          </a:solidFill>
          <a:latin typeface="+mn-lt"/>
          <a:ea typeface="+mn-ea"/>
          <a:cs typeface="+mn-cs"/>
        </a:defRPr>
      </a:lvl6pPr>
      <a:lvl7pPr marL="1079965" algn="l" defTabSz="914370" rtl="0" eaLnBrk="1" latinLnBrk="0" hangingPunct="1">
        <a:defRPr sz="1200" kern="0">
          <a:solidFill>
            <a:schemeClr val="tx1"/>
          </a:solidFill>
          <a:latin typeface="+mn-lt"/>
          <a:ea typeface="+mn-ea"/>
          <a:cs typeface="+mn-cs"/>
        </a:defRPr>
      </a:lvl7pPr>
      <a:lvl8pPr marL="1259959" algn="l" defTabSz="914370" rtl="0" eaLnBrk="1" latinLnBrk="0" hangingPunct="1">
        <a:defRPr sz="1200" kern="0">
          <a:solidFill>
            <a:schemeClr val="tx1"/>
          </a:solidFill>
          <a:latin typeface="+mn-lt"/>
          <a:ea typeface="+mn-ea"/>
          <a:cs typeface="+mn-cs"/>
        </a:defRPr>
      </a:lvl8pPr>
      <a:lvl9pPr marL="1439953" algn="l" defTabSz="91437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3" pos="288">
          <p15:clr>
            <a:srgbClr val="F26B43"/>
          </p15:clr>
        </p15:guide>
        <p15:guide id="4" pos="7392">
          <p15:clr>
            <a:srgbClr val="F26B43"/>
          </p15:clr>
        </p15:guide>
        <p15:guide id="6" orient="horz" pos="403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xml"/><Relationship Id="rId7" Type="http://schemas.openxmlformats.org/officeDocument/2006/relationships/image" Target="../media/image8.png"/><Relationship Id="rId2" Type="http://schemas.openxmlformats.org/officeDocument/2006/relationships/slideLayout" Target="../slideLayouts/slideLayout3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5.xml"/><Relationship Id="rId5" Type="http://schemas.openxmlformats.org/officeDocument/2006/relationships/image" Target="../media/image11.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0.xml"/><Relationship Id="rId1" Type="http://schemas.openxmlformats.org/officeDocument/2006/relationships/tags" Target="../tags/tag6.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5.xml"/><Relationship Id="rId1" Type="http://schemas.openxmlformats.org/officeDocument/2006/relationships/tags" Target="../tags/tag7.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6.xml"/><Relationship Id="rId1" Type="http://schemas.openxmlformats.org/officeDocument/2006/relationships/tags" Target="../tags/tag8.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7.xml"/><Relationship Id="rId1" Type="http://schemas.openxmlformats.org/officeDocument/2006/relationships/tags" Target="../tags/tag9.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8.xml"/><Relationship Id="rId1" Type="http://schemas.openxmlformats.org/officeDocument/2006/relationships/tags" Target="../tags/tag10.xml"/><Relationship Id="rId5" Type="http://schemas.openxmlformats.org/officeDocument/2006/relationships/image" Target="../media/image12.emf"/><Relationship Id="rId4"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9.xml"/><Relationship Id="rId1" Type="http://schemas.openxmlformats.org/officeDocument/2006/relationships/tags" Target="../tags/tag11.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1.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1.xml"/><Relationship Id="rId1" Type="http://schemas.openxmlformats.org/officeDocument/2006/relationships/tags" Target="../tags/tag13.xml"/><Relationship Id="rId5" Type="http://schemas.openxmlformats.org/officeDocument/2006/relationships/image" Target="../media/image13.png"/><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1.xml"/><Relationship Id="rId1" Type="http://schemas.openxmlformats.org/officeDocument/2006/relationships/tags" Target="../tags/tag16.xml"/><Relationship Id="rId5" Type="http://schemas.openxmlformats.org/officeDocument/2006/relationships/image" Target="../media/image13.png"/><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A136-337B-0893-39D4-D84A51BE2E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5BEAF4B-B4C4-D792-F233-6A7A6A0CC75C}"/>
              </a:ext>
            </a:extLst>
          </p:cNvPr>
          <p:cNvSpPr>
            <a:spLocks noGrp="1"/>
          </p:cNvSpPr>
          <p:nvPr>
            <p:ph type="body" sz="quarter" idx="12"/>
          </p:nvPr>
        </p:nvSpPr>
        <p:spPr>
          <a:xfrm>
            <a:off x="457200" y="3567500"/>
            <a:ext cx="8348472" cy="1015663"/>
          </a:xfrm>
        </p:spPr>
        <p:txBody>
          <a:bodyPr/>
          <a:lstStyle/>
          <a:p>
            <a:r>
              <a:rPr lang="en-GB" sz="6600" dirty="0"/>
              <a:t>Project overview</a:t>
            </a:r>
            <a:endParaRPr lang="en-GB" sz="6600" dirty="0">
              <a:solidFill>
                <a:srgbClr val="FF8C00"/>
              </a:solidFill>
            </a:endParaRPr>
          </a:p>
        </p:txBody>
      </p:sp>
    </p:spTree>
    <p:extLst>
      <p:ext uri="{BB962C8B-B14F-4D97-AF65-F5344CB8AC3E}">
        <p14:creationId xmlns:p14="http://schemas.microsoft.com/office/powerpoint/2010/main" val="3947470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72212E-8766-C819-0EC0-928ECD771F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8" name="think-cell data - do not delete" hidden="1">
                        <a:extLst>
                          <a:ext uri="{FF2B5EF4-FFF2-40B4-BE49-F238E27FC236}">
                            <a16:creationId xmlns:a16="http://schemas.microsoft.com/office/drawing/2014/main" id="{FA72212E-8766-C819-0EC0-928ECD771F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064FCBB-1BA0-D9A8-1AE0-5C181D6623FF}"/>
              </a:ext>
            </a:extLst>
          </p:cNvPr>
          <p:cNvSpPr>
            <a:spLocks noGrp="1"/>
          </p:cNvSpPr>
          <p:nvPr>
            <p:ph type="title"/>
          </p:nvPr>
        </p:nvSpPr>
        <p:spPr/>
        <p:txBody>
          <a:bodyPr vert="horz"/>
          <a:lstStyle/>
          <a:p>
            <a:r>
              <a:rPr lang="en-GB" sz="2800"/>
              <a:t>Overall vision &amp; objectives</a:t>
            </a:r>
            <a:br>
              <a:rPr lang="en-GB">
                <a:solidFill>
                  <a:schemeClr val="accent2"/>
                </a:solidFill>
              </a:rPr>
            </a:br>
            <a:r>
              <a:rPr lang="en-GB" sz="1600" b="0" cap="none">
                <a:latin typeface="+mn-lt"/>
              </a:rPr>
              <a:t>Custom, easy-to-use pricing tool supports a structured quoting process</a:t>
            </a:r>
          </a:p>
        </p:txBody>
      </p:sp>
      <p:sp>
        <p:nvSpPr>
          <p:cNvPr id="3" name="Text Placeholder 2">
            <a:extLst>
              <a:ext uri="{FF2B5EF4-FFF2-40B4-BE49-F238E27FC236}">
                <a16:creationId xmlns:a16="http://schemas.microsoft.com/office/drawing/2014/main" id="{FEBC8498-CDDB-15E1-0117-0D67A68FB3F0}"/>
              </a:ext>
            </a:extLst>
          </p:cNvPr>
          <p:cNvSpPr>
            <a:spLocks noGrp="1"/>
          </p:cNvSpPr>
          <p:nvPr>
            <p:ph type="body" idx="10"/>
          </p:nvPr>
        </p:nvSpPr>
        <p:spPr>
          <a:xfrm>
            <a:off x="457200" y="1399032"/>
            <a:ext cx="3454400" cy="429768"/>
          </a:xfrm>
        </p:spPr>
        <p:txBody>
          <a:bodyPr/>
          <a:lstStyle/>
          <a:p>
            <a:r>
              <a:rPr lang="en-GB"/>
              <a:t>Requirements for a pricing tool at DuBois </a:t>
            </a:r>
            <a:endParaRPr lang="en-GB" i="1"/>
          </a:p>
          <a:p>
            <a:r>
              <a:rPr lang="en-GB" b="0" i="1"/>
              <a:t>Based on input from commercial team</a:t>
            </a:r>
          </a:p>
        </p:txBody>
      </p:sp>
      <p:sp>
        <p:nvSpPr>
          <p:cNvPr id="4" name="Content Placeholder 3">
            <a:extLst>
              <a:ext uri="{FF2B5EF4-FFF2-40B4-BE49-F238E27FC236}">
                <a16:creationId xmlns:a16="http://schemas.microsoft.com/office/drawing/2014/main" id="{B7BFFD24-9AC2-5F11-84A9-5E5B5BE1B4C9}"/>
              </a:ext>
            </a:extLst>
          </p:cNvPr>
          <p:cNvSpPr>
            <a:spLocks noGrp="1"/>
          </p:cNvSpPr>
          <p:nvPr>
            <p:ph sz="half" idx="11"/>
          </p:nvPr>
        </p:nvSpPr>
        <p:spPr>
          <a:xfrm>
            <a:off x="476249" y="1978914"/>
            <a:ext cx="3633245" cy="4517136"/>
          </a:xfrm>
        </p:spPr>
        <p:txBody>
          <a:bodyPr/>
          <a:lstStyle/>
          <a:p>
            <a:pPr marL="282575" indent="-282575">
              <a:spcAft>
                <a:spcPts val="400"/>
              </a:spcAft>
              <a:buFont typeface="Wingdings" panose="05000000000000000000" pitchFamily="2" charset="2"/>
              <a:buChar char="ü"/>
            </a:pPr>
            <a:r>
              <a:rPr lang="en-GB" sz="1600"/>
              <a:t>Easy for user to navigate, input requirements, and create a quote</a:t>
            </a:r>
          </a:p>
          <a:p>
            <a:pPr marL="282575" indent="-282575">
              <a:spcAft>
                <a:spcPts val="400"/>
              </a:spcAft>
              <a:buFont typeface="Wingdings" panose="05000000000000000000" pitchFamily="2" charset="2"/>
              <a:buChar char="ü"/>
            </a:pPr>
            <a:r>
              <a:rPr lang="en-GB" sz="1600"/>
              <a:t>Anchors rep. on book and target pricing vs. material margins </a:t>
            </a:r>
          </a:p>
          <a:p>
            <a:pPr marL="282575" indent="-282575">
              <a:spcAft>
                <a:spcPts val="400"/>
              </a:spcAft>
              <a:buFont typeface="Wingdings" panose="05000000000000000000" pitchFamily="2" charset="2"/>
              <a:buChar char="ü"/>
            </a:pPr>
            <a:r>
              <a:rPr lang="en-GB" sz="1600"/>
              <a:t>Outlines expected commissions</a:t>
            </a:r>
          </a:p>
          <a:p>
            <a:pPr marL="282575" indent="-282575">
              <a:spcAft>
                <a:spcPts val="400"/>
              </a:spcAft>
              <a:buFont typeface="Wingdings" panose="05000000000000000000" pitchFamily="2" charset="2"/>
              <a:buChar char="ü"/>
            </a:pPr>
            <a:r>
              <a:rPr lang="en-GB" sz="1600"/>
              <a:t>Enables guardrails to control variability</a:t>
            </a:r>
          </a:p>
          <a:p>
            <a:pPr marL="282575" indent="-282575">
              <a:spcAft>
                <a:spcPts val="400"/>
              </a:spcAft>
              <a:buFont typeface="Wingdings" panose="05000000000000000000" pitchFamily="2" charset="2"/>
              <a:buChar char="ü"/>
            </a:pPr>
            <a:r>
              <a:rPr lang="en-GB" sz="1600"/>
              <a:t>Provides deal scoring</a:t>
            </a:r>
          </a:p>
          <a:p>
            <a:pPr marL="282575" indent="-282575">
              <a:spcAft>
                <a:spcPts val="400"/>
              </a:spcAft>
              <a:buFont typeface="Wingdings" panose="05000000000000000000" pitchFamily="2" charset="2"/>
              <a:buChar char="ü"/>
            </a:pPr>
            <a:r>
              <a:rPr lang="en-GB" sz="1600"/>
              <a:t>Tracks and provides data analytics on quote performances</a:t>
            </a:r>
          </a:p>
          <a:p>
            <a:pPr marL="282575" indent="-282575">
              <a:spcAft>
                <a:spcPts val="400"/>
              </a:spcAft>
              <a:buFont typeface="Wingdings" panose="05000000000000000000" pitchFamily="2" charset="2"/>
              <a:buChar char="ü"/>
            </a:pPr>
            <a:r>
              <a:rPr lang="en-GB" sz="1600"/>
              <a:t>Available on both mobile and PC (as screen in dynamics)</a:t>
            </a:r>
          </a:p>
          <a:p>
            <a:pPr marL="282575" indent="-282575">
              <a:spcAft>
                <a:spcPts val="400"/>
              </a:spcAft>
              <a:buFont typeface="Wingdings" panose="05000000000000000000" pitchFamily="2" charset="2"/>
              <a:buChar char="ü"/>
            </a:pPr>
            <a:r>
              <a:rPr lang="en-GB" sz="1600"/>
              <a:t>Integrates well with current data and systems environment</a:t>
            </a:r>
            <a:endParaRPr lang="en-GB" sz="1200"/>
          </a:p>
        </p:txBody>
      </p:sp>
      <p:sp>
        <p:nvSpPr>
          <p:cNvPr id="5" name="Text Placeholder 4">
            <a:extLst>
              <a:ext uri="{FF2B5EF4-FFF2-40B4-BE49-F238E27FC236}">
                <a16:creationId xmlns:a16="http://schemas.microsoft.com/office/drawing/2014/main" id="{E1AE0142-23FA-5301-3A91-A28147DA5030}"/>
              </a:ext>
            </a:extLst>
          </p:cNvPr>
          <p:cNvSpPr>
            <a:spLocks noGrp="1"/>
          </p:cNvSpPr>
          <p:nvPr>
            <p:ph type="body" sz="quarter" idx="13"/>
          </p:nvPr>
        </p:nvSpPr>
        <p:spPr/>
        <p:txBody>
          <a:bodyPr/>
          <a:lstStyle/>
          <a:p>
            <a:r>
              <a:rPr lang="en-GB"/>
              <a:t>Illustrative pricing tool for DuBois</a:t>
            </a:r>
          </a:p>
          <a:p>
            <a:r>
              <a:rPr lang="en-GB" b="0" i="1"/>
              <a:t>Based on Oliver Wyman PriceAdvisor for chemical industry clients </a:t>
            </a:r>
          </a:p>
        </p:txBody>
      </p:sp>
      <p:pic>
        <p:nvPicPr>
          <p:cNvPr id="9" name="Picture 8">
            <a:extLst>
              <a:ext uri="{FF2B5EF4-FFF2-40B4-BE49-F238E27FC236}">
                <a16:creationId xmlns:a16="http://schemas.microsoft.com/office/drawing/2014/main" id="{4EB446ED-673E-53BC-49D5-A74BD594F5C3}"/>
              </a:ext>
            </a:extLst>
          </p:cNvPr>
          <p:cNvPicPr>
            <a:picLocks noChangeAspect="1"/>
          </p:cNvPicPr>
          <p:nvPr/>
        </p:nvPicPr>
        <p:blipFill>
          <a:blip r:embed="rId6"/>
          <a:stretch>
            <a:fillRect/>
          </a:stretch>
        </p:blipFill>
        <p:spPr>
          <a:xfrm>
            <a:off x="10076182" y="1954962"/>
            <a:ext cx="1586727" cy="1144933"/>
          </a:xfrm>
          <a:prstGeom prst="roundRect">
            <a:avLst>
              <a:gd name="adj" fmla="val 5091"/>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5" name="Picture 24">
            <a:extLst>
              <a:ext uri="{FF2B5EF4-FFF2-40B4-BE49-F238E27FC236}">
                <a16:creationId xmlns:a16="http://schemas.microsoft.com/office/drawing/2014/main" id="{77668FD3-BF84-3277-E53D-A2FA620A01E4}"/>
              </a:ext>
            </a:extLst>
          </p:cNvPr>
          <p:cNvPicPr>
            <a:picLocks noChangeAspect="1"/>
          </p:cNvPicPr>
          <p:nvPr/>
        </p:nvPicPr>
        <p:blipFill>
          <a:blip r:embed="rId7"/>
          <a:stretch>
            <a:fillRect/>
          </a:stretch>
        </p:blipFill>
        <p:spPr>
          <a:xfrm>
            <a:off x="4211767" y="1991392"/>
            <a:ext cx="3465324" cy="2217004"/>
          </a:xfrm>
          <a:prstGeom prst="rect">
            <a:avLst/>
          </a:prstGeom>
          <a:ln>
            <a:solidFill>
              <a:schemeClr val="tx1">
                <a:lumMod val="95000"/>
                <a:lumOff val="5000"/>
              </a:schemeClr>
            </a:solidFill>
          </a:ln>
        </p:spPr>
      </p:pic>
      <p:pic>
        <p:nvPicPr>
          <p:cNvPr id="10" name="Picture 9">
            <a:extLst>
              <a:ext uri="{FF2B5EF4-FFF2-40B4-BE49-F238E27FC236}">
                <a16:creationId xmlns:a16="http://schemas.microsoft.com/office/drawing/2014/main" id="{0AD27E99-2580-DCFB-840E-CF39D8AECF13}"/>
              </a:ext>
            </a:extLst>
          </p:cNvPr>
          <p:cNvPicPr>
            <a:picLocks noChangeAspect="1"/>
          </p:cNvPicPr>
          <p:nvPr/>
        </p:nvPicPr>
        <p:blipFill rotWithShape="1">
          <a:blip r:embed="rId8"/>
          <a:srcRect r="1141" b="6416"/>
          <a:stretch/>
        </p:blipFill>
        <p:spPr>
          <a:xfrm>
            <a:off x="6366573" y="2777237"/>
            <a:ext cx="3331182" cy="2221992"/>
          </a:xfrm>
          <a:prstGeom prst="rect">
            <a:avLst/>
          </a:prstGeom>
          <a:ln>
            <a:solidFill>
              <a:schemeClr val="tx1"/>
            </a:solidFill>
          </a:ln>
          <a:effectLst>
            <a:outerShdw blurRad="50800" dist="38100" dir="2700000" algn="tl" rotWithShape="0">
              <a:prstClr val="black">
                <a:alpha val="40000"/>
              </a:prstClr>
            </a:outerShdw>
          </a:effectLst>
        </p:spPr>
      </p:pic>
      <p:pic>
        <p:nvPicPr>
          <p:cNvPr id="23" name="Picture 22">
            <a:extLst>
              <a:ext uri="{FF2B5EF4-FFF2-40B4-BE49-F238E27FC236}">
                <a16:creationId xmlns:a16="http://schemas.microsoft.com/office/drawing/2014/main" id="{91B2848C-543E-B790-4349-0EB33B93C714}"/>
              </a:ext>
            </a:extLst>
          </p:cNvPr>
          <p:cNvPicPr>
            <a:picLocks noChangeAspect="1"/>
          </p:cNvPicPr>
          <p:nvPr/>
        </p:nvPicPr>
        <p:blipFill rotWithShape="1">
          <a:blip r:embed="rId9"/>
          <a:srcRect l="317" r="458" b="606"/>
          <a:stretch/>
        </p:blipFill>
        <p:spPr>
          <a:xfrm>
            <a:off x="8387237" y="3719372"/>
            <a:ext cx="3335589" cy="2221992"/>
          </a:xfrm>
          <a:prstGeom prst="rect">
            <a:avLst/>
          </a:prstGeom>
          <a:ln>
            <a:solidFill>
              <a:schemeClr val="tx1">
                <a:lumMod val="95000"/>
                <a:lumOff val="5000"/>
              </a:schemeClr>
            </a:solidFill>
          </a:ln>
        </p:spPr>
      </p:pic>
      <p:sp>
        <p:nvSpPr>
          <p:cNvPr id="27" name="Content Placeholder 15">
            <a:extLst>
              <a:ext uri="{FF2B5EF4-FFF2-40B4-BE49-F238E27FC236}">
                <a16:creationId xmlns:a16="http://schemas.microsoft.com/office/drawing/2014/main" id="{B120BFCD-1C95-3FFC-BA84-CA4C264388B4}"/>
              </a:ext>
            </a:extLst>
          </p:cNvPr>
          <p:cNvSpPr txBox="1">
            <a:spLocks/>
          </p:cNvSpPr>
          <p:nvPr/>
        </p:nvSpPr>
        <p:spPr>
          <a:xfrm>
            <a:off x="7378409" y="2074542"/>
            <a:ext cx="2298328" cy="461665"/>
          </a:xfrm>
          <a:prstGeom prst="wedgeRectCallout">
            <a:avLst>
              <a:gd name="adj1" fmla="val -70789"/>
              <a:gd name="adj2" fmla="val -13381"/>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0" i="0" u="none" strike="noStrike" kern="0" cap="none" spc="0" normalizeH="0" baseline="0" noProof="0">
                <a:ln>
                  <a:noFill/>
                </a:ln>
                <a:solidFill>
                  <a:srgbClr val="000000"/>
                </a:solidFill>
                <a:effectLst/>
                <a:uLnTx/>
                <a:uFillTx/>
                <a:latin typeface="Calibri"/>
                <a:ea typeface="+mn-ea"/>
                <a:cs typeface="+mn-cs"/>
              </a:rPr>
              <a:t>Shows </a:t>
            </a:r>
            <a:r>
              <a:rPr kumimoji="0" lang="en-GB" sz="1200" b="1" i="0" u="none" strike="noStrike" kern="0" cap="none" spc="0" normalizeH="0" baseline="0" noProof="0">
                <a:ln>
                  <a:noFill/>
                </a:ln>
                <a:solidFill>
                  <a:srgbClr val="000000"/>
                </a:solidFill>
                <a:effectLst/>
                <a:uLnTx/>
                <a:uFillTx/>
                <a:latin typeface="Calibri"/>
                <a:ea typeface="+mn-ea"/>
                <a:cs typeface="+mn-cs"/>
              </a:rPr>
              <a:t>the customers situation and price performance </a:t>
            </a:r>
            <a:endParaRPr kumimoji="0" lang="en-GB" sz="1200" b="0" i="0" u="none" strike="noStrike" kern="0" cap="none" spc="0" normalizeH="0" baseline="0" noProof="0">
              <a:ln>
                <a:noFill/>
              </a:ln>
              <a:solidFill>
                <a:srgbClr val="000000"/>
              </a:solidFill>
              <a:effectLst/>
              <a:uLnTx/>
              <a:uFillTx/>
              <a:latin typeface="Calibri"/>
              <a:ea typeface="+mn-ea"/>
              <a:cs typeface="+mn-cs"/>
            </a:endParaRPr>
          </a:p>
        </p:txBody>
      </p:sp>
      <p:sp>
        <p:nvSpPr>
          <p:cNvPr id="22" name="Content Placeholder 15">
            <a:extLst>
              <a:ext uri="{FF2B5EF4-FFF2-40B4-BE49-F238E27FC236}">
                <a16:creationId xmlns:a16="http://schemas.microsoft.com/office/drawing/2014/main" id="{FDE6DB0C-112E-77D3-B42E-C6D5499351A8}"/>
              </a:ext>
            </a:extLst>
          </p:cNvPr>
          <p:cNvSpPr txBox="1">
            <a:spLocks/>
          </p:cNvSpPr>
          <p:nvPr/>
        </p:nvSpPr>
        <p:spPr>
          <a:xfrm>
            <a:off x="4489890" y="4696953"/>
            <a:ext cx="2079083" cy="646331"/>
          </a:xfrm>
          <a:prstGeom prst="wedgeRectCallout">
            <a:avLst>
              <a:gd name="adj1" fmla="val 41674"/>
              <a:gd name="adj2" fmla="val -79514"/>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0" i="0" u="none" strike="noStrike" kern="0" cap="none" spc="0" normalizeH="0" baseline="0" noProof="0">
                <a:ln>
                  <a:noFill/>
                </a:ln>
                <a:solidFill>
                  <a:srgbClr val="000000"/>
                </a:solidFill>
                <a:effectLst/>
                <a:uLnTx/>
                <a:uFillTx/>
                <a:latin typeface="Calibri"/>
                <a:ea typeface="+mn-ea"/>
                <a:cs typeface="+mn-cs"/>
              </a:rPr>
              <a:t>Provides </a:t>
            </a:r>
            <a:r>
              <a:rPr kumimoji="0" lang="en-GB" sz="1200" b="1" i="0" u="none" strike="noStrike" kern="0" cap="none" spc="0" normalizeH="0" baseline="0" noProof="0">
                <a:ln>
                  <a:noFill/>
                </a:ln>
                <a:solidFill>
                  <a:srgbClr val="000000"/>
                </a:solidFill>
                <a:effectLst/>
                <a:uLnTx/>
                <a:uFillTx/>
                <a:latin typeface="Calibri"/>
                <a:ea typeface="+mn-ea"/>
                <a:cs typeface="+mn-cs"/>
              </a:rPr>
              <a:t>deal-specific guidance </a:t>
            </a:r>
            <a:r>
              <a:rPr kumimoji="0" lang="en-GB" sz="1200" b="0" i="0" u="none" strike="noStrike" kern="0" cap="none" spc="0" normalizeH="0" baseline="0" noProof="0">
                <a:ln>
                  <a:noFill/>
                </a:ln>
                <a:solidFill>
                  <a:srgbClr val="000000"/>
                </a:solidFill>
                <a:effectLst/>
                <a:uLnTx/>
                <a:uFillTx/>
                <a:latin typeface="Calibri"/>
                <a:ea typeface="+mn-ea"/>
                <a:cs typeface="+mn-cs"/>
              </a:rPr>
              <a:t>to increase margins and motivate value-selling</a:t>
            </a:r>
            <a:endParaRPr kumimoji="0" lang="en-GB" sz="1200" b="1" i="0" u="none" strike="noStrike" kern="0" cap="none" spc="0" normalizeH="0" baseline="0" noProof="0">
              <a:ln>
                <a:noFill/>
              </a:ln>
              <a:solidFill>
                <a:srgbClr val="000000"/>
              </a:solidFill>
              <a:effectLst/>
              <a:uLnTx/>
              <a:uFillTx/>
              <a:latin typeface="Calibri"/>
              <a:ea typeface="+mn-ea"/>
              <a:cs typeface="+mn-cs"/>
            </a:endParaRPr>
          </a:p>
        </p:txBody>
      </p:sp>
      <p:sp>
        <p:nvSpPr>
          <p:cNvPr id="24" name="Content Placeholder 15">
            <a:extLst>
              <a:ext uri="{FF2B5EF4-FFF2-40B4-BE49-F238E27FC236}">
                <a16:creationId xmlns:a16="http://schemas.microsoft.com/office/drawing/2014/main" id="{97964B2D-96BD-F155-787E-9DA35AFD1F73}"/>
              </a:ext>
            </a:extLst>
          </p:cNvPr>
          <p:cNvSpPr txBox="1">
            <a:spLocks/>
          </p:cNvSpPr>
          <p:nvPr/>
        </p:nvSpPr>
        <p:spPr>
          <a:xfrm>
            <a:off x="6289541" y="5479699"/>
            <a:ext cx="2258051" cy="461665"/>
          </a:xfrm>
          <a:prstGeom prst="wedgeRectCallout">
            <a:avLst>
              <a:gd name="adj1" fmla="val 59519"/>
              <a:gd name="adj2" fmla="val -42670"/>
            </a:avLst>
          </a:prstGeom>
          <a:solidFill>
            <a:schemeClr val="bg1"/>
          </a:solidFill>
          <a:ln>
            <a:solidFill>
              <a:schemeClr val="accent1"/>
            </a:solidFill>
          </a:ln>
        </p:spPr>
        <p:txBody>
          <a:bodyPr wrap="square"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1" i="0" u="none" strike="noStrike" kern="0" cap="none" spc="0" normalizeH="0" baseline="0" noProof="0">
                <a:ln>
                  <a:noFill/>
                </a:ln>
                <a:solidFill>
                  <a:srgbClr val="000000"/>
                </a:solidFill>
                <a:effectLst/>
                <a:uLnTx/>
                <a:uFillTx/>
                <a:latin typeface="Calibri"/>
                <a:ea typeface="+mn-ea"/>
                <a:cs typeface="+mn-cs"/>
              </a:rPr>
              <a:t>Scores the offer </a:t>
            </a:r>
            <a:r>
              <a:rPr kumimoji="0" lang="en-GB" sz="1200" b="0" i="0" u="none" strike="noStrike" kern="0" cap="none" spc="0" normalizeH="0" baseline="0" noProof="0">
                <a:ln>
                  <a:noFill/>
                </a:ln>
                <a:solidFill>
                  <a:srgbClr val="000000"/>
                </a:solidFill>
                <a:effectLst/>
                <a:uLnTx/>
                <a:uFillTx/>
                <a:latin typeface="Calibri"/>
                <a:ea typeface="+mn-ea"/>
                <a:cs typeface="+mn-cs"/>
              </a:rPr>
              <a:t>and benchmarks it against historical deals</a:t>
            </a:r>
            <a:endParaRPr kumimoji="0" lang="en-GB" sz="1200" b="1" i="0" u="none" strike="noStrike" kern="0" cap="none" spc="0" normalizeH="0" baseline="0" noProof="0">
              <a:ln>
                <a:noFill/>
              </a:ln>
              <a:solidFill>
                <a:srgbClr val="000000"/>
              </a:solidFill>
              <a:effectLst/>
              <a:uLnTx/>
              <a:uFillTx/>
              <a:latin typeface="Calibri"/>
              <a:ea typeface="+mn-ea"/>
              <a:cs typeface="+mn-cs"/>
            </a:endParaRPr>
          </a:p>
        </p:txBody>
      </p:sp>
      <p:sp>
        <p:nvSpPr>
          <p:cNvPr id="21" name="Content Placeholder 15">
            <a:extLst>
              <a:ext uri="{FF2B5EF4-FFF2-40B4-BE49-F238E27FC236}">
                <a16:creationId xmlns:a16="http://schemas.microsoft.com/office/drawing/2014/main" id="{23A31645-2086-D146-E57A-A9D33979427F}"/>
              </a:ext>
            </a:extLst>
          </p:cNvPr>
          <p:cNvSpPr txBox="1">
            <a:spLocks/>
          </p:cNvSpPr>
          <p:nvPr/>
        </p:nvSpPr>
        <p:spPr>
          <a:xfrm>
            <a:off x="8099506" y="2869062"/>
            <a:ext cx="2138638" cy="461665"/>
          </a:xfrm>
          <a:prstGeom prst="wedgeRectCallout">
            <a:avLst>
              <a:gd name="adj1" fmla="val 67580"/>
              <a:gd name="adj2" fmla="val -40492"/>
            </a:avLst>
          </a:prstGeom>
          <a:solidFill>
            <a:schemeClr val="bg1"/>
          </a:solidFill>
          <a:ln>
            <a:solidFill>
              <a:schemeClr val="accent1"/>
            </a:solidFill>
          </a:ln>
        </p:spPr>
        <p:txBody>
          <a:bodyPr lIns="91440" tIns="45720" rIns="91440" bIns="45720">
            <a:spAutoFit/>
          </a:bodyPr>
          <a:lstStyle>
            <a:lvl1pPr marL="180000" indent="-180000" algn="l" defTabSz="91440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90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8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6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4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20000" indent="-180000" algn="l" defTabSz="91440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GB" sz="1200" b="1" i="0" u="none" strike="noStrike" kern="0" cap="none" spc="0" normalizeH="0" baseline="0" noProof="0">
                <a:ln>
                  <a:noFill/>
                </a:ln>
                <a:solidFill>
                  <a:srgbClr val="000000"/>
                </a:solidFill>
                <a:effectLst/>
                <a:uLnTx/>
                <a:uFillTx/>
                <a:latin typeface="Calibri"/>
                <a:ea typeface="+mn-ea"/>
                <a:cs typeface="+mn-cs"/>
              </a:rPr>
              <a:t>Mobile-friendly</a:t>
            </a:r>
            <a:r>
              <a:rPr kumimoji="0" lang="en-GB" sz="1200" b="0" i="0" u="none" strike="noStrike" kern="0" cap="none" spc="0" normalizeH="0" baseline="0" noProof="0">
                <a:ln>
                  <a:noFill/>
                </a:ln>
                <a:solidFill>
                  <a:srgbClr val="000000"/>
                </a:solidFill>
                <a:effectLst/>
                <a:uLnTx/>
                <a:uFillTx/>
                <a:latin typeface="Calibri"/>
                <a:ea typeface="+mn-ea"/>
                <a:cs typeface="+mn-cs"/>
              </a:rPr>
              <a:t> for Reps and Technicians to leverage in-field</a:t>
            </a:r>
          </a:p>
        </p:txBody>
      </p:sp>
      <p:sp>
        <p:nvSpPr>
          <p:cNvPr id="28" name="Oval 27">
            <a:extLst>
              <a:ext uri="{FF2B5EF4-FFF2-40B4-BE49-F238E27FC236}">
                <a16:creationId xmlns:a16="http://schemas.microsoft.com/office/drawing/2014/main" id="{B1D8B5A0-8DFD-16ED-8FD4-9DE1E5F62342}"/>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1A</a:t>
            </a:r>
          </a:p>
        </p:txBody>
      </p:sp>
      <p:sp>
        <p:nvSpPr>
          <p:cNvPr id="7" name="Oval 6">
            <a:extLst>
              <a:ext uri="{FF2B5EF4-FFF2-40B4-BE49-F238E27FC236}">
                <a16:creationId xmlns:a16="http://schemas.microsoft.com/office/drawing/2014/main" id="{584D6E8A-7B55-7889-7A01-89F9B27AAC34}"/>
              </a:ext>
            </a:extLst>
          </p:cNvPr>
          <p:cNvSpPr/>
          <p:nvPr/>
        </p:nvSpPr>
        <p:spPr>
          <a:xfrm>
            <a:off x="341565" y="1937216"/>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1" name="Oval 10">
            <a:extLst>
              <a:ext uri="{FF2B5EF4-FFF2-40B4-BE49-F238E27FC236}">
                <a16:creationId xmlns:a16="http://schemas.microsoft.com/office/drawing/2014/main" id="{CCCF87AE-49A9-2D0E-A997-D079D72866DA}"/>
              </a:ext>
            </a:extLst>
          </p:cNvPr>
          <p:cNvSpPr/>
          <p:nvPr/>
        </p:nvSpPr>
        <p:spPr>
          <a:xfrm>
            <a:off x="341565" y="2519107"/>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2" name="Oval 11">
            <a:extLst>
              <a:ext uri="{FF2B5EF4-FFF2-40B4-BE49-F238E27FC236}">
                <a16:creationId xmlns:a16="http://schemas.microsoft.com/office/drawing/2014/main" id="{BB26F8A6-AADF-00BB-5F00-36D285C323E3}"/>
              </a:ext>
            </a:extLst>
          </p:cNvPr>
          <p:cNvSpPr/>
          <p:nvPr/>
        </p:nvSpPr>
        <p:spPr>
          <a:xfrm>
            <a:off x="341565" y="3142562"/>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3" name="Oval 12">
            <a:extLst>
              <a:ext uri="{FF2B5EF4-FFF2-40B4-BE49-F238E27FC236}">
                <a16:creationId xmlns:a16="http://schemas.microsoft.com/office/drawing/2014/main" id="{F8F44EF8-81D8-7EA2-0863-BB255FCA5639}"/>
              </a:ext>
            </a:extLst>
          </p:cNvPr>
          <p:cNvSpPr/>
          <p:nvPr/>
        </p:nvSpPr>
        <p:spPr>
          <a:xfrm>
            <a:off x="341565" y="3541573"/>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5" name="Oval 14">
            <a:extLst>
              <a:ext uri="{FF2B5EF4-FFF2-40B4-BE49-F238E27FC236}">
                <a16:creationId xmlns:a16="http://schemas.microsoft.com/office/drawing/2014/main" id="{3CE77383-B91F-421C-6B3E-7BED28B903EF}"/>
              </a:ext>
            </a:extLst>
          </p:cNvPr>
          <p:cNvSpPr/>
          <p:nvPr/>
        </p:nvSpPr>
        <p:spPr>
          <a:xfrm>
            <a:off x="341565" y="3940584"/>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6" name="Oval 15">
            <a:extLst>
              <a:ext uri="{FF2B5EF4-FFF2-40B4-BE49-F238E27FC236}">
                <a16:creationId xmlns:a16="http://schemas.microsoft.com/office/drawing/2014/main" id="{852E3FB5-5294-ED40-F67A-670803A3628E}"/>
              </a:ext>
            </a:extLst>
          </p:cNvPr>
          <p:cNvSpPr/>
          <p:nvPr/>
        </p:nvSpPr>
        <p:spPr>
          <a:xfrm>
            <a:off x="341565" y="4322969"/>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7" name="Oval 16">
            <a:extLst>
              <a:ext uri="{FF2B5EF4-FFF2-40B4-BE49-F238E27FC236}">
                <a16:creationId xmlns:a16="http://schemas.microsoft.com/office/drawing/2014/main" id="{68CCAB0D-91A4-D751-A5C0-777AE95058E0}"/>
              </a:ext>
            </a:extLst>
          </p:cNvPr>
          <p:cNvSpPr/>
          <p:nvPr/>
        </p:nvSpPr>
        <p:spPr>
          <a:xfrm>
            <a:off x="341565" y="4913172"/>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
        <p:nvSpPr>
          <p:cNvPr id="18" name="Oval 17">
            <a:extLst>
              <a:ext uri="{FF2B5EF4-FFF2-40B4-BE49-F238E27FC236}">
                <a16:creationId xmlns:a16="http://schemas.microsoft.com/office/drawing/2014/main" id="{E00C255E-75E6-551C-943E-1C0C10069EA5}"/>
              </a:ext>
            </a:extLst>
          </p:cNvPr>
          <p:cNvSpPr/>
          <p:nvPr/>
        </p:nvSpPr>
        <p:spPr>
          <a:xfrm>
            <a:off x="341565" y="5470124"/>
            <a:ext cx="298851" cy="298851"/>
          </a:xfrm>
          <a:prstGeom prst="ellipse">
            <a:avLst/>
          </a:prstGeom>
          <a:solidFill>
            <a:schemeClr val="accent6"/>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kern="0">
                <a:solidFill>
                  <a:schemeClr val="bg1"/>
                </a:solidFill>
                <a:sym typeface="Wingdings" panose="05000000000000000000" pitchFamily="2" charset="2"/>
              </a:rPr>
              <a:t></a:t>
            </a:r>
            <a:endParaRPr lang="en-GB" kern="0">
              <a:solidFill>
                <a:schemeClr val="bg1"/>
              </a:solidFill>
            </a:endParaRPr>
          </a:p>
        </p:txBody>
      </p:sp>
    </p:spTree>
    <p:extLst>
      <p:ext uri="{BB962C8B-B14F-4D97-AF65-F5344CB8AC3E}">
        <p14:creationId xmlns:p14="http://schemas.microsoft.com/office/powerpoint/2010/main" val="129121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4BB13-DC79-1780-D670-894FA5B4997F}"/>
            </a:ext>
          </a:extLst>
        </p:cNvPr>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1A14B8A9-D2B1-8B42-FC7E-43096E16339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0" name="think-cell data - do not delete" hidden="1">
                        <a:extLst>
                          <a:ext uri="{FF2B5EF4-FFF2-40B4-BE49-F238E27FC236}">
                            <a16:creationId xmlns:a16="http://schemas.microsoft.com/office/drawing/2014/main" id="{1A14B8A9-D2B1-8B42-FC7E-43096E1633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8E8DDA-2AA4-BF85-F56F-4CDD57322EF3}"/>
              </a:ext>
            </a:extLst>
          </p:cNvPr>
          <p:cNvSpPr>
            <a:spLocks noGrp="1"/>
          </p:cNvSpPr>
          <p:nvPr>
            <p:ph type="title"/>
          </p:nvPr>
        </p:nvSpPr>
        <p:spPr/>
        <p:txBody>
          <a:bodyPr vert="horz"/>
          <a:lstStyle/>
          <a:p>
            <a:r>
              <a:rPr lang="en-GB">
                <a:solidFill>
                  <a:schemeClr val="accent2"/>
                </a:solidFill>
              </a:rPr>
              <a:t>Process Steps: </a:t>
            </a:r>
            <a:r>
              <a:rPr lang="en-GB"/>
              <a:t>future state overview among various use cases</a:t>
            </a:r>
          </a:p>
        </p:txBody>
      </p:sp>
      <p:sp>
        <p:nvSpPr>
          <p:cNvPr id="21" name="Oval 20">
            <a:extLst>
              <a:ext uri="{FF2B5EF4-FFF2-40B4-BE49-F238E27FC236}">
                <a16:creationId xmlns:a16="http://schemas.microsoft.com/office/drawing/2014/main" id="{43E882F4-E50E-023E-3026-A718DF123349}"/>
              </a:ext>
            </a:extLst>
          </p:cNvPr>
          <p:cNvSpPr/>
          <p:nvPr/>
        </p:nvSpPr>
        <p:spPr>
          <a:xfrm>
            <a:off x="41563" y="359109"/>
            <a:ext cx="339159" cy="339159"/>
          </a:xfrm>
          <a:prstGeom prst="ellipse">
            <a:avLst/>
          </a:prstGeom>
          <a:solidFill>
            <a:schemeClr val="accent2"/>
          </a:solidFill>
          <a:ln w="9525">
            <a:solidFill>
              <a:schemeClr val="bg1"/>
            </a:solidFill>
            <a:miter lim="800000"/>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600" kern="0">
                <a:solidFill>
                  <a:schemeClr val="bg1"/>
                </a:solidFill>
              </a:rPr>
              <a:t>2A</a:t>
            </a:r>
          </a:p>
        </p:txBody>
      </p:sp>
      <p:graphicFrame>
        <p:nvGraphicFramePr>
          <p:cNvPr id="3" name="Table 2">
            <a:extLst>
              <a:ext uri="{FF2B5EF4-FFF2-40B4-BE49-F238E27FC236}">
                <a16:creationId xmlns:a16="http://schemas.microsoft.com/office/drawing/2014/main" id="{4F59A104-19D1-F920-628C-41AD86CC0D89}"/>
              </a:ext>
            </a:extLst>
          </p:cNvPr>
          <p:cNvGraphicFramePr>
            <a:graphicFrameLocks noGrp="1"/>
          </p:cNvGraphicFramePr>
          <p:nvPr/>
        </p:nvGraphicFramePr>
        <p:xfrm>
          <a:off x="457201" y="1325146"/>
          <a:ext cx="11279502" cy="734942"/>
        </p:xfrm>
        <a:graphic>
          <a:graphicData uri="http://schemas.openxmlformats.org/drawingml/2006/table">
            <a:tbl>
              <a:tblPr firstRow="1" bandRow="1"/>
              <a:tblGrid>
                <a:gridCol w="867654">
                  <a:extLst>
                    <a:ext uri="{9D8B030D-6E8A-4147-A177-3AD203B41FA5}">
                      <a16:colId xmlns:a16="http://schemas.microsoft.com/office/drawing/2014/main" val="353998848"/>
                    </a:ext>
                  </a:extLst>
                </a:gridCol>
                <a:gridCol w="867654">
                  <a:extLst>
                    <a:ext uri="{9D8B030D-6E8A-4147-A177-3AD203B41FA5}">
                      <a16:colId xmlns:a16="http://schemas.microsoft.com/office/drawing/2014/main" val="555438161"/>
                    </a:ext>
                  </a:extLst>
                </a:gridCol>
                <a:gridCol w="867654">
                  <a:extLst>
                    <a:ext uri="{9D8B030D-6E8A-4147-A177-3AD203B41FA5}">
                      <a16:colId xmlns:a16="http://schemas.microsoft.com/office/drawing/2014/main" val="602195497"/>
                    </a:ext>
                  </a:extLst>
                </a:gridCol>
                <a:gridCol w="867654">
                  <a:extLst>
                    <a:ext uri="{9D8B030D-6E8A-4147-A177-3AD203B41FA5}">
                      <a16:colId xmlns:a16="http://schemas.microsoft.com/office/drawing/2014/main" val="802492698"/>
                    </a:ext>
                  </a:extLst>
                </a:gridCol>
                <a:gridCol w="867654">
                  <a:extLst>
                    <a:ext uri="{9D8B030D-6E8A-4147-A177-3AD203B41FA5}">
                      <a16:colId xmlns:a16="http://schemas.microsoft.com/office/drawing/2014/main" val="970856802"/>
                    </a:ext>
                  </a:extLst>
                </a:gridCol>
                <a:gridCol w="867654">
                  <a:extLst>
                    <a:ext uri="{9D8B030D-6E8A-4147-A177-3AD203B41FA5}">
                      <a16:colId xmlns:a16="http://schemas.microsoft.com/office/drawing/2014/main" val="2024268365"/>
                    </a:ext>
                  </a:extLst>
                </a:gridCol>
                <a:gridCol w="867654">
                  <a:extLst>
                    <a:ext uri="{9D8B030D-6E8A-4147-A177-3AD203B41FA5}">
                      <a16:colId xmlns:a16="http://schemas.microsoft.com/office/drawing/2014/main" val="1767451978"/>
                    </a:ext>
                  </a:extLst>
                </a:gridCol>
                <a:gridCol w="867654">
                  <a:extLst>
                    <a:ext uri="{9D8B030D-6E8A-4147-A177-3AD203B41FA5}">
                      <a16:colId xmlns:a16="http://schemas.microsoft.com/office/drawing/2014/main" val="3893781383"/>
                    </a:ext>
                  </a:extLst>
                </a:gridCol>
                <a:gridCol w="867654">
                  <a:extLst>
                    <a:ext uri="{9D8B030D-6E8A-4147-A177-3AD203B41FA5}">
                      <a16:colId xmlns:a16="http://schemas.microsoft.com/office/drawing/2014/main" val="2583201269"/>
                    </a:ext>
                  </a:extLst>
                </a:gridCol>
                <a:gridCol w="867654">
                  <a:extLst>
                    <a:ext uri="{9D8B030D-6E8A-4147-A177-3AD203B41FA5}">
                      <a16:colId xmlns:a16="http://schemas.microsoft.com/office/drawing/2014/main" val="1531001032"/>
                    </a:ext>
                  </a:extLst>
                </a:gridCol>
                <a:gridCol w="867654">
                  <a:extLst>
                    <a:ext uri="{9D8B030D-6E8A-4147-A177-3AD203B41FA5}">
                      <a16:colId xmlns:a16="http://schemas.microsoft.com/office/drawing/2014/main" val="2370398537"/>
                    </a:ext>
                  </a:extLst>
                </a:gridCol>
                <a:gridCol w="867654">
                  <a:extLst>
                    <a:ext uri="{9D8B030D-6E8A-4147-A177-3AD203B41FA5}">
                      <a16:colId xmlns:a16="http://schemas.microsoft.com/office/drawing/2014/main" val="2441464998"/>
                    </a:ext>
                  </a:extLst>
                </a:gridCol>
                <a:gridCol w="867654">
                  <a:extLst>
                    <a:ext uri="{9D8B030D-6E8A-4147-A177-3AD203B41FA5}">
                      <a16:colId xmlns:a16="http://schemas.microsoft.com/office/drawing/2014/main" val="343196634"/>
                    </a:ext>
                  </a:extLst>
                </a:gridCol>
              </a:tblGrid>
              <a:tr h="734942">
                <a:tc>
                  <a:txBody>
                    <a:bodyPr/>
                    <a:lstStyle/>
                    <a:p>
                      <a:endParaRPr lang="en-GB" sz="1100" b="1">
                        <a:solidFill>
                          <a:schemeClr val="accent1"/>
                        </a:solidFill>
                        <a:latin typeface="+mj-lt"/>
                      </a:endParaRPr>
                    </a:p>
                  </a:txBody>
                  <a:tcPr>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100" b="1">
                        <a:solidFill>
                          <a:schemeClr val="accent1"/>
                        </a:solidFill>
                        <a:latin typeface="+mj-lt"/>
                      </a:endParaRPr>
                    </a:p>
                  </a:txBody>
                  <a:tcPr>
                    <a:lnL w="9525" cap="flat" cmpd="sng" algn="ctr">
                      <a:noFill/>
                      <a:prstDash val="solid"/>
                      <a:round/>
                      <a:headEnd type="none" w="med" len="med"/>
                      <a:tailEnd type="none" w="med" len="med"/>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3361157"/>
                  </a:ext>
                </a:extLst>
              </a:tr>
            </a:tbl>
          </a:graphicData>
        </a:graphic>
      </p:graphicFrame>
      <p:sp>
        <p:nvSpPr>
          <p:cNvPr id="24" name="Pentagon 1">
            <a:extLst>
              <a:ext uri="{FF2B5EF4-FFF2-40B4-BE49-F238E27FC236}">
                <a16:creationId xmlns:a16="http://schemas.microsoft.com/office/drawing/2014/main" id="{A2E72D2B-9DA3-2271-73E6-B68296493B9D}"/>
              </a:ext>
            </a:extLst>
          </p:cNvPr>
          <p:cNvSpPr>
            <a:spLocks/>
          </p:cNvSpPr>
          <p:nvPr/>
        </p:nvSpPr>
        <p:spPr>
          <a:xfrm>
            <a:off x="3908925"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2.1 Develop Quote</a:t>
            </a:r>
          </a:p>
        </p:txBody>
      </p:sp>
      <p:sp>
        <p:nvSpPr>
          <p:cNvPr id="36" name="Pentagon 1">
            <a:extLst>
              <a:ext uri="{FF2B5EF4-FFF2-40B4-BE49-F238E27FC236}">
                <a16:creationId xmlns:a16="http://schemas.microsoft.com/office/drawing/2014/main" id="{F92A44B7-202D-BBD8-6FBE-0114EEB66F8C}"/>
              </a:ext>
            </a:extLst>
          </p:cNvPr>
          <p:cNvSpPr>
            <a:spLocks/>
          </p:cNvSpPr>
          <p:nvPr/>
        </p:nvSpPr>
        <p:spPr>
          <a:xfrm>
            <a:off x="4770274"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2.2 Approve Quote</a:t>
            </a:r>
          </a:p>
        </p:txBody>
      </p:sp>
      <p:sp>
        <p:nvSpPr>
          <p:cNvPr id="38" name="Pentagon 1">
            <a:extLst>
              <a:ext uri="{FF2B5EF4-FFF2-40B4-BE49-F238E27FC236}">
                <a16:creationId xmlns:a16="http://schemas.microsoft.com/office/drawing/2014/main" id="{A5DFF6F2-8100-EA1F-E1E8-2B29ED79F1D7}"/>
              </a:ext>
            </a:extLst>
          </p:cNvPr>
          <p:cNvSpPr>
            <a:spLocks/>
          </p:cNvSpPr>
          <p:nvPr/>
        </p:nvSpPr>
        <p:spPr>
          <a:xfrm>
            <a:off x="5631623" y="1673646"/>
            <a:ext cx="100795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800" b="1">
                <a:solidFill>
                  <a:schemeClr val="tx1"/>
                </a:solidFill>
              </a:rPr>
              <a:t>2.3 Send quote to customer</a:t>
            </a:r>
          </a:p>
        </p:txBody>
      </p:sp>
      <p:sp>
        <p:nvSpPr>
          <p:cNvPr id="39" name="Pentagon 1">
            <a:extLst>
              <a:ext uri="{FF2B5EF4-FFF2-40B4-BE49-F238E27FC236}">
                <a16:creationId xmlns:a16="http://schemas.microsoft.com/office/drawing/2014/main" id="{3FB0716B-0F7F-2107-4FF6-1FA717BE2132}"/>
              </a:ext>
            </a:extLst>
          </p:cNvPr>
          <p:cNvSpPr>
            <a:spLocks/>
          </p:cNvSpPr>
          <p:nvPr/>
        </p:nvSpPr>
        <p:spPr>
          <a:xfrm>
            <a:off x="6502952" y="1673646"/>
            <a:ext cx="99797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t" anchorCtr="0" forceAA="0" compatLnSpc="1">
            <a:prstTxWarp prst="textNoShape">
              <a:avLst/>
            </a:prstTxWarp>
            <a:noAutofit/>
          </a:bodyPr>
          <a:lstStyle/>
          <a:p>
            <a:pPr algn="ctr"/>
            <a:r>
              <a:rPr lang="en-GB" sz="800" b="1">
                <a:solidFill>
                  <a:schemeClr val="tx1"/>
                </a:solidFill>
              </a:rPr>
              <a:t>2.4 Iterate Quote Drafts</a:t>
            </a:r>
          </a:p>
        </p:txBody>
      </p:sp>
      <p:sp>
        <p:nvSpPr>
          <p:cNvPr id="42" name="Pentagon 1">
            <a:extLst>
              <a:ext uri="{FF2B5EF4-FFF2-40B4-BE49-F238E27FC236}">
                <a16:creationId xmlns:a16="http://schemas.microsoft.com/office/drawing/2014/main" id="{E6653041-4731-D88E-7CF1-C8109B607F83}"/>
              </a:ext>
            </a:extLst>
          </p:cNvPr>
          <p:cNvSpPr>
            <a:spLocks/>
          </p:cNvSpPr>
          <p:nvPr/>
        </p:nvSpPr>
        <p:spPr>
          <a:xfrm>
            <a:off x="8225650" y="1673646"/>
            <a:ext cx="997970" cy="354870"/>
          </a:xfrm>
          <a:prstGeom prst="chevron">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3.1 Place order</a:t>
            </a:r>
          </a:p>
        </p:txBody>
      </p:sp>
      <p:sp>
        <p:nvSpPr>
          <p:cNvPr id="43" name="Pentagon 1">
            <a:extLst>
              <a:ext uri="{FF2B5EF4-FFF2-40B4-BE49-F238E27FC236}">
                <a16:creationId xmlns:a16="http://schemas.microsoft.com/office/drawing/2014/main" id="{72DF3165-5E75-E0F3-8DC8-623AA6F45331}"/>
              </a:ext>
            </a:extLst>
          </p:cNvPr>
          <p:cNvSpPr>
            <a:spLocks/>
          </p:cNvSpPr>
          <p:nvPr/>
        </p:nvSpPr>
        <p:spPr>
          <a:xfrm>
            <a:off x="9086999" y="1673646"/>
            <a:ext cx="1028210" cy="354870"/>
          </a:xfrm>
          <a:prstGeom prst="chevron">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3.2 Fulfill order</a:t>
            </a:r>
          </a:p>
        </p:txBody>
      </p:sp>
      <p:sp>
        <p:nvSpPr>
          <p:cNvPr id="44" name="Pentagon 1">
            <a:extLst>
              <a:ext uri="{FF2B5EF4-FFF2-40B4-BE49-F238E27FC236}">
                <a16:creationId xmlns:a16="http://schemas.microsoft.com/office/drawing/2014/main" id="{54FCC2EF-0A36-4B20-1476-96CB30D91E75}"/>
              </a:ext>
            </a:extLst>
          </p:cNvPr>
          <p:cNvSpPr>
            <a:spLocks/>
          </p:cNvSpPr>
          <p:nvPr/>
        </p:nvSpPr>
        <p:spPr>
          <a:xfrm>
            <a:off x="10870180" y="1673646"/>
            <a:ext cx="997970" cy="354870"/>
          </a:xfrm>
          <a:prstGeom prst="chevron">
            <a:avLst/>
          </a:prstGeom>
          <a:solidFill>
            <a:srgbClr val="C6E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3.4 Track Win/loss</a:t>
            </a:r>
          </a:p>
        </p:txBody>
      </p:sp>
      <p:sp>
        <p:nvSpPr>
          <p:cNvPr id="46" name="Pentagon 1">
            <a:extLst>
              <a:ext uri="{FF2B5EF4-FFF2-40B4-BE49-F238E27FC236}">
                <a16:creationId xmlns:a16="http://schemas.microsoft.com/office/drawing/2014/main" id="{7F71DD6C-6C1D-AC9E-042F-6196EA386FAE}"/>
              </a:ext>
            </a:extLst>
          </p:cNvPr>
          <p:cNvSpPr>
            <a:spLocks/>
          </p:cNvSpPr>
          <p:nvPr/>
        </p:nvSpPr>
        <p:spPr>
          <a:xfrm>
            <a:off x="3047576" y="1673646"/>
            <a:ext cx="997970" cy="354870"/>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1.5 Trials &amp; Samples</a:t>
            </a:r>
          </a:p>
        </p:txBody>
      </p:sp>
      <p:sp>
        <p:nvSpPr>
          <p:cNvPr id="47" name="Pentagon 1">
            <a:extLst>
              <a:ext uri="{FF2B5EF4-FFF2-40B4-BE49-F238E27FC236}">
                <a16:creationId xmlns:a16="http://schemas.microsoft.com/office/drawing/2014/main" id="{06F4C51D-6283-F764-1858-780A6DBDB234}"/>
              </a:ext>
            </a:extLst>
          </p:cNvPr>
          <p:cNvSpPr>
            <a:spLocks/>
          </p:cNvSpPr>
          <p:nvPr/>
        </p:nvSpPr>
        <p:spPr>
          <a:xfrm>
            <a:off x="7364301" y="1673646"/>
            <a:ext cx="997970" cy="354870"/>
          </a:xfrm>
          <a:prstGeom prst="chevron">
            <a:avLst/>
          </a:prstGeom>
          <a:solidFill>
            <a:srgbClr val="C6EE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34290" rIns="0" bIns="34290" numCol="1" spcCol="0" rtlCol="0" fromWordArt="0" anchor="t" anchorCtr="0" forceAA="0" compatLnSpc="1">
            <a:prstTxWarp prst="textNoShape">
              <a:avLst/>
            </a:prstTxWarp>
            <a:noAutofit/>
          </a:bodyPr>
          <a:lstStyle/>
          <a:p>
            <a:pPr algn="ctr"/>
            <a:r>
              <a:rPr lang="en-GB" sz="800" b="1">
                <a:solidFill>
                  <a:schemeClr val="tx1"/>
                </a:solidFill>
              </a:rPr>
              <a:t>2.5 Establish Price in F&amp;O</a:t>
            </a:r>
          </a:p>
        </p:txBody>
      </p:sp>
      <p:sp>
        <p:nvSpPr>
          <p:cNvPr id="49" name="Pentagon 1">
            <a:extLst>
              <a:ext uri="{FF2B5EF4-FFF2-40B4-BE49-F238E27FC236}">
                <a16:creationId xmlns:a16="http://schemas.microsoft.com/office/drawing/2014/main" id="{E7A142B5-917C-87A7-F951-48908969864F}"/>
              </a:ext>
            </a:extLst>
          </p:cNvPr>
          <p:cNvSpPr>
            <a:spLocks/>
          </p:cNvSpPr>
          <p:nvPr/>
        </p:nvSpPr>
        <p:spPr>
          <a:xfrm>
            <a:off x="9978588" y="1673646"/>
            <a:ext cx="1028210" cy="354870"/>
          </a:xfrm>
          <a:prstGeom prst="chevron">
            <a:avLst/>
          </a:prstGeom>
          <a:solidFill>
            <a:srgbClr val="94D2A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t" anchorCtr="0" forceAA="0" compatLnSpc="1">
            <a:prstTxWarp prst="textNoShape">
              <a:avLst/>
            </a:prstTxWarp>
            <a:noAutofit/>
          </a:bodyPr>
          <a:lstStyle/>
          <a:p>
            <a:pPr algn="ctr"/>
            <a:r>
              <a:rPr lang="en-GB" sz="800" b="1">
                <a:solidFill>
                  <a:schemeClr val="tx1"/>
                </a:solidFill>
              </a:rPr>
              <a:t>3.3 Bill to </a:t>
            </a:r>
          </a:p>
          <a:p>
            <a:pPr algn="ctr"/>
            <a:r>
              <a:rPr lang="en-GB" sz="800" b="1">
                <a:solidFill>
                  <a:schemeClr val="tx1"/>
                </a:solidFill>
              </a:rPr>
              <a:t>cash</a:t>
            </a:r>
          </a:p>
        </p:txBody>
      </p:sp>
      <p:sp>
        <p:nvSpPr>
          <p:cNvPr id="50" name="TextBox 49">
            <a:extLst>
              <a:ext uri="{FF2B5EF4-FFF2-40B4-BE49-F238E27FC236}">
                <a16:creationId xmlns:a16="http://schemas.microsoft.com/office/drawing/2014/main" id="{B1F7686C-71E3-87E8-40D7-EE5452E3E848}"/>
              </a:ext>
            </a:extLst>
          </p:cNvPr>
          <p:cNvSpPr txBox="1">
            <a:spLocks/>
          </p:cNvSpPr>
          <p:nvPr/>
        </p:nvSpPr>
        <p:spPr>
          <a:xfrm rot="5400000">
            <a:off x="1099775" y="2369609"/>
            <a:ext cx="369332" cy="739109"/>
          </a:xfrm>
          <a:prstGeom prst="rect">
            <a:avLst/>
          </a:prstGeom>
          <a:noFill/>
        </p:spPr>
        <p:txBody>
          <a:bodyPr vert="vert270" wrap="square" lIns="0" tIns="0" rIns="0" bIns="0" rtlCol="0" anchor="ctr">
            <a:spAutoFit/>
          </a:bodyPr>
          <a:lstStyle/>
          <a:p>
            <a:r>
              <a:rPr lang="en-GB" sz="1200" b="1" kern="0">
                <a:latin typeface="+mj-lt"/>
              </a:rPr>
              <a:t>A. New customer</a:t>
            </a:r>
          </a:p>
        </p:txBody>
      </p:sp>
      <p:sp>
        <p:nvSpPr>
          <p:cNvPr id="5" name="Rectangle 4">
            <a:extLst>
              <a:ext uri="{FF2B5EF4-FFF2-40B4-BE49-F238E27FC236}">
                <a16:creationId xmlns:a16="http://schemas.microsoft.com/office/drawing/2014/main" id="{A201E5D1-D79E-6869-45F2-85581EF97EB2}"/>
              </a:ext>
            </a:extLst>
          </p:cNvPr>
          <p:cNvSpPr/>
          <p:nvPr/>
        </p:nvSpPr>
        <p:spPr>
          <a:xfrm>
            <a:off x="463529" y="1403214"/>
            <a:ext cx="3433637"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1. Discovery &amp; qualification</a:t>
            </a:r>
          </a:p>
        </p:txBody>
      </p:sp>
      <p:sp>
        <p:nvSpPr>
          <p:cNvPr id="11" name="Rectangle 10">
            <a:extLst>
              <a:ext uri="{FF2B5EF4-FFF2-40B4-BE49-F238E27FC236}">
                <a16:creationId xmlns:a16="http://schemas.microsoft.com/office/drawing/2014/main" id="{82705404-68E1-6840-9896-37BA06403B20}"/>
              </a:ext>
            </a:extLst>
          </p:cNvPr>
          <p:cNvSpPr/>
          <p:nvPr/>
        </p:nvSpPr>
        <p:spPr>
          <a:xfrm>
            <a:off x="3949440" y="1403214"/>
            <a:ext cx="4297680"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2. Quoting process and approvals</a:t>
            </a:r>
          </a:p>
        </p:txBody>
      </p:sp>
      <p:sp>
        <p:nvSpPr>
          <p:cNvPr id="12" name="Rectangle 11">
            <a:extLst>
              <a:ext uri="{FF2B5EF4-FFF2-40B4-BE49-F238E27FC236}">
                <a16:creationId xmlns:a16="http://schemas.microsoft.com/office/drawing/2014/main" id="{71B26EF0-C6FB-F6C3-AD56-2644B0E8C873}"/>
              </a:ext>
            </a:extLst>
          </p:cNvPr>
          <p:cNvSpPr/>
          <p:nvPr/>
        </p:nvSpPr>
        <p:spPr>
          <a:xfrm>
            <a:off x="8299394" y="1403214"/>
            <a:ext cx="3457623" cy="238815"/>
          </a:xfrm>
          <a:prstGeom prst="rect">
            <a:avLst/>
          </a:prstGeom>
          <a:solidFill>
            <a:schemeClr val="tx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kern="0">
                <a:solidFill>
                  <a:schemeClr val="bg1"/>
                </a:solidFill>
                <a:latin typeface="+mj-lt"/>
              </a:rPr>
              <a:t>3. Ordering &amp; tracking</a:t>
            </a:r>
          </a:p>
        </p:txBody>
      </p:sp>
      <p:sp>
        <p:nvSpPr>
          <p:cNvPr id="7" name="TextBox 6">
            <a:extLst>
              <a:ext uri="{FF2B5EF4-FFF2-40B4-BE49-F238E27FC236}">
                <a16:creationId xmlns:a16="http://schemas.microsoft.com/office/drawing/2014/main" id="{03F85FF1-C935-2950-A920-935B287F1E6E}"/>
              </a:ext>
            </a:extLst>
          </p:cNvPr>
          <p:cNvSpPr txBox="1">
            <a:spLocks/>
          </p:cNvSpPr>
          <p:nvPr/>
        </p:nvSpPr>
        <p:spPr>
          <a:xfrm rot="5400000">
            <a:off x="1095083" y="3267137"/>
            <a:ext cx="553998" cy="914391"/>
          </a:xfrm>
          <a:prstGeom prst="rect">
            <a:avLst/>
          </a:prstGeom>
          <a:noFill/>
        </p:spPr>
        <p:txBody>
          <a:bodyPr vert="vert270" wrap="square" lIns="0" tIns="0" rIns="0" bIns="0" rtlCol="0" anchor="ctr">
            <a:spAutoFit/>
          </a:bodyPr>
          <a:lstStyle/>
          <a:p>
            <a:r>
              <a:rPr lang="en-GB" sz="1200" b="1" kern="0">
                <a:latin typeface="+mj-lt"/>
              </a:rPr>
              <a:t>B. Existing customer, new product</a:t>
            </a:r>
            <a:r>
              <a:rPr lang="en-GB" sz="1200" b="1" kern="0" baseline="30000">
                <a:latin typeface="+mj-lt"/>
              </a:rPr>
              <a:t>1</a:t>
            </a:r>
            <a:endParaRPr lang="en-GB" sz="1200" b="1" kern="0">
              <a:latin typeface="+mj-lt"/>
            </a:endParaRPr>
          </a:p>
        </p:txBody>
      </p:sp>
      <p:sp>
        <p:nvSpPr>
          <p:cNvPr id="8" name="TextBox 7">
            <a:extLst>
              <a:ext uri="{FF2B5EF4-FFF2-40B4-BE49-F238E27FC236}">
                <a16:creationId xmlns:a16="http://schemas.microsoft.com/office/drawing/2014/main" id="{9B955E6A-E044-C438-B316-AD981DAF25EC}"/>
              </a:ext>
            </a:extLst>
          </p:cNvPr>
          <p:cNvSpPr txBox="1"/>
          <p:nvPr/>
        </p:nvSpPr>
        <p:spPr>
          <a:xfrm rot="5400000">
            <a:off x="923403" y="4312792"/>
            <a:ext cx="738664" cy="755695"/>
          </a:xfrm>
          <a:prstGeom prst="rect">
            <a:avLst/>
          </a:prstGeom>
          <a:noFill/>
        </p:spPr>
        <p:txBody>
          <a:bodyPr vert="vert270" wrap="square" lIns="0" tIns="0" rIns="0" bIns="0" rtlCol="0" anchor="ctr">
            <a:spAutoFit/>
          </a:bodyPr>
          <a:lstStyle/>
          <a:p>
            <a:r>
              <a:rPr lang="en-GB" sz="1200" b="1" kern="0">
                <a:latin typeface="+mj-lt"/>
              </a:rPr>
              <a:t>C. Existing customer, price update</a:t>
            </a:r>
          </a:p>
        </p:txBody>
      </p:sp>
      <p:graphicFrame>
        <p:nvGraphicFramePr>
          <p:cNvPr id="29" name="Table 28">
            <a:extLst>
              <a:ext uri="{FF2B5EF4-FFF2-40B4-BE49-F238E27FC236}">
                <a16:creationId xmlns:a16="http://schemas.microsoft.com/office/drawing/2014/main" id="{5D8C9B76-D7DF-9CF6-88BD-7BFA1ABA19BB}"/>
              </a:ext>
            </a:extLst>
          </p:cNvPr>
          <p:cNvGraphicFramePr>
            <a:graphicFrameLocks noGrp="1"/>
          </p:cNvGraphicFramePr>
          <p:nvPr/>
        </p:nvGraphicFramePr>
        <p:xfrm>
          <a:off x="1899888" y="2695032"/>
          <a:ext cx="9774662" cy="637309"/>
        </p:xfrm>
        <a:graphic>
          <a:graphicData uri="http://schemas.openxmlformats.org/drawingml/2006/table">
            <a:tbl>
              <a:tblPr bandRow="1" bandCol="1">
                <a:tableStyleId>{ED083AE6-46FA-4A59-8FB0-9F97EB10719F}</a:tableStyleId>
              </a:tblPr>
              <a:tblGrid>
                <a:gridCol w="2481815">
                  <a:extLst>
                    <a:ext uri="{9D8B030D-6E8A-4147-A177-3AD203B41FA5}">
                      <a16:colId xmlns:a16="http://schemas.microsoft.com/office/drawing/2014/main" val="1912040057"/>
                    </a:ext>
                  </a:extLst>
                </a:gridCol>
                <a:gridCol w="2481815">
                  <a:extLst>
                    <a:ext uri="{9D8B030D-6E8A-4147-A177-3AD203B41FA5}">
                      <a16:colId xmlns:a16="http://schemas.microsoft.com/office/drawing/2014/main" val="1918011863"/>
                    </a:ext>
                  </a:extLst>
                </a:gridCol>
                <a:gridCol w="2351385">
                  <a:extLst>
                    <a:ext uri="{9D8B030D-6E8A-4147-A177-3AD203B41FA5}">
                      <a16:colId xmlns:a16="http://schemas.microsoft.com/office/drawing/2014/main" val="2955876566"/>
                    </a:ext>
                  </a:extLst>
                </a:gridCol>
                <a:gridCol w="2459647">
                  <a:extLst>
                    <a:ext uri="{9D8B030D-6E8A-4147-A177-3AD203B41FA5}">
                      <a16:colId xmlns:a16="http://schemas.microsoft.com/office/drawing/2014/main" val="2265449604"/>
                    </a:ext>
                  </a:extLst>
                </a:gridCol>
              </a:tblGrid>
              <a:tr h="637309">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New customer created in CRM, assigned customer # in F&amp;O, and confirm commercials (e.g., delivery term, ship-to locations)</a:t>
                      </a:r>
                      <a:endParaRPr kumimoji="0" lang="en-GB" sz="900" b="0" i="0" u="none" strike="noStrike" kern="0" cap="none" spc="0" normalizeH="0" baseline="0">
                        <a:ln>
                          <a:noFill/>
                        </a:ln>
                        <a:solidFill>
                          <a:schemeClr val="tx1"/>
                        </a:solidFill>
                        <a:effectLst/>
                        <a:uLnTx/>
                        <a:uFillTx/>
                        <a:latin typeface="Calibri"/>
                        <a:ea typeface="+mn-ea"/>
                        <a:cs typeface="+mn-cs"/>
                      </a:endParaRPr>
                    </a:p>
                  </a:txBody>
                  <a:tcPr marT="41564" marB="41564">
                    <a:lnR w="12700" cap="flat" cmpd="sng" algn="ctr">
                      <a:noFill/>
                      <a:prstDash val="solid"/>
                      <a:round/>
                      <a:headEnd type="none" w="med" len="med"/>
                      <a:tailEnd type="none" w="med" len="med"/>
                    </a:lnR>
                  </a:tcPr>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Sales Ops confirms correct customer setup in F&amp;O, assign customer segment and check for prior customer family</a:t>
                      </a:r>
                      <a:endParaRPr kumimoji="0" lang="en-GB" sz="900" b="0" i="0" u="none" strike="noStrike" kern="0" cap="none" spc="0" normalizeH="0" baseline="0">
                        <a:ln>
                          <a:noFill/>
                        </a:ln>
                        <a:solidFill>
                          <a:schemeClr val="tx1"/>
                        </a:solidFill>
                        <a:effectLst/>
                        <a:uLnTx/>
                        <a:uFillTx/>
                        <a:latin typeface="Calibri"/>
                        <a:ea typeface="+mn-ea"/>
                        <a:cs typeface="+mn-cs"/>
                      </a:endParaRPr>
                    </a:p>
                  </a:txBody>
                  <a:tcPr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lnL w="12700" cap="flat" cmpd="sng" algn="ctr">
                      <a:noFill/>
                      <a:prstDash val="solid"/>
                      <a:round/>
                      <a:headEnd type="none" w="med" len="med"/>
                      <a:tailEnd type="none" w="med" len="med"/>
                    </a:lnL>
                    <a:lnR w="12700" cmpd="sng">
                      <a:noFill/>
                    </a:lnR>
                  </a:tcPr>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high-level revenue and product line expectations tab</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lnL w="12700" cap="flat" cmpd="sng" algn="ctr">
                      <a:noFill/>
                      <a:prstDash val="solid"/>
                      <a:round/>
                      <a:headEnd type="none" w="med" len="med"/>
                      <a:tailEnd type="none" w="med" len="med"/>
                    </a:lnL>
                  </a:tcPr>
                </a:tc>
                <a:extLst>
                  <a:ext uri="{0D108BD9-81ED-4DB2-BD59-A6C34878D82A}">
                    <a16:rowId xmlns:a16="http://schemas.microsoft.com/office/drawing/2014/main" val="2423088393"/>
                  </a:ext>
                </a:extLst>
              </a:tr>
            </a:tbl>
          </a:graphicData>
        </a:graphic>
      </p:graphicFrame>
      <p:graphicFrame>
        <p:nvGraphicFramePr>
          <p:cNvPr id="41" name="Table 40">
            <a:extLst>
              <a:ext uri="{FF2B5EF4-FFF2-40B4-BE49-F238E27FC236}">
                <a16:creationId xmlns:a16="http://schemas.microsoft.com/office/drawing/2014/main" id="{8371DE3B-3810-B255-315F-B896058203DB}"/>
              </a:ext>
            </a:extLst>
          </p:cNvPr>
          <p:cNvGraphicFramePr>
            <a:graphicFrameLocks noGrp="1"/>
          </p:cNvGraphicFramePr>
          <p:nvPr/>
        </p:nvGraphicFramePr>
        <p:xfrm>
          <a:off x="1899886" y="3707996"/>
          <a:ext cx="9774664" cy="637309"/>
        </p:xfrm>
        <a:graphic>
          <a:graphicData uri="http://schemas.openxmlformats.org/drawingml/2006/table">
            <a:tbl>
              <a:tblPr bandRow="1">
                <a:tableStyleId>{1E171933-4619-4E11-9A3F-F7608DF75F80}</a:tableStyleId>
              </a:tblPr>
              <a:tblGrid>
                <a:gridCol w="2509611">
                  <a:extLst>
                    <a:ext uri="{9D8B030D-6E8A-4147-A177-3AD203B41FA5}">
                      <a16:colId xmlns:a16="http://schemas.microsoft.com/office/drawing/2014/main" val="3305449802"/>
                    </a:ext>
                  </a:extLst>
                </a:gridCol>
                <a:gridCol w="2509611">
                  <a:extLst>
                    <a:ext uri="{9D8B030D-6E8A-4147-A177-3AD203B41FA5}">
                      <a16:colId xmlns:a16="http://schemas.microsoft.com/office/drawing/2014/main" val="3400485105"/>
                    </a:ext>
                  </a:extLst>
                </a:gridCol>
                <a:gridCol w="2377721">
                  <a:extLst>
                    <a:ext uri="{9D8B030D-6E8A-4147-A177-3AD203B41FA5}">
                      <a16:colId xmlns:a16="http://schemas.microsoft.com/office/drawing/2014/main" val="3588001858"/>
                    </a:ext>
                  </a:extLst>
                </a:gridCol>
                <a:gridCol w="2377721">
                  <a:extLst>
                    <a:ext uri="{9D8B030D-6E8A-4147-A177-3AD203B41FA5}">
                      <a16:colId xmlns:a16="http://schemas.microsoft.com/office/drawing/2014/main" val="294562595"/>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verifies that this is a new product without prior pricing terms</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customer ID and revenue and product line expectations tab. Customer details are pulled automatically</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489710205"/>
                  </a:ext>
                </a:extLst>
              </a:tr>
            </a:tbl>
          </a:graphicData>
        </a:graphic>
      </p:graphicFrame>
      <p:sp>
        <p:nvSpPr>
          <p:cNvPr id="10" name="Pentagon 1">
            <a:extLst>
              <a:ext uri="{FF2B5EF4-FFF2-40B4-BE49-F238E27FC236}">
                <a16:creationId xmlns:a16="http://schemas.microsoft.com/office/drawing/2014/main" id="{911FB372-FD77-9A1D-7A0C-C9BAEB4E85DC}"/>
              </a:ext>
            </a:extLst>
          </p:cNvPr>
          <p:cNvSpPr>
            <a:spLocks/>
          </p:cNvSpPr>
          <p:nvPr/>
        </p:nvSpPr>
        <p:spPr>
          <a:xfrm>
            <a:off x="1894509" y="2418769"/>
            <a:ext cx="2570544" cy="266619"/>
          </a:xfrm>
          <a:prstGeom prst="homePlate">
            <a:avLst>
              <a:gd name="adj" fmla="val 49156"/>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22" name="Pentagon 1">
            <a:extLst>
              <a:ext uri="{FF2B5EF4-FFF2-40B4-BE49-F238E27FC236}">
                <a16:creationId xmlns:a16="http://schemas.microsoft.com/office/drawing/2014/main" id="{4F19CED5-0ADD-59EA-6AB9-EE24BDD77412}"/>
              </a:ext>
            </a:extLst>
          </p:cNvPr>
          <p:cNvSpPr>
            <a:spLocks/>
          </p:cNvSpPr>
          <p:nvPr/>
        </p:nvSpPr>
        <p:spPr>
          <a:xfrm>
            <a:off x="9278668" y="2418769"/>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45" name="Pentagon 1">
            <a:extLst>
              <a:ext uri="{FF2B5EF4-FFF2-40B4-BE49-F238E27FC236}">
                <a16:creationId xmlns:a16="http://schemas.microsoft.com/office/drawing/2014/main" id="{239D55A3-7096-3F91-E0A0-A6BE97085EDB}"/>
              </a:ext>
            </a:extLst>
          </p:cNvPr>
          <p:cNvSpPr>
            <a:spLocks/>
          </p:cNvSpPr>
          <p:nvPr/>
        </p:nvSpPr>
        <p:spPr>
          <a:xfrm>
            <a:off x="4385579" y="2418769"/>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graphicFrame>
        <p:nvGraphicFramePr>
          <p:cNvPr id="56" name="Table 55">
            <a:extLst>
              <a:ext uri="{FF2B5EF4-FFF2-40B4-BE49-F238E27FC236}">
                <a16:creationId xmlns:a16="http://schemas.microsoft.com/office/drawing/2014/main" id="{480A709E-AFC8-4FE2-AFAB-0E994B1E1A3C}"/>
              </a:ext>
            </a:extLst>
          </p:cNvPr>
          <p:cNvGraphicFramePr>
            <a:graphicFrameLocks noGrp="1"/>
          </p:cNvGraphicFramePr>
          <p:nvPr/>
        </p:nvGraphicFramePr>
        <p:xfrm>
          <a:off x="1899886" y="4744479"/>
          <a:ext cx="9774665" cy="637309"/>
        </p:xfrm>
        <a:graphic>
          <a:graphicData uri="http://schemas.openxmlformats.org/drawingml/2006/table">
            <a:tbl>
              <a:tblPr bandRow="1">
                <a:tableStyleId>{1E171933-4619-4E11-9A3F-F7608DF75F80}</a:tableStyleId>
              </a:tblPr>
              <a:tblGrid>
                <a:gridCol w="2502228">
                  <a:extLst>
                    <a:ext uri="{9D8B030D-6E8A-4147-A177-3AD203B41FA5}">
                      <a16:colId xmlns:a16="http://schemas.microsoft.com/office/drawing/2014/main" val="533376529"/>
                    </a:ext>
                  </a:extLst>
                </a:gridCol>
                <a:gridCol w="2502228">
                  <a:extLst>
                    <a:ext uri="{9D8B030D-6E8A-4147-A177-3AD203B41FA5}">
                      <a16:colId xmlns:a16="http://schemas.microsoft.com/office/drawing/2014/main" val="3700920973"/>
                    </a:ext>
                  </a:extLst>
                </a:gridCol>
                <a:gridCol w="2370726">
                  <a:extLst>
                    <a:ext uri="{9D8B030D-6E8A-4147-A177-3AD203B41FA5}">
                      <a16:colId xmlns:a16="http://schemas.microsoft.com/office/drawing/2014/main" val="406057796"/>
                    </a:ext>
                  </a:extLst>
                </a:gridCol>
                <a:gridCol w="2399483">
                  <a:extLst>
                    <a:ext uri="{9D8B030D-6E8A-4147-A177-3AD203B41FA5}">
                      <a16:colId xmlns:a16="http://schemas.microsoft.com/office/drawing/2014/main" val="1155172379"/>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views current product terms (contract length, price / quantity, etc.) within PriceAdvisor as a reference point for desired update</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Create new opportunity in CRM. Enter customer ID and revenue and product line expectations tab. Customer details are pulled automatically</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1134255819"/>
                  </a:ext>
                </a:extLst>
              </a:tr>
            </a:tbl>
          </a:graphicData>
        </a:graphic>
      </p:graphicFrame>
      <p:sp>
        <p:nvSpPr>
          <p:cNvPr id="31" name="TextBox 30">
            <a:extLst>
              <a:ext uri="{FF2B5EF4-FFF2-40B4-BE49-F238E27FC236}">
                <a16:creationId xmlns:a16="http://schemas.microsoft.com/office/drawing/2014/main" id="{CB7152C2-6131-9F36-F891-10B49D628C77}"/>
              </a:ext>
            </a:extLst>
          </p:cNvPr>
          <p:cNvSpPr txBox="1"/>
          <p:nvPr/>
        </p:nvSpPr>
        <p:spPr>
          <a:xfrm>
            <a:off x="9560413" y="240394"/>
            <a:ext cx="383362" cy="153888"/>
          </a:xfrm>
          <a:prstGeom prst="rect">
            <a:avLst/>
          </a:prstGeom>
          <a:solidFill>
            <a:schemeClr val="bg1"/>
          </a:solidFill>
        </p:spPr>
        <p:txBody>
          <a:bodyPr wrap="square" lIns="0" tIns="0" rIns="0" bIns="0">
            <a:spAutoFit/>
          </a:bodyPr>
          <a:lstStyle/>
          <a:p>
            <a:pPr algn="ctr"/>
            <a:r>
              <a:rPr lang="en-GB" sz="1000" b="1"/>
              <a:t>Legend</a:t>
            </a:r>
            <a:endParaRPr lang="en-GB" sz="1000" b="1">
              <a:solidFill>
                <a:schemeClr val="tx1"/>
              </a:solidFill>
            </a:endParaRPr>
          </a:p>
        </p:txBody>
      </p:sp>
      <p:sp>
        <p:nvSpPr>
          <p:cNvPr id="32" name="Rectangle 31">
            <a:extLst>
              <a:ext uri="{FF2B5EF4-FFF2-40B4-BE49-F238E27FC236}">
                <a16:creationId xmlns:a16="http://schemas.microsoft.com/office/drawing/2014/main" id="{8495A1E5-B457-3CDD-D894-1608D2F85C4C}"/>
              </a:ext>
            </a:extLst>
          </p:cNvPr>
          <p:cNvSpPr>
            <a:spLocks/>
          </p:cNvSpPr>
          <p:nvPr/>
        </p:nvSpPr>
        <p:spPr>
          <a:xfrm>
            <a:off x="9486574" y="210232"/>
            <a:ext cx="2315640" cy="917595"/>
          </a:xfrm>
          <a:prstGeom prst="rect">
            <a:avLst/>
          </a:prstGeom>
          <a:noFill/>
          <a:ln w="9525">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pPr>
              <a:spcBef>
                <a:spcPts val="300"/>
              </a:spcBef>
            </a:pPr>
            <a:endParaRPr lang="en-GB" sz="900" kern="0">
              <a:solidFill>
                <a:schemeClr val="tx1"/>
              </a:solidFill>
            </a:endParaRPr>
          </a:p>
          <a:p>
            <a:pPr>
              <a:spcBef>
                <a:spcPts val="300"/>
              </a:spcBef>
            </a:pPr>
            <a:r>
              <a:rPr lang="en-GB" sz="900" kern="0">
                <a:solidFill>
                  <a:schemeClr val="tx1"/>
                </a:solidFill>
              </a:rPr>
              <a:t>No or limited change to current process</a:t>
            </a:r>
          </a:p>
          <a:p>
            <a:pPr>
              <a:spcBef>
                <a:spcPts val="300"/>
              </a:spcBef>
            </a:pPr>
            <a:r>
              <a:rPr lang="en-GB" sz="900" kern="0">
                <a:solidFill>
                  <a:schemeClr val="tx1"/>
                </a:solidFill>
              </a:rPr>
              <a:t>Change to current process &amp; tool</a:t>
            </a:r>
          </a:p>
          <a:p>
            <a:pPr>
              <a:spcBef>
                <a:spcPts val="300"/>
              </a:spcBef>
            </a:pPr>
            <a:r>
              <a:rPr lang="en-GB" sz="900" kern="0">
                <a:solidFill>
                  <a:schemeClr val="tx1"/>
                </a:solidFill>
              </a:rPr>
              <a:t>Core initial pricing tool build</a:t>
            </a:r>
          </a:p>
          <a:p>
            <a:pPr>
              <a:spcBef>
                <a:spcPts val="300"/>
              </a:spcBef>
            </a:pPr>
            <a:r>
              <a:rPr lang="en-GB" sz="900" kern="0">
                <a:solidFill>
                  <a:schemeClr val="tx1"/>
                </a:solidFill>
              </a:rPr>
              <a:t>Enabled fast follower capability</a:t>
            </a:r>
          </a:p>
        </p:txBody>
      </p:sp>
      <p:sp>
        <p:nvSpPr>
          <p:cNvPr id="34" name="Rectangle 33">
            <a:extLst>
              <a:ext uri="{FF2B5EF4-FFF2-40B4-BE49-F238E27FC236}">
                <a16:creationId xmlns:a16="http://schemas.microsoft.com/office/drawing/2014/main" id="{7FD1F916-6DD4-9784-2BD5-242AA6F375AA}"/>
              </a:ext>
            </a:extLst>
          </p:cNvPr>
          <p:cNvSpPr>
            <a:spLocks/>
          </p:cNvSpPr>
          <p:nvPr/>
        </p:nvSpPr>
        <p:spPr>
          <a:xfrm>
            <a:off x="9560413" y="947164"/>
            <a:ext cx="143936" cy="116339"/>
          </a:xfrm>
          <a:prstGeom prst="rect">
            <a:avLst/>
          </a:prstGeom>
          <a:solidFill>
            <a:schemeClr val="accent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35" name="Rectangle 34">
            <a:extLst>
              <a:ext uri="{FF2B5EF4-FFF2-40B4-BE49-F238E27FC236}">
                <a16:creationId xmlns:a16="http://schemas.microsoft.com/office/drawing/2014/main" id="{1F8CC8DB-42C8-C389-3E71-ACBC19B56209}"/>
              </a:ext>
            </a:extLst>
          </p:cNvPr>
          <p:cNvSpPr>
            <a:spLocks/>
          </p:cNvSpPr>
          <p:nvPr/>
        </p:nvSpPr>
        <p:spPr>
          <a:xfrm>
            <a:off x="9560413" y="466151"/>
            <a:ext cx="143936" cy="116339"/>
          </a:xfrm>
          <a:prstGeom prst="rect">
            <a:avLst/>
          </a:prstGeom>
          <a:solidFill>
            <a:schemeClr val="bg2">
              <a:lumMod val="8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48" name="Rectangle 47">
            <a:extLst>
              <a:ext uri="{FF2B5EF4-FFF2-40B4-BE49-F238E27FC236}">
                <a16:creationId xmlns:a16="http://schemas.microsoft.com/office/drawing/2014/main" id="{936967A4-A742-C62B-5CAA-1C2DDE14D26D}"/>
              </a:ext>
            </a:extLst>
          </p:cNvPr>
          <p:cNvSpPr>
            <a:spLocks/>
          </p:cNvSpPr>
          <p:nvPr/>
        </p:nvSpPr>
        <p:spPr>
          <a:xfrm>
            <a:off x="9560413" y="623313"/>
            <a:ext cx="143936" cy="116339"/>
          </a:xfrm>
          <a:prstGeom prst="rect">
            <a:avLst/>
          </a:prstGeom>
          <a:solidFill>
            <a:srgbClr val="CAE9D3"/>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51" name="Rectangle 50">
            <a:extLst>
              <a:ext uri="{FF2B5EF4-FFF2-40B4-BE49-F238E27FC236}">
                <a16:creationId xmlns:a16="http://schemas.microsoft.com/office/drawing/2014/main" id="{0C164535-3EFF-67D9-C1D3-845390B38F31}"/>
              </a:ext>
            </a:extLst>
          </p:cNvPr>
          <p:cNvSpPr>
            <a:spLocks/>
          </p:cNvSpPr>
          <p:nvPr/>
        </p:nvSpPr>
        <p:spPr>
          <a:xfrm>
            <a:off x="9560413" y="785238"/>
            <a:ext cx="143936" cy="116339"/>
          </a:xfrm>
          <a:prstGeom prst="rect">
            <a:avLst/>
          </a:prstGeom>
          <a:solidFill>
            <a:schemeClr val="accent5">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wrap="none" lIns="365760" tIns="87782" rIns="87782" bIns="87782" rtlCol="0" anchor="ctr"/>
          <a:lstStyle/>
          <a:p>
            <a:endParaRPr lang="en-GB" sz="900" kern="0">
              <a:solidFill>
                <a:schemeClr val="tx1"/>
              </a:solidFill>
            </a:endParaRPr>
          </a:p>
        </p:txBody>
      </p:sp>
      <p:sp>
        <p:nvSpPr>
          <p:cNvPr id="26" name="Pentagon 1">
            <a:extLst>
              <a:ext uri="{FF2B5EF4-FFF2-40B4-BE49-F238E27FC236}">
                <a16:creationId xmlns:a16="http://schemas.microsoft.com/office/drawing/2014/main" id="{DEC32825-C8CC-A2DE-85D6-B0B3B4C7D621}"/>
              </a:ext>
            </a:extLst>
          </p:cNvPr>
          <p:cNvSpPr>
            <a:spLocks/>
          </p:cNvSpPr>
          <p:nvPr/>
        </p:nvSpPr>
        <p:spPr>
          <a:xfrm>
            <a:off x="6835705" y="242103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28" name="Pentagon 1">
            <a:extLst>
              <a:ext uri="{FF2B5EF4-FFF2-40B4-BE49-F238E27FC236}">
                <a16:creationId xmlns:a16="http://schemas.microsoft.com/office/drawing/2014/main" id="{CBFBCB04-DAF9-63AE-2242-716614BF5888}"/>
              </a:ext>
            </a:extLst>
          </p:cNvPr>
          <p:cNvSpPr>
            <a:spLocks/>
          </p:cNvSpPr>
          <p:nvPr/>
        </p:nvSpPr>
        <p:spPr>
          <a:xfrm>
            <a:off x="1894509" y="3436121"/>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30" name="Pentagon 1">
            <a:extLst>
              <a:ext uri="{FF2B5EF4-FFF2-40B4-BE49-F238E27FC236}">
                <a16:creationId xmlns:a16="http://schemas.microsoft.com/office/drawing/2014/main" id="{A184651B-A314-001D-2472-658923C17537}"/>
              </a:ext>
            </a:extLst>
          </p:cNvPr>
          <p:cNvSpPr>
            <a:spLocks/>
          </p:cNvSpPr>
          <p:nvPr/>
        </p:nvSpPr>
        <p:spPr>
          <a:xfrm>
            <a:off x="9286984" y="3436121"/>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37" name="Pentagon 1">
            <a:extLst>
              <a:ext uri="{FF2B5EF4-FFF2-40B4-BE49-F238E27FC236}">
                <a16:creationId xmlns:a16="http://schemas.microsoft.com/office/drawing/2014/main" id="{9E51A450-5EA4-DAD3-21BF-B0EA998DC489}"/>
              </a:ext>
            </a:extLst>
          </p:cNvPr>
          <p:cNvSpPr>
            <a:spLocks/>
          </p:cNvSpPr>
          <p:nvPr/>
        </p:nvSpPr>
        <p:spPr>
          <a:xfrm>
            <a:off x="4389737" y="343612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40" name="Pentagon 1">
            <a:extLst>
              <a:ext uri="{FF2B5EF4-FFF2-40B4-BE49-F238E27FC236}">
                <a16:creationId xmlns:a16="http://schemas.microsoft.com/office/drawing/2014/main" id="{434004B0-FDDC-C5FE-448D-AB315C907E33}"/>
              </a:ext>
            </a:extLst>
          </p:cNvPr>
          <p:cNvSpPr>
            <a:spLocks/>
          </p:cNvSpPr>
          <p:nvPr/>
        </p:nvSpPr>
        <p:spPr>
          <a:xfrm>
            <a:off x="6835705" y="3438383"/>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57" name="Pentagon 1">
            <a:extLst>
              <a:ext uri="{FF2B5EF4-FFF2-40B4-BE49-F238E27FC236}">
                <a16:creationId xmlns:a16="http://schemas.microsoft.com/office/drawing/2014/main" id="{26F2F39D-3B91-953F-936B-47C5A3A796F5}"/>
              </a:ext>
            </a:extLst>
          </p:cNvPr>
          <p:cNvSpPr>
            <a:spLocks/>
          </p:cNvSpPr>
          <p:nvPr/>
        </p:nvSpPr>
        <p:spPr>
          <a:xfrm>
            <a:off x="1894509" y="4470980"/>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58" name="Pentagon 1">
            <a:extLst>
              <a:ext uri="{FF2B5EF4-FFF2-40B4-BE49-F238E27FC236}">
                <a16:creationId xmlns:a16="http://schemas.microsoft.com/office/drawing/2014/main" id="{2AD391A3-8386-4B4D-6651-3D93237863A3}"/>
              </a:ext>
            </a:extLst>
          </p:cNvPr>
          <p:cNvSpPr>
            <a:spLocks/>
          </p:cNvSpPr>
          <p:nvPr/>
        </p:nvSpPr>
        <p:spPr>
          <a:xfrm>
            <a:off x="9286984" y="4470980"/>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59" name="Pentagon 1">
            <a:extLst>
              <a:ext uri="{FF2B5EF4-FFF2-40B4-BE49-F238E27FC236}">
                <a16:creationId xmlns:a16="http://schemas.microsoft.com/office/drawing/2014/main" id="{77234A9E-4894-292E-92CD-86FE26D0BFA3}"/>
              </a:ext>
            </a:extLst>
          </p:cNvPr>
          <p:cNvSpPr>
            <a:spLocks/>
          </p:cNvSpPr>
          <p:nvPr/>
        </p:nvSpPr>
        <p:spPr>
          <a:xfrm>
            <a:off x="4389737" y="4470980"/>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66" name="Pentagon 1">
            <a:extLst>
              <a:ext uri="{FF2B5EF4-FFF2-40B4-BE49-F238E27FC236}">
                <a16:creationId xmlns:a16="http://schemas.microsoft.com/office/drawing/2014/main" id="{7A7B99AE-EA90-4455-2D58-CF0A4E52D6E0}"/>
              </a:ext>
            </a:extLst>
          </p:cNvPr>
          <p:cNvSpPr>
            <a:spLocks/>
          </p:cNvSpPr>
          <p:nvPr/>
        </p:nvSpPr>
        <p:spPr>
          <a:xfrm>
            <a:off x="6835705" y="4473242"/>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cxnSp>
        <p:nvCxnSpPr>
          <p:cNvPr id="67" name="Connector: Elbow 66">
            <a:extLst>
              <a:ext uri="{FF2B5EF4-FFF2-40B4-BE49-F238E27FC236}">
                <a16:creationId xmlns:a16="http://schemas.microsoft.com/office/drawing/2014/main" id="{39BAA5B6-4012-2D98-606D-B0055C423936}"/>
              </a:ext>
            </a:extLst>
          </p:cNvPr>
          <p:cNvCxnSpPr>
            <a:cxnSpLocks/>
            <a:endCxn id="29" idx="1"/>
          </p:cNvCxnSpPr>
          <p:nvPr/>
        </p:nvCxnSpPr>
        <p:spPr>
          <a:xfrm>
            <a:off x="834436" y="2033134"/>
            <a:ext cx="1065452" cy="980552"/>
          </a:xfrm>
          <a:prstGeom prst="bentConnector3">
            <a:avLst>
              <a:gd name="adj1" fmla="val 133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4C6E1929-3EEC-3B71-007A-BC033E54CD3F}"/>
              </a:ext>
            </a:extLst>
          </p:cNvPr>
          <p:cNvCxnSpPr>
            <a:cxnSpLocks/>
          </p:cNvCxnSpPr>
          <p:nvPr/>
        </p:nvCxnSpPr>
        <p:spPr>
          <a:xfrm rot="16200000" flipH="1">
            <a:off x="388249" y="2489944"/>
            <a:ext cx="1966903" cy="1044050"/>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84AC3371-7857-D925-2DC4-8B46A19AA37D}"/>
              </a:ext>
            </a:extLst>
          </p:cNvPr>
          <p:cNvCxnSpPr>
            <a:cxnSpLocks/>
            <a:endCxn id="56" idx="1"/>
          </p:cNvCxnSpPr>
          <p:nvPr/>
        </p:nvCxnSpPr>
        <p:spPr>
          <a:xfrm rot="16200000" flipH="1">
            <a:off x="-149580" y="3013666"/>
            <a:ext cx="3049503" cy="1049429"/>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Footnote">
            <a:extLst>
              <a:ext uri="{FF2B5EF4-FFF2-40B4-BE49-F238E27FC236}">
                <a16:creationId xmlns:a16="http://schemas.microsoft.com/office/drawing/2014/main" id="{17A5E183-68DF-C971-96D7-D4843C131136}"/>
              </a:ext>
            </a:extLst>
          </p:cNvPr>
          <p:cNvSpPr/>
          <p:nvPr/>
        </p:nvSpPr>
        <p:spPr>
          <a:xfrm>
            <a:off x="457200" y="6460569"/>
            <a:ext cx="11277600" cy="123111"/>
          </a:xfrm>
          <a:prstGeom prst="rect">
            <a:avLst/>
          </a:prstGeom>
        </p:spPr>
        <p:txBody>
          <a:bodyPr vert="horz" lIns="0" tIns="0" rIns="0" bIns="0" rtlCol="0" anchor="b" anchorCtr="0">
            <a:spAutoFit/>
          </a:bodyPr>
          <a:lstStyle/>
          <a:p>
            <a:pPr defTabSz="914370"/>
            <a:r>
              <a:rPr lang="en-GB" sz="800" kern="0"/>
              <a:t>1. Includes new customer ship-to location under current customer family</a:t>
            </a:r>
          </a:p>
        </p:txBody>
      </p:sp>
      <p:graphicFrame>
        <p:nvGraphicFramePr>
          <p:cNvPr id="86" name="Table 85">
            <a:extLst>
              <a:ext uri="{FF2B5EF4-FFF2-40B4-BE49-F238E27FC236}">
                <a16:creationId xmlns:a16="http://schemas.microsoft.com/office/drawing/2014/main" id="{4F859749-0D55-DA4C-6B25-F53A5EE91AF4}"/>
              </a:ext>
            </a:extLst>
          </p:cNvPr>
          <p:cNvGraphicFramePr>
            <a:graphicFrameLocks noGrp="1"/>
          </p:cNvGraphicFramePr>
          <p:nvPr/>
        </p:nvGraphicFramePr>
        <p:xfrm>
          <a:off x="1899886" y="5754540"/>
          <a:ext cx="9774665" cy="637309"/>
        </p:xfrm>
        <a:graphic>
          <a:graphicData uri="http://schemas.openxmlformats.org/drawingml/2006/table">
            <a:tbl>
              <a:tblPr bandRow="1">
                <a:tableStyleId>{1E171933-4619-4E11-9A3F-F7608DF75F80}</a:tableStyleId>
              </a:tblPr>
              <a:tblGrid>
                <a:gridCol w="2502228">
                  <a:extLst>
                    <a:ext uri="{9D8B030D-6E8A-4147-A177-3AD203B41FA5}">
                      <a16:colId xmlns:a16="http://schemas.microsoft.com/office/drawing/2014/main" val="533376529"/>
                    </a:ext>
                  </a:extLst>
                </a:gridCol>
                <a:gridCol w="2502228">
                  <a:extLst>
                    <a:ext uri="{9D8B030D-6E8A-4147-A177-3AD203B41FA5}">
                      <a16:colId xmlns:a16="http://schemas.microsoft.com/office/drawing/2014/main" val="3700920973"/>
                    </a:ext>
                  </a:extLst>
                </a:gridCol>
                <a:gridCol w="2370726">
                  <a:extLst>
                    <a:ext uri="{9D8B030D-6E8A-4147-A177-3AD203B41FA5}">
                      <a16:colId xmlns:a16="http://schemas.microsoft.com/office/drawing/2014/main" val="406057796"/>
                    </a:ext>
                  </a:extLst>
                </a:gridCol>
                <a:gridCol w="2399483">
                  <a:extLst>
                    <a:ext uri="{9D8B030D-6E8A-4147-A177-3AD203B41FA5}">
                      <a16:colId xmlns:a16="http://schemas.microsoft.com/office/drawing/2014/main" val="1155172379"/>
                    </a:ext>
                  </a:extLst>
                </a:gridCol>
              </a:tblGrid>
              <a:tr h="637309">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latin typeface="+mn-lt"/>
                          <a:ea typeface="+mn-ea"/>
                          <a:cs typeface="+mn-cs"/>
                        </a:rPr>
                        <a:t>N/A</a:t>
                      </a: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p>
                  </a:txBody>
                  <a:tcPr marT="41564" marB="41564"/>
                </a:tc>
                <a:tc>
                  <a:txBody>
                    <a:bodyPr/>
                    <a:lstStyle/>
                    <a:p>
                      <a:pPr marL="0" marR="0" lvl="0" indent="0" algn="l"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u="none" strike="noStrike" kern="0" cap="none" spc="0" normalizeH="0" baseline="0">
                          <a:ln>
                            <a:noFill/>
                          </a:ln>
                          <a:solidFill>
                            <a:schemeClr val="tx1"/>
                          </a:solidFill>
                          <a:effectLst/>
                          <a:uLnTx/>
                          <a:uFillTx/>
                        </a:rPr>
                        <a:t>Rep views current product terms (contract length, price / quantity, etc.) within PriceAdvisor as a reference point for desired update</a:t>
                      </a:r>
                      <a:endParaRPr kumimoji="0" lang="en-GB" sz="900" b="0" i="0" u="none" strike="noStrike" kern="0" cap="none" spc="0" normalizeH="0" baseline="0">
                        <a:ln>
                          <a:noFill/>
                        </a:ln>
                        <a:solidFill>
                          <a:schemeClr val="tx1"/>
                        </a:solidFill>
                        <a:effectLst/>
                        <a:uLnTx/>
                        <a:uFillTx/>
                        <a:latin typeface="+mn-lt"/>
                        <a:ea typeface="+mn-ea"/>
                        <a:cs typeface="+mn-cs"/>
                      </a:endParaRPr>
                    </a:p>
                  </a:txBody>
                  <a:tcPr marT="41564" marB="41564"/>
                </a:tc>
                <a:tc>
                  <a:txBody>
                    <a:bodyPr/>
                    <a:lstStyle/>
                    <a:p>
                      <a:pPr marL="0" marR="0" lvl="0" indent="0" algn="ctr" defTabSz="914370" rtl="0" eaLnBrk="1" fontAlgn="auto" latinLnBrk="0" hangingPunct="1">
                        <a:lnSpc>
                          <a:spcPct val="100000"/>
                        </a:lnSpc>
                        <a:spcBef>
                          <a:spcPts val="600"/>
                        </a:spcBef>
                        <a:spcAft>
                          <a:spcPts val="0"/>
                        </a:spcAft>
                        <a:buClrTx/>
                        <a:buSzPct val="100000"/>
                        <a:buFont typeface="Arial" panose="020B0604020202020204" pitchFamily="34" charset="0"/>
                        <a:buNone/>
                        <a:tabLst/>
                        <a:defRPr/>
                      </a:pPr>
                      <a:r>
                        <a:rPr kumimoji="0" lang="en-GB" sz="900" b="0" i="1" u="none" strike="noStrike" kern="0" cap="none" spc="0" normalizeH="0" baseline="0">
                          <a:ln>
                            <a:noFill/>
                          </a:ln>
                          <a:solidFill>
                            <a:schemeClr val="tx1"/>
                          </a:solidFill>
                          <a:effectLst/>
                          <a:uLnTx/>
                          <a:uFillTx/>
                        </a:rPr>
                        <a:t>N/A</a:t>
                      </a:r>
                      <a:endParaRPr kumimoji="0" lang="en-GB" sz="900" b="0" i="1" u="none" strike="noStrike" kern="0" cap="none" spc="0" normalizeH="0" baseline="0">
                        <a:ln>
                          <a:noFill/>
                        </a:ln>
                        <a:solidFill>
                          <a:schemeClr val="tx1"/>
                        </a:solidFill>
                        <a:effectLst/>
                        <a:uLnTx/>
                        <a:uFillTx/>
                        <a:latin typeface="+mn-lt"/>
                        <a:ea typeface="+mn-ea"/>
                        <a:cs typeface="+mn-cs"/>
                      </a:endParaRPr>
                    </a:p>
                  </a:txBody>
                  <a:tcPr marT="41564" marB="41564"/>
                </a:tc>
                <a:extLst>
                  <a:ext uri="{0D108BD9-81ED-4DB2-BD59-A6C34878D82A}">
                    <a16:rowId xmlns:a16="http://schemas.microsoft.com/office/drawing/2014/main" val="1134255819"/>
                  </a:ext>
                </a:extLst>
              </a:tr>
            </a:tbl>
          </a:graphicData>
        </a:graphic>
      </p:graphicFrame>
      <p:sp>
        <p:nvSpPr>
          <p:cNvPr id="87" name="Pentagon 1">
            <a:extLst>
              <a:ext uri="{FF2B5EF4-FFF2-40B4-BE49-F238E27FC236}">
                <a16:creationId xmlns:a16="http://schemas.microsoft.com/office/drawing/2014/main" id="{2FE1D1CD-1157-6374-241E-3109953087F2}"/>
              </a:ext>
            </a:extLst>
          </p:cNvPr>
          <p:cNvSpPr>
            <a:spLocks/>
          </p:cNvSpPr>
          <p:nvPr/>
        </p:nvSpPr>
        <p:spPr>
          <a:xfrm>
            <a:off x="1894509" y="5481041"/>
            <a:ext cx="2570544" cy="266619"/>
          </a:xfrm>
          <a:prstGeom prst="homePlate">
            <a:avLst>
              <a:gd name="adj" fmla="val 49156"/>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1.1 Customer setup request</a:t>
            </a:r>
          </a:p>
        </p:txBody>
      </p:sp>
      <p:sp>
        <p:nvSpPr>
          <p:cNvPr id="88" name="Pentagon 1">
            <a:extLst>
              <a:ext uri="{FF2B5EF4-FFF2-40B4-BE49-F238E27FC236}">
                <a16:creationId xmlns:a16="http://schemas.microsoft.com/office/drawing/2014/main" id="{22FFF902-60D1-B89A-65FD-C209C547B3D5}"/>
              </a:ext>
            </a:extLst>
          </p:cNvPr>
          <p:cNvSpPr>
            <a:spLocks/>
          </p:cNvSpPr>
          <p:nvPr/>
        </p:nvSpPr>
        <p:spPr>
          <a:xfrm>
            <a:off x="9286984" y="5481041"/>
            <a:ext cx="2519894" cy="266619"/>
          </a:xfrm>
          <a:prstGeom prst="chevron">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1.4 Create Opportunity</a:t>
            </a:r>
          </a:p>
        </p:txBody>
      </p:sp>
      <p:sp>
        <p:nvSpPr>
          <p:cNvPr id="89" name="Pentagon 1">
            <a:extLst>
              <a:ext uri="{FF2B5EF4-FFF2-40B4-BE49-F238E27FC236}">
                <a16:creationId xmlns:a16="http://schemas.microsoft.com/office/drawing/2014/main" id="{362D717A-DD07-DBF9-6628-FC336011DE04}"/>
              </a:ext>
            </a:extLst>
          </p:cNvPr>
          <p:cNvSpPr>
            <a:spLocks/>
          </p:cNvSpPr>
          <p:nvPr/>
        </p:nvSpPr>
        <p:spPr>
          <a:xfrm>
            <a:off x="4389737" y="5481041"/>
            <a:ext cx="2519894" cy="266619"/>
          </a:xfrm>
          <a:prstGeom prst="chevron">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1.2 Segment assignment</a:t>
            </a:r>
          </a:p>
        </p:txBody>
      </p:sp>
      <p:sp>
        <p:nvSpPr>
          <p:cNvPr id="90" name="Pentagon 1">
            <a:extLst>
              <a:ext uri="{FF2B5EF4-FFF2-40B4-BE49-F238E27FC236}">
                <a16:creationId xmlns:a16="http://schemas.microsoft.com/office/drawing/2014/main" id="{366E37C3-D008-474F-A1B3-EB17140FBBE5}"/>
              </a:ext>
            </a:extLst>
          </p:cNvPr>
          <p:cNvSpPr>
            <a:spLocks/>
          </p:cNvSpPr>
          <p:nvPr/>
        </p:nvSpPr>
        <p:spPr>
          <a:xfrm>
            <a:off x="6835705" y="5483303"/>
            <a:ext cx="2519894" cy="266619"/>
          </a:xfrm>
          <a:prstGeom prst="chevron">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1000" b="1">
                <a:solidFill>
                  <a:schemeClr val="tx1"/>
                </a:solidFill>
              </a:rPr>
              <a:t>1.3 Locate Prior Terms</a:t>
            </a:r>
          </a:p>
        </p:txBody>
      </p:sp>
      <p:sp>
        <p:nvSpPr>
          <p:cNvPr id="91" name="TextBox 90">
            <a:extLst>
              <a:ext uri="{FF2B5EF4-FFF2-40B4-BE49-F238E27FC236}">
                <a16:creationId xmlns:a16="http://schemas.microsoft.com/office/drawing/2014/main" id="{19B5955E-3C63-591D-4E39-C4A33A972C32}"/>
              </a:ext>
            </a:extLst>
          </p:cNvPr>
          <p:cNvSpPr txBox="1"/>
          <p:nvPr/>
        </p:nvSpPr>
        <p:spPr>
          <a:xfrm rot="5400000">
            <a:off x="1017888" y="5219675"/>
            <a:ext cx="738664" cy="914391"/>
          </a:xfrm>
          <a:prstGeom prst="rect">
            <a:avLst/>
          </a:prstGeom>
          <a:noFill/>
        </p:spPr>
        <p:txBody>
          <a:bodyPr vert="vert270" wrap="square" lIns="0" tIns="0" rIns="0" bIns="0" rtlCol="0" anchor="ctr">
            <a:spAutoFit/>
          </a:bodyPr>
          <a:lstStyle/>
          <a:p>
            <a:r>
              <a:rPr lang="en-GB" sz="1200" b="1" kern="0">
                <a:latin typeface="+mj-lt"/>
              </a:rPr>
              <a:t>D. Existing customer, product update</a:t>
            </a:r>
          </a:p>
        </p:txBody>
      </p:sp>
      <p:cxnSp>
        <p:nvCxnSpPr>
          <p:cNvPr id="94" name="Connector: Elbow 93">
            <a:extLst>
              <a:ext uri="{FF2B5EF4-FFF2-40B4-BE49-F238E27FC236}">
                <a16:creationId xmlns:a16="http://schemas.microsoft.com/office/drawing/2014/main" id="{461DF280-73DA-35FA-ABC9-BAAEC44B2AA1}"/>
              </a:ext>
            </a:extLst>
          </p:cNvPr>
          <p:cNvCxnSpPr>
            <a:cxnSpLocks/>
            <a:endCxn id="86" idx="1"/>
          </p:cNvCxnSpPr>
          <p:nvPr/>
        </p:nvCxnSpPr>
        <p:spPr>
          <a:xfrm rot="16200000" flipH="1">
            <a:off x="-644844" y="3528464"/>
            <a:ext cx="4040026" cy="1049434"/>
          </a:xfrm>
          <a:prstGeom prst="bentConnector2">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Pentagon 1">
            <a:extLst>
              <a:ext uri="{FF2B5EF4-FFF2-40B4-BE49-F238E27FC236}">
                <a16:creationId xmlns:a16="http://schemas.microsoft.com/office/drawing/2014/main" id="{F5BEEC72-9DBE-E50B-4BE7-34B957233CCF}"/>
              </a:ext>
            </a:extLst>
          </p:cNvPr>
          <p:cNvSpPr>
            <a:spLocks/>
          </p:cNvSpPr>
          <p:nvPr/>
        </p:nvSpPr>
        <p:spPr>
          <a:xfrm>
            <a:off x="463529" y="1673646"/>
            <a:ext cx="2690428" cy="354870"/>
          </a:xfrm>
          <a:prstGeom prst="homePlate">
            <a:avLst/>
          </a:prstGeom>
          <a:solidFill>
            <a:srgbClr val="CAE9D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 tIns="34290" rIns="18288" bIns="34290" numCol="1" spcCol="0" rtlCol="0" fromWordArt="0" anchor="ctr" anchorCtr="0" forceAA="0" compatLnSpc="1">
            <a:prstTxWarp prst="textNoShape">
              <a:avLst/>
            </a:prstTxWarp>
            <a:noAutofit/>
          </a:bodyPr>
          <a:lstStyle/>
          <a:p>
            <a:pPr algn="ctr"/>
            <a:r>
              <a:rPr lang="en-GB" sz="800" b="1">
                <a:solidFill>
                  <a:schemeClr val="tx1"/>
                </a:solidFill>
              </a:rPr>
              <a:t>Process differs 1.1 to 1.4</a:t>
            </a:r>
          </a:p>
        </p:txBody>
      </p:sp>
    </p:spTree>
    <p:extLst>
      <p:ext uri="{BB962C8B-B14F-4D97-AF65-F5344CB8AC3E}">
        <p14:creationId xmlns:p14="http://schemas.microsoft.com/office/powerpoint/2010/main" val="328270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3CDF6-CC13-3378-7A9F-931619198CE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1E35026-4089-71F6-E6C4-F707F9819654}"/>
              </a:ext>
            </a:extLst>
          </p:cNvPr>
          <p:cNvSpPr>
            <a:spLocks noGrp="1"/>
          </p:cNvSpPr>
          <p:nvPr>
            <p:ph type="body" sz="quarter" idx="12"/>
          </p:nvPr>
        </p:nvSpPr>
        <p:spPr>
          <a:xfrm>
            <a:off x="457200" y="1536175"/>
            <a:ext cx="8348472" cy="3046988"/>
          </a:xfrm>
        </p:spPr>
        <p:txBody>
          <a:bodyPr/>
          <a:lstStyle/>
          <a:p>
            <a:r>
              <a:rPr lang="en-GB" sz="6600" dirty="0"/>
              <a:t>CRM overview and opportunity/Quote form changes</a:t>
            </a:r>
            <a:endParaRPr lang="en-GB" sz="6600" dirty="0">
              <a:solidFill>
                <a:srgbClr val="FF8C00"/>
              </a:solidFill>
            </a:endParaRPr>
          </a:p>
        </p:txBody>
      </p:sp>
    </p:spTree>
    <p:extLst>
      <p:ext uri="{BB962C8B-B14F-4D97-AF65-F5344CB8AC3E}">
        <p14:creationId xmlns:p14="http://schemas.microsoft.com/office/powerpoint/2010/main" val="53147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F311449-52AE-000B-DCBF-C6C0722E3B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CF311449-52AE-000B-DCBF-C6C0722E3B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8" name="Content Placeholder 5">
            <a:extLst>
              <a:ext uri="{FF2B5EF4-FFF2-40B4-BE49-F238E27FC236}">
                <a16:creationId xmlns:a16="http://schemas.microsoft.com/office/drawing/2014/main" id="{0859AEE9-F6C2-DE8A-1E6D-1A96CCF13ADD}"/>
              </a:ext>
            </a:extLst>
          </p:cNvPr>
          <p:cNvSpPr txBox="1">
            <a:spLocks/>
          </p:cNvSpPr>
          <p:nvPr/>
        </p:nvSpPr>
        <p:spPr>
          <a:xfrm>
            <a:off x="457200" y="1399032"/>
            <a:ext cx="5410200" cy="5001768"/>
          </a:xfrm>
          <a:prstGeom prst="rect">
            <a:avLst/>
          </a:prstGeom>
        </p:spPr>
        <p:txBody>
          <a:bodyPr vert="horz" lIns="0" tIns="0" rIns="0" bIns="0" rtlCol="0">
            <a:noAutofit/>
          </a:bodyPr>
          <a:lst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228600" indent="-228600">
              <a:buFont typeface="+mj-lt"/>
              <a:buAutoNum type="arabicPeriod"/>
            </a:pPr>
            <a:r>
              <a:rPr lang="en-US" sz="1100" b="1"/>
              <a:t>Opportunity is created in CRM</a:t>
            </a:r>
          </a:p>
          <a:p>
            <a:pPr lvl="1">
              <a:buFont typeface="Courier New" panose="02070309020205020404" pitchFamily="49" charset="0"/>
              <a:buChar char="o"/>
            </a:pPr>
            <a:r>
              <a:rPr lang="en-US" sz="1100"/>
              <a:t>At this point, the opportunity is just the sales container; quoting doesn’t happen</a:t>
            </a:r>
          </a:p>
          <a:p>
            <a:pPr lvl="1">
              <a:buFont typeface="Courier New" panose="02070309020205020404" pitchFamily="49" charset="0"/>
              <a:buChar char="o"/>
            </a:pPr>
            <a:endParaRPr lang="en-US" sz="1100"/>
          </a:p>
          <a:p>
            <a:pPr marL="228600" indent="-228600">
              <a:buFont typeface="+mj-lt"/>
              <a:buAutoNum type="arabicPeriod"/>
            </a:pPr>
            <a:r>
              <a:rPr lang="en-US" sz="1100" b="1"/>
              <a:t>Sales rep launches </a:t>
            </a:r>
            <a:r>
              <a:rPr lang="en-US" sz="1100" b="1" err="1"/>
              <a:t>PriceAdvisor</a:t>
            </a:r>
            <a:r>
              <a:rPr lang="en-US" sz="1100" b="1"/>
              <a:t> from the Opportunity</a:t>
            </a:r>
          </a:p>
          <a:p>
            <a:pPr lvl="1">
              <a:buFont typeface="Courier New" panose="02070309020205020404" pitchFamily="49" charset="0"/>
              <a:buChar char="o"/>
            </a:pPr>
            <a:r>
              <a:rPr lang="en-US" sz="1100" err="1"/>
              <a:t>PriceAdvisor</a:t>
            </a:r>
            <a:r>
              <a:rPr lang="en-US" sz="1100"/>
              <a:t> becomes the quoting workspace.</a:t>
            </a:r>
          </a:p>
          <a:p>
            <a:pPr lvl="1">
              <a:buFont typeface="Courier New" panose="02070309020205020404" pitchFamily="49" charset="0"/>
              <a:buChar char="o"/>
            </a:pPr>
            <a:endParaRPr lang="en-US" sz="1100"/>
          </a:p>
          <a:p>
            <a:pPr marL="228600" indent="-228600">
              <a:buFont typeface="+mj-lt"/>
              <a:buAutoNum type="arabicPeriod"/>
            </a:pPr>
            <a:r>
              <a:rPr lang="en-US" sz="1100" b="1"/>
              <a:t>Quote is built in </a:t>
            </a:r>
            <a:r>
              <a:rPr lang="en-US" sz="1100" b="1" err="1"/>
              <a:t>PriceAdvisor</a:t>
            </a:r>
            <a:endParaRPr lang="en-US" sz="1100" b="1"/>
          </a:p>
          <a:p>
            <a:pPr lvl="1">
              <a:buFont typeface="Courier New" panose="02070309020205020404" pitchFamily="49" charset="0"/>
              <a:buChar char="o"/>
            </a:pPr>
            <a:r>
              <a:rPr lang="en-US" sz="1100"/>
              <a:t>Products, revenue, margin, price guidance, and deal score are calculated.</a:t>
            </a:r>
          </a:p>
          <a:p>
            <a:pPr lvl="1">
              <a:buFont typeface="Courier New" panose="02070309020205020404" pitchFamily="49" charset="0"/>
              <a:buChar char="o"/>
            </a:pPr>
            <a:r>
              <a:rPr lang="en-US" sz="1100"/>
              <a:t>Leading PL1 is calculated from quote lines.</a:t>
            </a:r>
          </a:p>
          <a:p>
            <a:pPr lvl="1">
              <a:buFont typeface="Courier New" panose="02070309020205020404" pitchFamily="49" charset="0"/>
              <a:buChar char="o"/>
            </a:pPr>
            <a:r>
              <a:rPr lang="en-US" sz="1100"/>
              <a:t>Approval level is calculated: Auto-approve / L1 / L2 / L3 / L4 / Auto-reject</a:t>
            </a:r>
          </a:p>
          <a:p>
            <a:pPr lvl="1">
              <a:buFont typeface="Courier New" panose="02070309020205020404" pitchFamily="49" charset="0"/>
              <a:buChar char="o"/>
            </a:pPr>
            <a:r>
              <a:rPr lang="en-US" sz="1100"/>
              <a:t>Required approvers are identified using:</a:t>
            </a:r>
          </a:p>
          <a:p>
            <a:pPr lvl="2">
              <a:buFont typeface="Arial" panose="020B0604020202020204" pitchFamily="34" charset="0"/>
              <a:buChar char="•"/>
            </a:pPr>
            <a:r>
              <a:rPr lang="en-US" sz="1100"/>
              <a:t>Sales Recap To table for Sales Manager / CBU Lead</a:t>
            </a:r>
          </a:p>
          <a:p>
            <a:pPr lvl="2">
              <a:buFont typeface="Arial" panose="020B0604020202020204" pitchFamily="34" charset="0"/>
              <a:buChar char="•"/>
            </a:pPr>
            <a:r>
              <a:rPr lang="en-US" sz="1100"/>
              <a:t>PM table for Product Manager / Portfolio Director</a:t>
            </a:r>
          </a:p>
          <a:p>
            <a:pPr lvl="2">
              <a:buFont typeface="Arial" panose="020B0604020202020204" pitchFamily="34" charset="0"/>
              <a:buChar char="•"/>
            </a:pPr>
            <a:r>
              <a:rPr lang="en-US" sz="1100"/>
              <a:t>Commercial / Enterprise queue setup for L3 / L4</a:t>
            </a:r>
          </a:p>
          <a:p>
            <a:pPr lvl="1">
              <a:buFont typeface="Courier New" panose="02070309020205020404" pitchFamily="49" charset="0"/>
              <a:buChar char="o"/>
            </a:pPr>
            <a:endParaRPr lang="en-US" sz="1100"/>
          </a:p>
          <a:p>
            <a:pPr marL="228600" indent="-228600">
              <a:buFont typeface="+mj-lt"/>
              <a:buAutoNum type="arabicPeriod"/>
            </a:pPr>
            <a:r>
              <a:rPr lang="en-US" sz="1100" b="1" err="1"/>
              <a:t>PriceAdvisor</a:t>
            </a:r>
            <a:r>
              <a:rPr lang="en-US" sz="1100" b="1"/>
              <a:t> writes the completed quote to CRM</a:t>
            </a:r>
          </a:p>
          <a:p>
            <a:pPr lvl="1">
              <a:buFont typeface="Courier New" panose="02070309020205020404" pitchFamily="49" charset="0"/>
              <a:buChar char="o"/>
            </a:pPr>
            <a:r>
              <a:rPr lang="en-US" sz="1100"/>
              <a:t>Once the rep finishes, it writes the quote data back to Dynamics.</a:t>
            </a:r>
          </a:p>
          <a:p>
            <a:pPr lvl="1">
              <a:buFont typeface="Courier New" panose="02070309020205020404" pitchFamily="49" charset="0"/>
              <a:buChar char="o"/>
            </a:pPr>
            <a:r>
              <a:rPr lang="en-US" sz="1100"/>
              <a:t>It creates or updates the separate CRM Quote record linked to the Opportunity.</a:t>
            </a:r>
          </a:p>
          <a:p>
            <a:pPr lvl="1">
              <a:buFont typeface="Courier New" panose="02070309020205020404" pitchFamily="49" charset="0"/>
              <a:buChar char="o"/>
            </a:pPr>
            <a:r>
              <a:rPr lang="en-US" sz="1100"/>
              <a:t>CRM quote receives leading PL1, level of approval, quote approval status…</a:t>
            </a:r>
          </a:p>
          <a:p>
            <a:pPr lvl="1">
              <a:buFont typeface="Courier New" panose="02070309020205020404" pitchFamily="49" charset="0"/>
              <a:buChar char="o"/>
            </a:pPr>
            <a:endParaRPr lang="en-US" sz="1100"/>
          </a:p>
        </p:txBody>
      </p:sp>
      <p:sp>
        <p:nvSpPr>
          <p:cNvPr id="29" name="Content Placeholder 12">
            <a:extLst>
              <a:ext uri="{FF2B5EF4-FFF2-40B4-BE49-F238E27FC236}">
                <a16:creationId xmlns:a16="http://schemas.microsoft.com/office/drawing/2014/main" id="{84B1AC5B-3B74-2609-5C0E-DF5E73D12006}"/>
              </a:ext>
            </a:extLst>
          </p:cNvPr>
          <p:cNvSpPr txBox="1">
            <a:spLocks/>
          </p:cNvSpPr>
          <p:nvPr/>
        </p:nvSpPr>
        <p:spPr>
          <a:xfrm>
            <a:off x="6324600" y="1399032"/>
            <a:ext cx="5410199" cy="5001768"/>
          </a:xfrm>
          <a:prstGeom prst="rect">
            <a:avLst/>
          </a:prstGeom>
        </p:spPr>
        <p:txBody>
          <a:bodyPr/>
          <a:lst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a:lstStyle>
          <a:p>
            <a:pPr marL="228600" indent="-228600">
              <a:buFont typeface="+mj-lt"/>
              <a:buAutoNum type="arabicPeriod" startAt="5"/>
            </a:pPr>
            <a:r>
              <a:rPr lang="en-US" sz="1100" b="1"/>
              <a:t>Quote submitted for approval and routed to queues</a:t>
            </a:r>
          </a:p>
          <a:p>
            <a:pPr lvl="1">
              <a:buFont typeface="Courier New" panose="02070309020205020404" pitchFamily="49" charset="0"/>
              <a:buChar char="o"/>
            </a:pPr>
            <a:r>
              <a:rPr lang="en-US" sz="1100"/>
              <a:t>Quote approval status moves to the first required approval step</a:t>
            </a:r>
          </a:p>
          <a:p>
            <a:pPr lvl="1">
              <a:buFont typeface="Courier New" panose="02070309020205020404" pitchFamily="49" charset="0"/>
              <a:buChar char="o"/>
            </a:pPr>
            <a:r>
              <a:rPr lang="en-US" sz="1100"/>
              <a:t>Quote is routed to the relevant queues as per approval process</a:t>
            </a:r>
          </a:p>
          <a:p>
            <a:pPr lvl="1">
              <a:buFont typeface="Courier New" panose="02070309020205020404" pitchFamily="49" charset="0"/>
              <a:buChar char="o"/>
            </a:pPr>
            <a:r>
              <a:rPr lang="en-US" sz="1100"/>
              <a:t>CRM Quote object fields:</a:t>
            </a:r>
          </a:p>
          <a:p>
            <a:pPr lvl="2">
              <a:buFont typeface="Arial" panose="020B0604020202020204" pitchFamily="34" charset="0"/>
              <a:buChar char="•"/>
            </a:pPr>
            <a:r>
              <a:rPr lang="en-US" sz="1100"/>
              <a:t>Quote approval status = current pending approval step</a:t>
            </a:r>
          </a:p>
          <a:p>
            <a:pPr lvl="2">
              <a:buFont typeface="Arial" panose="020B0604020202020204" pitchFamily="34" charset="0"/>
              <a:buChar char="•"/>
            </a:pPr>
            <a:r>
              <a:rPr lang="en-US" sz="1100"/>
              <a:t>Current queue = queue receiving the work item</a:t>
            </a:r>
          </a:p>
          <a:p>
            <a:pPr lvl="2">
              <a:buFont typeface="Arial" panose="020B0604020202020204" pitchFamily="34" charset="0"/>
              <a:buChar char="•"/>
            </a:pPr>
            <a:r>
              <a:rPr lang="en-US" sz="1100"/>
              <a:t>Current approver = person/team responsible</a:t>
            </a:r>
          </a:p>
          <a:p>
            <a:pPr lvl="2">
              <a:buFont typeface="Arial" panose="020B0604020202020204" pitchFamily="34" charset="0"/>
              <a:buChar char="•"/>
            </a:pPr>
            <a:endParaRPr lang="en-US" sz="1100"/>
          </a:p>
          <a:p>
            <a:pPr marL="228600" indent="-228600">
              <a:buFont typeface="+mj-lt"/>
              <a:buAutoNum type="arabicPeriod" startAt="7"/>
            </a:pPr>
            <a:r>
              <a:rPr lang="en-US" sz="1100" b="1"/>
              <a:t>Approver acts on the CRM Quote</a:t>
            </a:r>
          </a:p>
          <a:p>
            <a:pPr lvl="1">
              <a:buFont typeface="Courier New" panose="02070309020205020404" pitchFamily="49" charset="0"/>
              <a:buChar char="o"/>
            </a:pPr>
            <a:r>
              <a:rPr lang="en-US" sz="1100"/>
              <a:t>Approver opens the queued CRM Quote and takes action:</a:t>
            </a:r>
          </a:p>
          <a:p>
            <a:pPr lvl="2">
              <a:buFont typeface="Arial" panose="020B0604020202020204" pitchFamily="34" charset="0"/>
              <a:buChar char="•"/>
            </a:pPr>
            <a:r>
              <a:rPr lang="en-US" sz="1100"/>
              <a:t>Approve or Reject</a:t>
            </a:r>
          </a:p>
          <a:p>
            <a:pPr lvl="1">
              <a:buFont typeface="Courier New" panose="02070309020205020404" pitchFamily="49" charset="0"/>
              <a:buChar char="o"/>
            </a:pPr>
            <a:r>
              <a:rPr lang="en-US" sz="1100"/>
              <a:t>If more approval is needed:</a:t>
            </a:r>
          </a:p>
          <a:p>
            <a:pPr lvl="2">
              <a:buFont typeface="Arial" panose="020B0604020202020204" pitchFamily="34" charset="0"/>
              <a:buChar char="•"/>
            </a:pPr>
            <a:r>
              <a:rPr lang="en-US" sz="1100"/>
              <a:t>Current queue item is completed</a:t>
            </a:r>
          </a:p>
          <a:p>
            <a:pPr lvl="2">
              <a:buFont typeface="Arial" panose="020B0604020202020204" pitchFamily="34" charset="0"/>
              <a:buChar char="•"/>
            </a:pPr>
            <a:r>
              <a:rPr lang="en-US" sz="1100"/>
              <a:t>Next queue item is created</a:t>
            </a:r>
          </a:p>
          <a:p>
            <a:pPr lvl="2">
              <a:buFont typeface="Arial" panose="020B0604020202020204" pitchFamily="34" charset="0"/>
              <a:buChar char="•"/>
            </a:pPr>
            <a:r>
              <a:rPr lang="en-US" sz="1100"/>
              <a:t>Quote approval status moves to the next approval step</a:t>
            </a:r>
          </a:p>
          <a:p>
            <a:pPr lvl="1">
              <a:buFont typeface="Courier New" panose="02070309020205020404" pitchFamily="49" charset="0"/>
              <a:buChar char="o"/>
            </a:pPr>
            <a:r>
              <a:rPr lang="en-US" sz="1100"/>
              <a:t>If final approval is reached:</a:t>
            </a:r>
          </a:p>
          <a:p>
            <a:pPr lvl="2">
              <a:buFont typeface="Arial" panose="020B0604020202020204" pitchFamily="34" charset="0"/>
              <a:buChar char="•"/>
            </a:pPr>
            <a:r>
              <a:rPr lang="en-US" sz="1100"/>
              <a:t>Quote approval status = Approved</a:t>
            </a:r>
          </a:p>
          <a:p>
            <a:pPr lvl="2">
              <a:buFont typeface="Arial" panose="020B0604020202020204" pitchFamily="34" charset="0"/>
              <a:buChar char="•"/>
            </a:pPr>
            <a:r>
              <a:rPr lang="en-US" sz="1100"/>
              <a:t>Quote status = Approved</a:t>
            </a:r>
          </a:p>
          <a:p>
            <a:pPr lvl="1">
              <a:buFont typeface="Courier New" panose="02070309020205020404" pitchFamily="49" charset="0"/>
              <a:buChar char="o"/>
            </a:pPr>
            <a:r>
              <a:rPr lang="en-US" sz="1100"/>
              <a:t>If rejected:</a:t>
            </a:r>
          </a:p>
          <a:p>
            <a:pPr lvl="2">
              <a:buFont typeface="Arial" panose="020B0604020202020204" pitchFamily="34" charset="0"/>
              <a:buChar char="•"/>
            </a:pPr>
            <a:r>
              <a:rPr lang="en-US" sz="1100"/>
              <a:t>Quote approval status = Rejected</a:t>
            </a:r>
          </a:p>
          <a:p>
            <a:pPr lvl="2">
              <a:buFont typeface="Arial" panose="020B0604020202020204" pitchFamily="34" charset="0"/>
              <a:buChar char="•"/>
            </a:pPr>
            <a:r>
              <a:rPr lang="en-US" sz="1100"/>
              <a:t>Quote returns to the sales rep / </a:t>
            </a:r>
            <a:r>
              <a:rPr lang="en-US" sz="1100" err="1"/>
              <a:t>PriceAdvisor</a:t>
            </a:r>
            <a:r>
              <a:rPr lang="en-US" sz="1100"/>
              <a:t> workflow as needed</a:t>
            </a:r>
          </a:p>
          <a:p>
            <a:pPr lvl="2">
              <a:buFont typeface="Arial" panose="020B0604020202020204" pitchFamily="34" charset="0"/>
              <a:buChar char="•"/>
            </a:pPr>
            <a:endParaRPr lang="en-US" sz="1100"/>
          </a:p>
          <a:p>
            <a:pPr marL="228600" indent="-228600">
              <a:buFont typeface="+mj-lt"/>
              <a:buAutoNum type="arabicPeriod" startAt="8"/>
            </a:pPr>
            <a:r>
              <a:rPr lang="en-US" sz="1100" b="1"/>
              <a:t>Opportunity reflects the CRM Quote status</a:t>
            </a:r>
          </a:p>
          <a:p>
            <a:pPr lvl="1">
              <a:buFont typeface="Courier New" panose="02070309020205020404" pitchFamily="49" charset="0"/>
              <a:buChar char="o"/>
            </a:pPr>
            <a:r>
              <a:rPr lang="en-US" sz="1100"/>
              <a:t>Business Process Flow stages are a visual representation of quote’s progress</a:t>
            </a:r>
          </a:p>
        </p:txBody>
      </p:sp>
      <p:sp>
        <p:nvSpPr>
          <p:cNvPr id="32" name="Title 4">
            <a:extLst>
              <a:ext uri="{FF2B5EF4-FFF2-40B4-BE49-F238E27FC236}">
                <a16:creationId xmlns:a16="http://schemas.microsoft.com/office/drawing/2014/main" id="{8FCDFA27-FDAA-8747-50CB-6EE5A7F8AEEE}"/>
              </a:ext>
            </a:extLst>
          </p:cNvPr>
          <p:cNvSpPr>
            <a:spLocks noGrp="1"/>
          </p:cNvSpPr>
          <p:nvPr>
            <p:ph type="title"/>
          </p:nvPr>
        </p:nvSpPr>
        <p:spPr>
          <a:xfrm>
            <a:off x="457200" y="384048"/>
            <a:ext cx="11277600" cy="758952"/>
          </a:xfrm>
        </p:spPr>
        <p:txBody>
          <a:bodyPr vert="horz"/>
          <a:lstStyle/>
          <a:p>
            <a:r>
              <a:rPr lang="en-US" sz="2000"/>
              <a:t>Quoting happens in </a:t>
            </a:r>
            <a:r>
              <a:rPr lang="en-US" sz="2000" err="1"/>
              <a:t>PriceAdvisor</a:t>
            </a:r>
            <a:r>
              <a:rPr lang="en-US" sz="2000"/>
              <a:t>. </a:t>
            </a:r>
            <a:r>
              <a:rPr lang="en-US" sz="2000" err="1"/>
              <a:t>PriceAdvisor</a:t>
            </a:r>
            <a:r>
              <a:rPr lang="en-US" sz="2000"/>
              <a:t> writes the completed quote to the CRM Quote record. The CRM Quote is then routed for approval. The Opportunity only displays the Quote’s progress.</a:t>
            </a:r>
            <a:endParaRPr lang="en-GB" sz="2000"/>
          </a:p>
        </p:txBody>
      </p:sp>
    </p:spTree>
    <p:extLst>
      <p:ext uri="{BB962C8B-B14F-4D97-AF65-F5344CB8AC3E}">
        <p14:creationId xmlns:p14="http://schemas.microsoft.com/office/powerpoint/2010/main" val="891207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DF3BE64-7032-1151-A390-5200B92275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9DF3BE64-7032-1151-A390-5200B92275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C5B7792-8E72-439E-AAFB-FB54195232F2}"/>
              </a:ext>
            </a:extLst>
          </p:cNvPr>
          <p:cNvSpPr>
            <a:spLocks noGrp="1"/>
          </p:cNvSpPr>
          <p:nvPr>
            <p:ph type="title"/>
          </p:nvPr>
        </p:nvSpPr>
        <p:spPr/>
        <p:txBody>
          <a:bodyPr vert="horz"/>
          <a:lstStyle/>
          <a:p>
            <a:r>
              <a:rPr lang="en-GB"/>
              <a:t>Opportunity form and process changes (1/2)</a:t>
            </a:r>
          </a:p>
        </p:txBody>
      </p:sp>
      <p:sp>
        <p:nvSpPr>
          <p:cNvPr id="8" name="Text Placeholder 7">
            <a:extLst>
              <a:ext uri="{FF2B5EF4-FFF2-40B4-BE49-F238E27FC236}">
                <a16:creationId xmlns:a16="http://schemas.microsoft.com/office/drawing/2014/main" id="{FCA056E9-29CB-D40F-A29C-0367F358259D}"/>
              </a:ext>
            </a:extLst>
          </p:cNvPr>
          <p:cNvSpPr>
            <a:spLocks noGrp="1"/>
          </p:cNvSpPr>
          <p:nvPr>
            <p:ph type="body" idx="10"/>
          </p:nvPr>
        </p:nvSpPr>
        <p:spPr/>
        <p:txBody>
          <a:bodyPr/>
          <a:lstStyle/>
          <a:p>
            <a:pPr>
              <a:buNone/>
            </a:pPr>
            <a:r>
              <a:rPr lang="en-GB"/>
              <a:t>Level-setting</a:t>
            </a:r>
          </a:p>
        </p:txBody>
      </p:sp>
      <p:sp>
        <p:nvSpPr>
          <p:cNvPr id="11" name="Text Placeholder 10">
            <a:extLst>
              <a:ext uri="{FF2B5EF4-FFF2-40B4-BE49-F238E27FC236}">
                <a16:creationId xmlns:a16="http://schemas.microsoft.com/office/drawing/2014/main" id="{B5A82874-C6DC-286C-9CA5-68AB1F0B0F63}"/>
              </a:ext>
            </a:extLst>
          </p:cNvPr>
          <p:cNvSpPr>
            <a:spLocks noGrp="1"/>
          </p:cNvSpPr>
          <p:nvPr>
            <p:ph type="body" sz="quarter" idx="13"/>
          </p:nvPr>
        </p:nvSpPr>
        <p:spPr/>
        <p:txBody>
          <a:bodyPr/>
          <a:lstStyle/>
          <a:p>
            <a:r>
              <a:rPr lang="en-GB" err="1"/>
              <a:t>PriceAdvisor</a:t>
            </a:r>
            <a:r>
              <a:rPr lang="en-GB"/>
              <a:t> entry point</a:t>
            </a:r>
          </a:p>
        </p:txBody>
      </p:sp>
      <p:graphicFrame>
        <p:nvGraphicFramePr>
          <p:cNvPr id="15" name="Content Placeholder 14">
            <a:extLst>
              <a:ext uri="{FF2B5EF4-FFF2-40B4-BE49-F238E27FC236}">
                <a16:creationId xmlns:a16="http://schemas.microsoft.com/office/drawing/2014/main" id="{1152C571-4196-C005-CF60-FC366264148B}"/>
              </a:ext>
            </a:extLst>
          </p:cNvPr>
          <p:cNvGraphicFramePr>
            <a:graphicFrameLocks noGrp="1"/>
          </p:cNvGraphicFramePr>
          <p:nvPr>
            <p:ph sz="quarter" idx="12"/>
          </p:nvPr>
        </p:nvGraphicFramePr>
        <p:xfrm>
          <a:off x="457200" y="1883664"/>
          <a:ext cx="3454400" cy="4496976"/>
        </p:xfrm>
        <a:graphic>
          <a:graphicData uri="http://schemas.openxmlformats.org/drawingml/2006/table">
            <a:tbl>
              <a:tblPr firstRow="1" bandRow="1">
                <a:tableStyleId>{69012ECD-51FC-41F1-AA8D-1B2483CD663E}</a:tableStyleId>
              </a:tblPr>
              <a:tblGrid>
                <a:gridCol w="1034955">
                  <a:extLst>
                    <a:ext uri="{9D8B030D-6E8A-4147-A177-3AD203B41FA5}">
                      <a16:colId xmlns:a16="http://schemas.microsoft.com/office/drawing/2014/main" val="2986810558"/>
                    </a:ext>
                  </a:extLst>
                </a:gridCol>
                <a:gridCol w="2419445">
                  <a:extLst>
                    <a:ext uri="{9D8B030D-6E8A-4147-A177-3AD203B41FA5}">
                      <a16:colId xmlns:a16="http://schemas.microsoft.com/office/drawing/2014/main" val="1769239164"/>
                    </a:ext>
                  </a:extLst>
                </a:gridCol>
              </a:tblGrid>
              <a:tr h="0">
                <a:tc>
                  <a:txBody>
                    <a:bodyPr/>
                    <a:lstStyle/>
                    <a:p>
                      <a:pPr>
                        <a:buNone/>
                      </a:pPr>
                      <a:r>
                        <a:rPr lang="en-US" sz="1200" b="1"/>
                        <a:t>Area</a:t>
                      </a:r>
                    </a:p>
                  </a:txBody>
                  <a:tcPr anchor="ctr"/>
                </a:tc>
                <a:tc>
                  <a:txBody>
                    <a:bodyPr/>
                    <a:lstStyle/>
                    <a:p>
                      <a:pPr>
                        <a:buNone/>
                      </a:pPr>
                      <a:r>
                        <a:rPr lang="en-US" sz="1200" b="1"/>
                        <a:t>Requirement</a:t>
                      </a:r>
                    </a:p>
                  </a:txBody>
                  <a:tcPr anchor="ctr"/>
                </a:tc>
                <a:extLst>
                  <a:ext uri="{0D108BD9-81ED-4DB2-BD59-A6C34878D82A}">
                    <a16:rowId xmlns:a16="http://schemas.microsoft.com/office/drawing/2014/main" val="1332909501"/>
                  </a:ext>
                </a:extLst>
              </a:tr>
              <a:tr h="1055664">
                <a:tc>
                  <a:txBody>
                    <a:bodyPr/>
                    <a:lstStyle/>
                    <a:p>
                      <a:pPr>
                        <a:buNone/>
                      </a:pPr>
                      <a:r>
                        <a:rPr lang="en-US" sz="1200" b="1"/>
                        <a:t>Opportunity purpose</a:t>
                      </a:r>
                    </a:p>
                  </a:txBody>
                  <a:tcPr anchor="ctr">
                    <a:solidFill>
                      <a:schemeClr val="bg2">
                        <a:lumMod val="95000"/>
                      </a:schemeClr>
                    </a:solidFill>
                  </a:tcPr>
                </a:tc>
                <a:tc>
                  <a:txBody>
                    <a:bodyPr/>
                    <a:lstStyle/>
                    <a:p>
                      <a:pPr>
                        <a:buNone/>
                      </a:pPr>
                      <a:r>
                        <a:rPr lang="en-US" sz="1200"/>
                        <a:t>The Opportunity will remain the sales container and visual progress record for the quote.</a:t>
                      </a:r>
                    </a:p>
                  </a:txBody>
                  <a:tcPr anchor="ctr"/>
                </a:tc>
                <a:extLst>
                  <a:ext uri="{0D108BD9-81ED-4DB2-BD59-A6C34878D82A}">
                    <a16:rowId xmlns:a16="http://schemas.microsoft.com/office/drawing/2014/main" val="3240460222"/>
                  </a:ext>
                </a:extLst>
              </a:tr>
              <a:tr h="1055664">
                <a:tc>
                  <a:txBody>
                    <a:bodyPr/>
                    <a:lstStyle/>
                    <a:p>
                      <a:pPr>
                        <a:buNone/>
                      </a:pPr>
                      <a:r>
                        <a:rPr lang="en-US" sz="1200" b="1"/>
                        <a:t>Quoting location</a:t>
                      </a:r>
                    </a:p>
                  </a:txBody>
                  <a:tcPr anchor="ctr">
                    <a:solidFill>
                      <a:schemeClr val="bg2">
                        <a:lumMod val="95000"/>
                      </a:schemeClr>
                    </a:solidFill>
                  </a:tcPr>
                </a:tc>
                <a:tc>
                  <a:txBody>
                    <a:bodyPr/>
                    <a:lstStyle/>
                    <a:p>
                      <a:pPr>
                        <a:buNone/>
                      </a:pPr>
                      <a:r>
                        <a:rPr lang="en-US" sz="1200"/>
                        <a:t>Users will not build or maintain quote products directly on the Opportunity. Quoting will occur in </a:t>
                      </a:r>
                      <a:r>
                        <a:rPr lang="en-US" sz="1200" err="1"/>
                        <a:t>PriceAdvisor</a:t>
                      </a:r>
                      <a:r>
                        <a:rPr lang="en-US" sz="1200"/>
                        <a:t>.</a:t>
                      </a:r>
                    </a:p>
                  </a:txBody>
                  <a:tcPr anchor="ctr"/>
                </a:tc>
                <a:extLst>
                  <a:ext uri="{0D108BD9-81ED-4DB2-BD59-A6C34878D82A}">
                    <a16:rowId xmlns:a16="http://schemas.microsoft.com/office/drawing/2014/main" val="3475307598"/>
                  </a:ext>
                </a:extLst>
              </a:tr>
              <a:tr h="1055664">
                <a:tc>
                  <a:txBody>
                    <a:bodyPr/>
                    <a:lstStyle/>
                    <a:p>
                      <a:pPr>
                        <a:buNone/>
                      </a:pPr>
                      <a:r>
                        <a:rPr lang="en-US" sz="1200" b="1"/>
                        <a:t>Quote system of record</a:t>
                      </a:r>
                    </a:p>
                  </a:txBody>
                  <a:tcPr anchor="ctr">
                    <a:solidFill>
                      <a:schemeClr val="bg2">
                        <a:lumMod val="95000"/>
                      </a:schemeClr>
                    </a:solidFill>
                  </a:tcPr>
                </a:tc>
                <a:tc>
                  <a:txBody>
                    <a:bodyPr/>
                    <a:lstStyle/>
                    <a:p>
                      <a:pPr>
                        <a:buNone/>
                      </a:pPr>
                      <a:r>
                        <a:rPr lang="en-US" sz="1200"/>
                        <a:t>Completed quote details will be written by </a:t>
                      </a:r>
                      <a:r>
                        <a:rPr lang="en-US" sz="1200" err="1"/>
                        <a:t>PriceAdvisor</a:t>
                      </a:r>
                      <a:r>
                        <a:rPr lang="en-US" sz="1200"/>
                        <a:t> to the CRM Quote record linked to the Opportunity.</a:t>
                      </a:r>
                    </a:p>
                  </a:txBody>
                  <a:tcPr anchor="ctr"/>
                </a:tc>
                <a:extLst>
                  <a:ext uri="{0D108BD9-81ED-4DB2-BD59-A6C34878D82A}">
                    <a16:rowId xmlns:a16="http://schemas.microsoft.com/office/drawing/2014/main" val="4030543027"/>
                  </a:ext>
                </a:extLst>
              </a:tr>
              <a:tr h="1055664">
                <a:tc>
                  <a:txBody>
                    <a:bodyPr/>
                    <a:lstStyle/>
                    <a:p>
                      <a:pPr>
                        <a:buNone/>
                      </a:pPr>
                      <a:r>
                        <a:rPr lang="en-US" sz="1200" b="1"/>
                        <a:t>Opportunity display</a:t>
                      </a:r>
                    </a:p>
                  </a:txBody>
                  <a:tcPr anchor="ctr">
                    <a:solidFill>
                      <a:schemeClr val="bg2">
                        <a:lumMod val="95000"/>
                      </a:schemeClr>
                    </a:solidFill>
                  </a:tcPr>
                </a:tc>
                <a:tc>
                  <a:txBody>
                    <a:bodyPr/>
                    <a:lstStyle/>
                    <a:p>
                      <a:pPr>
                        <a:buNone/>
                      </a:pPr>
                      <a:r>
                        <a:rPr lang="en-US" sz="1200"/>
                        <a:t>The Opportunity will display read-only quote summary information sourced from the linked CRM Quote record.</a:t>
                      </a:r>
                    </a:p>
                  </a:txBody>
                  <a:tcPr anchor="ctr"/>
                </a:tc>
                <a:extLst>
                  <a:ext uri="{0D108BD9-81ED-4DB2-BD59-A6C34878D82A}">
                    <a16:rowId xmlns:a16="http://schemas.microsoft.com/office/drawing/2014/main" val="3098972559"/>
                  </a:ext>
                </a:extLst>
              </a:tr>
            </a:tbl>
          </a:graphicData>
        </a:graphic>
      </p:graphicFrame>
      <p:sp>
        <p:nvSpPr>
          <p:cNvPr id="13" name="Text Placeholder 12">
            <a:extLst>
              <a:ext uri="{FF2B5EF4-FFF2-40B4-BE49-F238E27FC236}">
                <a16:creationId xmlns:a16="http://schemas.microsoft.com/office/drawing/2014/main" id="{3CE9F54C-517D-2984-F93C-432057938E23}"/>
              </a:ext>
            </a:extLst>
          </p:cNvPr>
          <p:cNvSpPr>
            <a:spLocks noGrp="1"/>
          </p:cNvSpPr>
          <p:nvPr>
            <p:ph type="body" sz="quarter" idx="15"/>
          </p:nvPr>
        </p:nvSpPr>
        <p:spPr/>
        <p:txBody>
          <a:bodyPr/>
          <a:lstStyle/>
          <a:p>
            <a:r>
              <a:rPr lang="en-GB"/>
              <a:t>Remove Opportunity product-entry</a:t>
            </a:r>
          </a:p>
        </p:txBody>
      </p:sp>
      <p:graphicFrame>
        <p:nvGraphicFramePr>
          <p:cNvPr id="16" name="Content Placeholder 14">
            <a:extLst>
              <a:ext uri="{FF2B5EF4-FFF2-40B4-BE49-F238E27FC236}">
                <a16:creationId xmlns:a16="http://schemas.microsoft.com/office/drawing/2014/main" id="{B3232506-AF7A-6B06-B4C0-193D52416842}"/>
              </a:ext>
            </a:extLst>
          </p:cNvPr>
          <p:cNvGraphicFramePr>
            <a:graphicFrameLocks/>
          </p:cNvGraphicFramePr>
          <p:nvPr/>
        </p:nvGraphicFramePr>
        <p:xfrm>
          <a:off x="4368800" y="1883664"/>
          <a:ext cx="3454400" cy="4496975"/>
        </p:xfrm>
        <a:graphic>
          <a:graphicData uri="http://schemas.openxmlformats.org/drawingml/2006/table">
            <a:tbl>
              <a:tblPr firstRow="1" bandRow="1">
                <a:tableStyleId>{69012ECD-51FC-41F1-AA8D-1B2483CD663E}</a:tableStyleId>
              </a:tblPr>
              <a:tblGrid>
                <a:gridCol w="1034955">
                  <a:extLst>
                    <a:ext uri="{9D8B030D-6E8A-4147-A177-3AD203B41FA5}">
                      <a16:colId xmlns:a16="http://schemas.microsoft.com/office/drawing/2014/main" val="2986810558"/>
                    </a:ext>
                  </a:extLst>
                </a:gridCol>
                <a:gridCol w="2419445">
                  <a:extLst>
                    <a:ext uri="{9D8B030D-6E8A-4147-A177-3AD203B41FA5}">
                      <a16:colId xmlns:a16="http://schemas.microsoft.com/office/drawing/2014/main" val="1769239164"/>
                    </a:ext>
                  </a:extLst>
                </a:gridCol>
              </a:tblGrid>
              <a:tr h="278381">
                <a:tc>
                  <a:txBody>
                    <a:bodyPr/>
                    <a:lstStyle/>
                    <a:p>
                      <a:pPr>
                        <a:buNone/>
                      </a:pPr>
                      <a:r>
                        <a:rPr lang="en-US" sz="1200" b="1"/>
                        <a:t>Area</a:t>
                      </a:r>
                    </a:p>
                  </a:txBody>
                  <a:tcPr anchor="ctr"/>
                </a:tc>
                <a:tc>
                  <a:txBody>
                    <a:bodyPr/>
                    <a:lstStyle/>
                    <a:p>
                      <a:pPr>
                        <a:buNone/>
                      </a:pPr>
                      <a:r>
                        <a:rPr lang="en-US" sz="1200" b="1"/>
                        <a:t>Requirement</a:t>
                      </a:r>
                    </a:p>
                  </a:txBody>
                  <a:tcPr anchor="ctr"/>
                </a:tc>
                <a:extLst>
                  <a:ext uri="{0D108BD9-81ED-4DB2-BD59-A6C34878D82A}">
                    <a16:rowId xmlns:a16="http://schemas.microsoft.com/office/drawing/2014/main" val="1332909501"/>
                  </a:ext>
                </a:extLst>
              </a:tr>
              <a:tr h="1406198">
                <a:tc>
                  <a:txBody>
                    <a:bodyPr/>
                    <a:lstStyle/>
                    <a:p>
                      <a:pPr>
                        <a:buNone/>
                      </a:pPr>
                      <a:r>
                        <a:rPr lang="en-US" b="1" err="1"/>
                        <a:t>PriceAdvisor</a:t>
                      </a:r>
                      <a:r>
                        <a:rPr lang="en-US" b="1"/>
                        <a:t> launch</a:t>
                      </a:r>
                    </a:p>
                  </a:txBody>
                  <a:tcPr anchor="ctr">
                    <a:solidFill>
                      <a:schemeClr val="bg2">
                        <a:lumMod val="95000"/>
                      </a:schemeClr>
                    </a:solidFill>
                  </a:tcPr>
                </a:tc>
                <a:tc>
                  <a:txBody>
                    <a:bodyPr/>
                    <a:lstStyle/>
                    <a:p>
                      <a:pPr>
                        <a:buNone/>
                      </a:pPr>
                      <a:r>
                        <a:rPr lang="en-US"/>
                        <a:t>The existing embedded </a:t>
                      </a:r>
                      <a:r>
                        <a:rPr lang="en-US" err="1"/>
                        <a:t>PriceAdvisor</a:t>
                      </a:r>
                      <a:r>
                        <a:rPr lang="en-US"/>
                        <a:t> </a:t>
                      </a:r>
                      <a:r>
                        <a:rPr lang="en-US" err="1"/>
                        <a:t>entrypoint</a:t>
                      </a:r>
                      <a:r>
                        <a:rPr lang="en-US"/>
                        <a:t> will remain on the Opportunity.</a:t>
                      </a:r>
                    </a:p>
                  </a:txBody>
                  <a:tcPr anchor="ctr"/>
                </a:tc>
                <a:extLst>
                  <a:ext uri="{0D108BD9-81ED-4DB2-BD59-A6C34878D82A}">
                    <a16:rowId xmlns:a16="http://schemas.microsoft.com/office/drawing/2014/main" val="3240460222"/>
                  </a:ext>
                </a:extLst>
              </a:tr>
              <a:tr h="1406198">
                <a:tc>
                  <a:txBody>
                    <a:bodyPr/>
                    <a:lstStyle/>
                    <a:p>
                      <a:pPr>
                        <a:buNone/>
                      </a:pPr>
                      <a:r>
                        <a:rPr lang="en-US" b="1"/>
                        <a:t>User action</a:t>
                      </a:r>
                    </a:p>
                  </a:txBody>
                  <a:tcPr anchor="ctr">
                    <a:solidFill>
                      <a:schemeClr val="bg2">
                        <a:lumMod val="95000"/>
                      </a:schemeClr>
                    </a:solidFill>
                  </a:tcPr>
                </a:tc>
                <a:tc>
                  <a:txBody>
                    <a:bodyPr/>
                    <a:lstStyle/>
                    <a:p>
                      <a:pPr>
                        <a:buNone/>
                      </a:pPr>
                      <a:r>
                        <a:rPr lang="en-US"/>
                        <a:t>Sales reps will launch </a:t>
                      </a:r>
                      <a:r>
                        <a:rPr lang="en-US" err="1"/>
                        <a:t>PriceAdvisor</a:t>
                      </a:r>
                      <a:r>
                        <a:rPr lang="en-US"/>
                        <a:t> from the Opportunity to build or revise a quote.</a:t>
                      </a:r>
                    </a:p>
                  </a:txBody>
                  <a:tcPr anchor="ctr"/>
                </a:tc>
                <a:extLst>
                  <a:ext uri="{0D108BD9-81ED-4DB2-BD59-A6C34878D82A}">
                    <a16:rowId xmlns:a16="http://schemas.microsoft.com/office/drawing/2014/main" val="3475307598"/>
                  </a:ext>
                </a:extLst>
              </a:tr>
              <a:tr h="1406198">
                <a:tc>
                  <a:txBody>
                    <a:bodyPr/>
                    <a:lstStyle/>
                    <a:p>
                      <a:pPr>
                        <a:buNone/>
                      </a:pPr>
                      <a:r>
                        <a:rPr lang="en-US" b="1"/>
                        <a:t>Data handoff</a:t>
                      </a:r>
                    </a:p>
                  </a:txBody>
                  <a:tcPr anchor="ctr">
                    <a:solidFill>
                      <a:schemeClr val="bg2">
                        <a:lumMod val="95000"/>
                      </a:schemeClr>
                    </a:solidFill>
                  </a:tcPr>
                </a:tc>
                <a:tc>
                  <a:txBody>
                    <a:bodyPr/>
                    <a:lstStyle/>
                    <a:p>
                      <a:pPr>
                        <a:buNone/>
                      </a:pPr>
                      <a:r>
                        <a:rPr lang="en-US"/>
                        <a:t>The Opportunity ID will be passed to </a:t>
                      </a:r>
                      <a:r>
                        <a:rPr lang="en-US" err="1"/>
                        <a:t>PriceAdvisor</a:t>
                      </a:r>
                      <a:r>
                        <a:rPr lang="en-US"/>
                        <a:t> so that the completed quote can be written back to the correct CRM Opportunity / Quote relationship.</a:t>
                      </a:r>
                    </a:p>
                  </a:txBody>
                  <a:tcPr anchor="ctr"/>
                </a:tc>
                <a:extLst>
                  <a:ext uri="{0D108BD9-81ED-4DB2-BD59-A6C34878D82A}">
                    <a16:rowId xmlns:a16="http://schemas.microsoft.com/office/drawing/2014/main" val="4030543027"/>
                  </a:ext>
                </a:extLst>
              </a:tr>
            </a:tbl>
          </a:graphicData>
        </a:graphic>
      </p:graphicFrame>
      <p:sp>
        <p:nvSpPr>
          <p:cNvPr id="18" name="TextBox 17">
            <a:extLst>
              <a:ext uri="{FF2B5EF4-FFF2-40B4-BE49-F238E27FC236}">
                <a16:creationId xmlns:a16="http://schemas.microsoft.com/office/drawing/2014/main" id="{B786EE41-3E8B-A160-2DE4-D835BA7310B7}"/>
              </a:ext>
            </a:extLst>
          </p:cNvPr>
          <p:cNvSpPr txBox="1"/>
          <p:nvPr/>
        </p:nvSpPr>
        <p:spPr>
          <a:xfrm>
            <a:off x="4635689" y="2297372"/>
            <a:ext cx="582305" cy="215444"/>
          </a:xfrm>
          <a:prstGeom prst="rect">
            <a:avLst/>
          </a:prstGeom>
          <a:noFill/>
        </p:spPr>
        <p:txBody>
          <a:bodyPr wrap="square" lIns="0" tIns="0" rIns="0" bIns="0" rtlCol="0">
            <a:spAutoFit/>
          </a:bodyPr>
          <a:lstStyle/>
          <a:p>
            <a:pPr algn="ctr"/>
            <a:r>
              <a:rPr lang="en-GB" sz="1400" b="1" kern="0">
                <a:solidFill>
                  <a:schemeClr val="accent6"/>
                </a:solidFill>
                <a:latin typeface="+mj-lt"/>
              </a:rPr>
              <a:t>DONE</a:t>
            </a:r>
          </a:p>
        </p:txBody>
      </p:sp>
      <p:sp>
        <p:nvSpPr>
          <p:cNvPr id="19" name="TextBox 18">
            <a:extLst>
              <a:ext uri="{FF2B5EF4-FFF2-40B4-BE49-F238E27FC236}">
                <a16:creationId xmlns:a16="http://schemas.microsoft.com/office/drawing/2014/main" id="{E53D8FB0-FE2A-8929-3848-E818AAB15AB4}"/>
              </a:ext>
            </a:extLst>
          </p:cNvPr>
          <p:cNvSpPr txBox="1"/>
          <p:nvPr/>
        </p:nvSpPr>
        <p:spPr>
          <a:xfrm>
            <a:off x="4635689" y="3721289"/>
            <a:ext cx="582305" cy="215444"/>
          </a:xfrm>
          <a:prstGeom prst="rect">
            <a:avLst/>
          </a:prstGeom>
          <a:noFill/>
        </p:spPr>
        <p:txBody>
          <a:bodyPr wrap="square" lIns="0" tIns="0" rIns="0" bIns="0" rtlCol="0">
            <a:spAutoFit/>
          </a:bodyPr>
          <a:lstStyle/>
          <a:p>
            <a:pPr algn="ctr"/>
            <a:r>
              <a:rPr lang="en-GB" sz="1400" b="1" kern="0" dirty="0">
                <a:solidFill>
                  <a:schemeClr val="accent6"/>
                </a:solidFill>
                <a:latin typeface="+mj-lt"/>
              </a:rPr>
              <a:t>DONE</a:t>
            </a:r>
          </a:p>
        </p:txBody>
      </p:sp>
      <p:sp>
        <p:nvSpPr>
          <p:cNvPr id="20" name="TextBox 19">
            <a:extLst>
              <a:ext uri="{FF2B5EF4-FFF2-40B4-BE49-F238E27FC236}">
                <a16:creationId xmlns:a16="http://schemas.microsoft.com/office/drawing/2014/main" id="{889A3F7A-06DE-CBC7-B6CE-0AB005DB986F}"/>
              </a:ext>
            </a:extLst>
          </p:cNvPr>
          <p:cNvSpPr txBox="1"/>
          <p:nvPr/>
        </p:nvSpPr>
        <p:spPr>
          <a:xfrm>
            <a:off x="4635689" y="5160482"/>
            <a:ext cx="582305" cy="215444"/>
          </a:xfrm>
          <a:prstGeom prst="rect">
            <a:avLst/>
          </a:prstGeom>
          <a:noFill/>
        </p:spPr>
        <p:txBody>
          <a:bodyPr wrap="square" lIns="0" tIns="0" rIns="0" bIns="0" rtlCol="0">
            <a:spAutoFit/>
          </a:bodyPr>
          <a:lstStyle/>
          <a:p>
            <a:pPr algn="ctr"/>
            <a:r>
              <a:rPr lang="en-GB" sz="1400" b="1" kern="0">
                <a:solidFill>
                  <a:srgbClr val="C53532"/>
                </a:solidFill>
                <a:latin typeface="+mj-lt"/>
              </a:rPr>
              <a:t>To DO</a:t>
            </a:r>
          </a:p>
        </p:txBody>
      </p:sp>
      <p:graphicFrame>
        <p:nvGraphicFramePr>
          <p:cNvPr id="21" name="Content Placeholder 14">
            <a:extLst>
              <a:ext uri="{FF2B5EF4-FFF2-40B4-BE49-F238E27FC236}">
                <a16:creationId xmlns:a16="http://schemas.microsoft.com/office/drawing/2014/main" id="{C5F8E4C1-D7BE-3F99-05F8-B341FCE5EB28}"/>
              </a:ext>
            </a:extLst>
          </p:cNvPr>
          <p:cNvGraphicFramePr>
            <a:graphicFrameLocks/>
          </p:cNvGraphicFramePr>
          <p:nvPr/>
        </p:nvGraphicFramePr>
        <p:xfrm>
          <a:off x="8280400" y="1883664"/>
          <a:ext cx="3454400" cy="4496975"/>
        </p:xfrm>
        <a:graphic>
          <a:graphicData uri="http://schemas.openxmlformats.org/drawingml/2006/table">
            <a:tbl>
              <a:tblPr firstRow="1" bandRow="1">
                <a:tableStyleId>{69012ECD-51FC-41F1-AA8D-1B2483CD663E}</a:tableStyleId>
              </a:tblPr>
              <a:tblGrid>
                <a:gridCol w="1034955">
                  <a:extLst>
                    <a:ext uri="{9D8B030D-6E8A-4147-A177-3AD203B41FA5}">
                      <a16:colId xmlns:a16="http://schemas.microsoft.com/office/drawing/2014/main" val="2986810558"/>
                    </a:ext>
                  </a:extLst>
                </a:gridCol>
                <a:gridCol w="2419445">
                  <a:extLst>
                    <a:ext uri="{9D8B030D-6E8A-4147-A177-3AD203B41FA5}">
                      <a16:colId xmlns:a16="http://schemas.microsoft.com/office/drawing/2014/main" val="1769239164"/>
                    </a:ext>
                  </a:extLst>
                </a:gridCol>
              </a:tblGrid>
              <a:tr h="278381">
                <a:tc>
                  <a:txBody>
                    <a:bodyPr/>
                    <a:lstStyle/>
                    <a:p>
                      <a:pPr>
                        <a:buNone/>
                      </a:pPr>
                      <a:r>
                        <a:rPr lang="en-US" sz="1200" b="1"/>
                        <a:t>Section</a:t>
                      </a:r>
                    </a:p>
                  </a:txBody>
                  <a:tcPr anchor="ctr"/>
                </a:tc>
                <a:tc>
                  <a:txBody>
                    <a:bodyPr/>
                    <a:lstStyle/>
                    <a:p>
                      <a:pPr>
                        <a:buNone/>
                      </a:pPr>
                      <a:r>
                        <a:rPr lang="en-US" sz="1200" b="1"/>
                        <a:t>Required Change</a:t>
                      </a:r>
                    </a:p>
                  </a:txBody>
                  <a:tcPr anchor="ctr"/>
                </a:tc>
                <a:extLst>
                  <a:ext uri="{0D108BD9-81ED-4DB2-BD59-A6C34878D82A}">
                    <a16:rowId xmlns:a16="http://schemas.microsoft.com/office/drawing/2014/main" val="1332909501"/>
                  </a:ext>
                </a:extLst>
              </a:tr>
              <a:tr h="1406198">
                <a:tc>
                  <a:txBody>
                    <a:bodyPr/>
                    <a:lstStyle/>
                    <a:p>
                      <a:pPr>
                        <a:buNone/>
                      </a:pPr>
                      <a:r>
                        <a:rPr lang="en-US" b="1"/>
                        <a:t>Product Lines</a:t>
                      </a:r>
                    </a:p>
                  </a:txBody>
                  <a:tcPr anchor="ctr">
                    <a:solidFill>
                      <a:schemeClr val="bg2">
                        <a:lumMod val="95000"/>
                      </a:schemeClr>
                    </a:solidFill>
                  </a:tcPr>
                </a:tc>
                <a:tc>
                  <a:txBody>
                    <a:bodyPr/>
                    <a:lstStyle/>
                    <a:p>
                      <a:pPr>
                        <a:buNone/>
                      </a:pPr>
                      <a:r>
                        <a:rPr lang="en-US"/>
                        <a:t>Delete from Opportunity Summary tab</a:t>
                      </a:r>
                    </a:p>
                  </a:txBody>
                  <a:tcPr anchor="ctr"/>
                </a:tc>
                <a:extLst>
                  <a:ext uri="{0D108BD9-81ED-4DB2-BD59-A6C34878D82A}">
                    <a16:rowId xmlns:a16="http://schemas.microsoft.com/office/drawing/2014/main" val="3240460222"/>
                  </a:ext>
                </a:extLst>
              </a:tr>
              <a:tr h="1406198">
                <a:tc>
                  <a:txBody>
                    <a:bodyPr/>
                    <a:lstStyle/>
                    <a:p>
                      <a:pPr>
                        <a:buNone/>
                      </a:pPr>
                      <a:r>
                        <a:rPr lang="en-US" b="1"/>
                        <a:t>Chemicals Products</a:t>
                      </a:r>
                    </a:p>
                  </a:txBody>
                  <a:tcPr anchor="ctr">
                    <a:solidFill>
                      <a:schemeClr val="bg2">
                        <a:lumMod val="95000"/>
                      </a:schemeClr>
                    </a:solidFill>
                  </a:tcPr>
                </a:tc>
                <a:tc>
                  <a:txBody>
                    <a:bodyPr/>
                    <a:lstStyle/>
                    <a:p>
                      <a:pPr>
                        <a:buNone/>
                      </a:pPr>
                      <a:r>
                        <a:rPr lang="en-US"/>
                        <a:t>Delete from Opportunity Summary tab</a:t>
                      </a:r>
                    </a:p>
                  </a:txBody>
                  <a:tcPr anchor="ctr"/>
                </a:tc>
                <a:extLst>
                  <a:ext uri="{0D108BD9-81ED-4DB2-BD59-A6C34878D82A}">
                    <a16:rowId xmlns:a16="http://schemas.microsoft.com/office/drawing/2014/main" val="3475307598"/>
                  </a:ext>
                </a:extLst>
              </a:tr>
              <a:tr h="1406198">
                <a:tc>
                  <a:txBody>
                    <a:bodyPr/>
                    <a:lstStyle/>
                    <a:p>
                      <a:pPr>
                        <a:buNone/>
                      </a:pPr>
                      <a:r>
                        <a:rPr lang="en-US" b="1"/>
                        <a:t>Equipment Products</a:t>
                      </a:r>
                    </a:p>
                  </a:txBody>
                  <a:tcPr anchor="ctr">
                    <a:solidFill>
                      <a:schemeClr val="bg2">
                        <a:lumMod val="95000"/>
                      </a:schemeClr>
                    </a:solidFill>
                  </a:tcPr>
                </a:tc>
                <a:tc>
                  <a:txBody>
                    <a:bodyPr/>
                    <a:lstStyle/>
                    <a:p>
                      <a:pPr>
                        <a:buNone/>
                      </a:pPr>
                      <a:r>
                        <a:rPr lang="en-US" dirty="0"/>
                        <a:t>Delete from Opportunity Summary tab</a:t>
                      </a:r>
                    </a:p>
                  </a:txBody>
                  <a:tcPr anchor="ctr"/>
                </a:tc>
                <a:extLst>
                  <a:ext uri="{0D108BD9-81ED-4DB2-BD59-A6C34878D82A}">
                    <a16:rowId xmlns:a16="http://schemas.microsoft.com/office/drawing/2014/main" val="4030543027"/>
                  </a:ext>
                </a:extLst>
              </a:tr>
            </a:tbl>
          </a:graphicData>
        </a:graphic>
      </p:graphicFrame>
      <p:sp>
        <p:nvSpPr>
          <p:cNvPr id="3" name="TextBox 2">
            <a:extLst>
              <a:ext uri="{FF2B5EF4-FFF2-40B4-BE49-F238E27FC236}">
                <a16:creationId xmlns:a16="http://schemas.microsoft.com/office/drawing/2014/main" id="{8AE793D7-5AF8-4034-8C5E-E7FB5661DD8D}"/>
              </a:ext>
            </a:extLst>
          </p:cNvPr>
          <p:cNvSpPr txBox="1"/>
          <p:nvPr/>
        </p:nvSpPr>
        <p:spPr>
          <a:xfrm>
            <a:off x="8500868" y="5160482"/>
            <a:ext cx="582305" cy="215444"/>
          </a:xfrm>
          <a:prstGeom prst="rect">
            <a:avLst/>
          </a:prstGeom>
          <a:noFill/>
        </p:spPr>
        <p:txBody>
          <a:bodyPr wrap="square" lIns="0" tIns="0" rIns="0" bIns="0" rtlCol="0">
            <a:spAutoFit/>
          </a:bodyPr>
          <a:lstStyle/>
          <a:p>
            <a:pPr algn="ctr"/>
            <a:r>
              <a:rPr lang="en-GB" sz="1400" b="1" kern="0" dirty="0">
                <a:solidFill>
                  <a:schemeClr val="accent6"/>
                </a:solidFill>
                <a:latin typeface="+mj-lt"/>
              </a:rPr>
              <a:t>DONE</a:t>
            </a:r>
          </a:p>
        </p:txBody>
      </p:sp>
      <p:sp>
        <p:nvSpPr>
          <p:cNvPr id="4" name="TextBox 3">
            <a:extLst>
              <a:ext uri="{FF2B5EF4-FFF2-40B4-BE49-F238E27FC236}">
                <a16:creationId xmlns:a16="http://schemas.microsoft.com/office/drawing/2014/main" id="{06443187-BBF8-3256-1464-3CDDC42D9ECE}"/>
              </a:ext>
            </a:extLst>
          </p:cNvPr>
          <p:cNvSpPr txBox="1"/>
          <p:nvPr/>
        </p:nvSpPr>
        <p:spPr>
          <a:xfrm>
            <a:off x="8500868" y="3721289"/>
            <a:ext cx="582305" cy="215444"/>
          </a:xfrm>
          <a:prstGeom prst="rect">
            <a:avLst/>
          </a:prstGeom>
          <a:noFill/>
        </p:spPr>
        <p:txBody>
          <a:bodyPr wrap="square" lIns="0" tIns="0" rIns="0" bIns="0" rtlCol="0">
            <a:spAutoFit/>
          </a:bodyPr>
          <a:lstStyle/>
          <a:p>
            <a:pPr algn="ctr"/>
            <a:r>
              <a:rPr lang="en-GB" sz="1400" b="1" kern="0" dirty="0">
                <a:solidFill>
                  <a:schemeClr val="accent6"/>
                </a:solidFill>
                <a:latin typeface="+mj-lt"/>
              </a:rPr>
              <a:t>DONE</a:t>
            </a:r>
          </a:p>
        </p:txBody>
      </p:sp>
      <p:sp>
        <p:nvSpPr>
          <p:cNvPr id="6" name="TextBox 5">
            <a:extLst>
              <a:ext uri="{FF2B5EF4-FFF2-40B4-BE49-F238E27FC236}">
                <a16:creationId xmlns:a16="http://schemas.microsoft.com/office/drawing/2014/main" id="{22B35D53-FBB2-B611-1A79-CB070ACEA7CF}"/>
              </a:ext>
            </a:extLst>
          </p:cNvPr>
          <p:cNvSpPr txBox="1"/>
          <p:nvPr/>
        </p:nvSpPr>
        <p:spPr>
          <a:xfrm>
            <a:off x="8500868" y="2301940"/>
            <a:ext cx="582305" cy="215444"/>
          </a:xfrm>
          <a:prstGeom prst="rect">
            <a:avLst/>
          </a:prstGeom>
          <a:noFill/>
        </p:spPr>
        <p:txBody>
          <a:bodyPr wrap="square" lIns="0" tIns="0" rIns="0" bIns="0" rtlCol="0">
            <a:spAutoFit/>
          </a:bodyPr>
          <a:lstStyle/>
          <a:p>
            <a:pPr algn="ctr"/>
            <a:r>
              <a:rPr lang="en-GB" sz="1400" b="1" kern="0" dirty="0">
                <a:solidFill>
                  <a:schemeClr val="accent6"/>
                </a:solidFill>
                <a:latin typeface="+mj-lt"/>
              </a:rPr>
              <a:t>DONE</a:t>
            </a:r>
          </a:p>
        </p:txBody>
      </p:sp>
    </p:spTree>
    <p:extLst>
      <p:ext uri="{BB962C8B-B14F-4D97-AF65-F5344CB8AC3E}">
        <p14:creationId xmlns:p14="http://schemas.microsoft.com/office/powerpoint/2010/main" val="103166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D95E9-5098-07E7-9091-4FA4FF216E3A}"/>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F0A2D9-451B-CA8F-818A-155398B462F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19F0A2D9-451B-CA8F-818A-155398B462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E66418E-80A3-3EB5-942C-DEC85EB4B69C}"/>
              </a:ext>
            </a:extLst>
          </p:cNvPr>
          <p:cNvSpPr>
            <a:spLocks noGrp="1"/>
          </p:cNvSpPr>
          <p:nvPr>
            <p:ph type="title"/>
          </p:nvPr>
        </p:nvSpPr>
        <p:spPr/>
        <p:txBody>
          <a:bodyPr vert="horz"/>
          <a:lstStyle/>
          <a:p>
            <a:r>
              <a:rPr lang="en-GB"/>
              <a:t>Opportunity form and process changes (1/2)</a:t>
            </a:r>
          </a:p>
        </p:txBody>
      </p:sp>
      <p:sp>
        <p:nvSpPr>
          <p:cNvPr id="8" name="Text Placeholder 7">
            <a:extLst>
              <a:ext uri="{FF2B5EF4-FFF2-40B4-BE49-F238E27FC236}">
                <a16:creationId xmlns:a16="http://schemas.microsoft.com/office/drawing/2014/main" id="{9198C4A7-1301-7D15-63D9-1A47BE61F195}"/>
              </a:ext>
            </a:extLst>
          </p:cNvPr>
          <p:cNvSpPr>
            <a:spLocks noGrp="1"/>
          </p:cNvSpPr>
          <p:nvPr>
            <p:ph type="body" idx="10"/>
          </p:nvPr>
        </p:nvSpPr>
        <p:spPr/>
        <p:txBody>
          <a:bodyPr/>
          <a:lstStyle/>
          <a:p>
            <a:pPr>
              <a:buNone/>
            </a:pPr>
            <a:r>
              <a:rPr lang="en-GB"/>
              <a:t>Add a “Quote Summary” Section</a:t>
            </a:r>
          </a:p>
        </p:txBody>
      </p:sp>
      <p:sp>
        <p:nvSpPr>
          <p:cNvPr id="7" name="Content Placeholder 6">
            <a:extLst>
              <a:ext uri="{FF2B5EF4-FFF2-40B4-BE49-F238E27FC236}">
                <a16:creationId xmlns:a16="http://schemas.microsoft.com/office/drawing/2014/main" id="{9F1A982A-8F4B-CCC1-1476-00064B7D11B7}"/>
              </a:ext>
            </a:extLst>
          </p:cNvPr>
          <p:cNvSpPr>
            <a:spLocks noGrp="1"/>
          </p:cNvSpPr>
          <p:nvPr>
            <p:ph sz="quarter" idx="11"/>
          </p:nvPr>
        </p:nvSpPr>
        <p:spPr/>
        <p:txBody>
          <a:bodyPr/>
          <a:lstStyle/>
          <a:p>
            <a:r>
              <a:rPr lang="en-GB"/>
              <a:t>Add section titled “Quote Summary” in Summary tab</a:t>
            </a:r>
          </a:p>
          <a:p>
            <a:r>
              <a:rPr lang="en-GB"/>
              <a:t>All fields will be read-only on the Opportunity</a:t>
            </a:r>
          </a:p>
          <a:p>
            <a:r>
              <a:rPr lang="en-GB"/>
              <a:t>Values will be sourced from the CRM Quote record</a:t>
            </a:r>
          </a:p>
          <a:p>
            <a:r>
              <a:rPr lang="en-GB"/>
              <a:t>Fields to display in table format:</a:t>
            </a:r>
          </a:p>
          <a:p>
            <a:pPr lvl="1"/>
            <a:r>
              <a:rPr lang="en-GB"/>
              <a:t>Deal Score</a:t>
            </a:r>
          </a:p>
          <a:p>
            <a:pPr lvl="1"/>
            <a:r>
              <a:rPr lang="en-GB"/>
              <a:t>Average Discount % to Book Prices</a:t>
            </a:r>
          </a:p>
          <a:p>
            <a:pPr lvl="1"/>
            <a:r>
              <a:rPr lang="en-GB"/>
              <a:t>Total Quote Revenue</a:t>
            </a:r>
          </a:p>
          <a:p>
            <a:pPr lvl="1"/>
            <a:r>
              <a:rPr lang="en-GB"/>
              <a:t>Estimated Annual Revenue</a:t>
            </a:r>
          </a:p>
          <a:p>
            <a:pPr lvl="1"/>
            <a:r>
              <a:rPr lang="en-GB"/>
              <a:t>Contribution Margin</a:t>
            </a:r>
          </a:p>
          <a:p>
            <a:pPr lvl="1"/>
            <a:r>
              <a:rPr lang="en-GB"/>
              <a:t>Approval Level Required</a:t>
            </a:r>
          </a:p>
          <a:p>
            <a:pPr lvl="1"/>
            <a:r>
              <a:rPr lang="en-GB"/>
              <a:t>Leading PL1</a:t>
            </a:r>
          </a:p>
          <a:p>
            <a:endParaRPr lang="en-GB"/>
          </a:p>
        </p:txBody>
      </p:sp>
      <p:sp>
        <p:nvSpPr>
          <p:cNvPr id="11" name="Text Placeholder 10">
            <a:extLst>
              <a:ext uri="{FF2B5EF4-FFF2-40B4-BE49-F238E27FC236}">
                <a16:creationId xmlns:a16="http://schemas.microsoft.com/office/drawing/2014/main" id="{1E0748CA-C158-4874-9E56-582AE93AFC2A}"/>
              </a:ext>
            </a:extLst>
          </p:cNvPr>
          <p:cNvSpPr>
            <a:spLocks noGrp="1"/>
          </p:cNvSpPr>
          <p:nvPr>
            <p:ph type="body" idx="13"/>
          </p:nvPr>
        </p:nvSpPr>
        <p:spPr/>
        <p:txBody>
          <a:bodyPr/>
          <a:lstStyle/>
          <a:p>
            <a:r>
              <a:rPr lang="en-GB"/>
              <a:t>Add a “Product Line Summary” section </a:t>
            </a:r>
          </a:p>
        </p:txBody>
      </p:sp>
      <p:sp>
        <p:nvSpPr>
          <p:cNvPr id="14" name="Content Placeholder 13">
            <a:extLst>
              <a:ext uri="{FF2B5EF4-FFF2-40B4-BE49-F238E27FC236}">
                <a16:creationId xmlns:a16="http://schemas.microsoft.com/office/drawing/2014/main" id="{BF62FE5C-F93B-7966-DCB7-D7350D147954}"/>
              </a:ext>
            </a:extLst>
          </p:cNvPr>
          <p:cNvSpPr>
            <a:spLocks noGrp="1"/>
          </p:cNvSpPr>
          <p:nvPr>
            <p:ph sz="quarter" idx="12"/>
          </p:nvPr>
        </p:nvSpPr>
        <p:spPr/>
        <p:txBody>
          <a:bodyPr/>
          <a:lstStyle/>
          <a:p>
            <a:r>
              <a:rPr lang="en-US"/>
              <a:t>Add section “Product Line Summary” in Summary tab</a:t>
            </a:r>
          </a:p>
          <a:p>
            <a:r>
              <a:rPr lang="en-US"/>
              <a:t>All fields will be read-only on the Opportunity</a:t>
            </a:r>
          </a:p>
          <a:p>
            <a:r>
              <a:rPr lang="en-US"/>
              <a:t>Displayed as a table, with each row = item quoted</a:t>
            </a:r>
          </a:p>
          <a:p>
            <a:r>
              <a:rPr lang="en-US"/>
              <a:t>Values will be sourced from the CRM Quote record</a:t>
            </a:r>
          </a:p>
          <a:p>
            <a:r>
              <a:rPr lang="en-US"/>
              <a:t>Fields to display:</a:t>
            </a:r>
          </a:p>
          <a:p>
            <a:pPr lvl="1"/>
            <a:r>
              <a:rPr lang="en-US"/>
              <a:t>Item Name</a:t>
            </a:r>
          </a:p>
          <a:p>
            <a:pPr lvl="1"/>
            <a:r>
              <a:rPr lang="en-US"/>
              <a:t>Order Quantity</a:t>
            </a:r>
          </a:p>
          <a:p>
            <a:pPr lvl="1"/>
            <a:r>
              <a:rPr lang="en-US"/>
              <a:t>Price per Container</a:t>
            </a:r>
          </a:p>
          <a:p>
            <a:pPr lvl="1"/>
            <a:r>
              <a:rPr lang="en-US"/>
              <a:t>Price per </a:t>
            </a:r>
            <a:r>
              <a:rPr lang="en-US" err="1"/>
              <a:t>lb</a:t>
            </a:r>
            <a:endParaRPr lang="en-US"/>
          </a:p>
          <a:p>
            <a:pPr lvl="1"/>
            <a:r>
              <a:rPr lang="en-US"/>
              <a:t>Discount % to Book</a:t>
            </a:r>
          </a:p>
          <a:p>
            <a:pPr lvl="1"/>
            <a:r>
              <a:rPr lang="en-US"/>
              <a:t>Revenue</a:t>
            </a:r>
          </a:p>
        </p:txBody>
      </p:sp>
      <p:sp>
        <p:nvSpPr>
          <p:cNvPr id="13" name="Text Placeholder 12">
            <a:extLst>
              <a:ext uri="{FF2B5EF4-FFF2-40B4-BE49-F238E27FC236}">
                <a16:creationId xmlns:a16="http://schemas.microsoft.com/office/drawing/2014/main" id="{DF10C277-1167-683E-9977-49FA3EF43560}"/>
              </a:ext>
            </a:extLst>
          </p:cNvPr>
          <p:cNvSpPr>
            <a:spLocks noGrp="1"/>
          </p:cNvSpPr>
          <p:nvPr>
            <p:ph type="body" idx="15"/>
          </p:nvPr>
        </p:nvSpPr>
        <p:spPr/>
        <p:txBody>
          <a:bodyPr/>
          <a:lstStyle/>
          <a:p>
            <a:r>
              <a:rPr lang="en-GB"/>
              <a:t>Assignment section changes</a:t>
            </a:r>
          </a:p>
        </p:txBody>
      </p:sp>
      <p:sp>
        <p:nvSpPr>
          <p:cNvPr id="9" name="Content Placeholder 8">
            <a:extLst>
              <a:ext uri="{FF2B5EF4-FFF2-40B4-BE49-F238E27FC236}">
                <a16:creationId xmlns:a16="http://schemas.microsoft.com/office/drawing/2014/main" id="{93609F65-3116-83BB-6870-1AC121FE9DF9}"/>
              </a:ext>
            </a:extLst>
          </p:cNvPr>
          <p:cNvSpPr>
            <a:spLocks noGrp="1"/>
          </p:cNvSpPr>
          <p:nvPr>
            <p:ph sz="quarter" idx="14"/>
          </p:nvPr>
        </p:nvSpPr>
        <p:spPr/>
        <p:txBody>
          <a:bodyPr/>
          <a:lstStyle/>
          <a:p>
            <a:r>
              <a:rPr lang="en-GB"/>
              <a:t>Keep the Assignment section, but with additional fields (roles)</a:t>
            </a:r>
          </a:p>
          <a:p>
            <a:r>
              <a:rPr lang="en-GB"/>
              <a:t>Assignment fields are read-only once populated by routing logic. All fields will be populated, regardless of level required</a:t>
            </a:r>
          </a:p>
          <a:p>
            <a:r>
              <a:rPr lang="en-GB"/>
              <a:t>Values will be sourced from the CRM quote record</a:t>
            </a:r>
          </a:p>
          <a:p>
            <a:r>
              <a:rPr lang="en-GB"/>
              <a:t>Fields to include:</a:t>
            </a:r>
          </a:p>
          <a:p>
            <a:pPr lvl="1"/>
            <a:r>
              <a:rPr lang="en-GB"/>
              <a:t>L1: Sales Direct Manager</a:t>
            </a:r>
          </a:p>
          <a:p>
            <a:pPr lvl="1"/>
            <a:r>
              <a:rPr lang="en-GB"/>
              <a:t>L1: Product Manager</a:t>
            </a:r>
          </a:p>
          <a:p>
            <a:pPr lvl="1"/>
            <a:r>
              <a:rPr lang="en-GB"/>
              <a:t>L2: CBU Lead</a:t>
            </a:r>
          </a:p>
          <a:p>
            <a:pPr lvl="1"/>
            <a:r>
              <a:rPr lang="en-GB"/>
              <a:t>L2: CBU Portfolio director</a:t>
            </a:r>
          </a:p>
          <a:p>
            <a:pPr lvl="1"/>
            <a:r>
              <a:rPr lang="en-GB"/>
              <a:t>L3: Commercial / VP</a:t>
            </a:r>
          </a:p>
          <a:p>
            <a:pPr lvl="1"/>
            <a:r>
              <a:rPr lang="en-GB"/>
              <a:t>L4: Enterprise Approval</a:t>
            </a:r>
          </a:p>
        </p:txBody>
      </p:sp>
      <p:sp>
        <p:nvSpPr>
          <p:cNvPr id="28" name="Text Placeholder 27">
            <a:extLst>
              <a:ext uri="{FF2B5EF4-FFF2-40B4-BE49-F238E27FC236}">
                <a16:creationId xmlns:a16="http://schemas.microsoft.com/office/drawing/2014/main" id="{5DAA74F7-972D-4942-0DF5-6CB8C9D46E7B}"/>
              </a:ext>
            </a:extLst>
          </p:cNvPr>
          <p:cNvSpPr>
            <a:spLocks noGrp="1"/>
          </p:cNvSpPr>
          <p:nvPr>
            <p:ph type="body" idx="17"/>
          </p:nvPr>
        </p:nvSpPr>
        <p:spPr/>
        <p:txBody>
          <a:bodyPr/>
          <a:lstStyle/>
          <a:p>
            <a:r>
              <a:rPr lang="en-GB"/>
              <a:t>Remove non-required sections</a:t>
            </a:r>
          </a:p>
        </p:txBody>
      </p:sp>
      <p:sp>
        <p:nvSpPr>
          <p:cNvPr id="27" name="Content Placeholder 26">
            <a:extLst>
              <a:ext uri="{FF2B5EF4-FFF2-40B4-BE49-F238E27FC236}">
                <a16:creationId xmlns:a16="http://schemas.microsoft.com/office/drawing/2014/main" id="{A16B6E7B-D108-0203-D5A5-3FD683067D9B}"/>
              </a:ext>
            </a:extLst>
          </p:cNvPr>
          <p:cNvSpPr>
            <a:spLocks noGrp="1"/>
          </p:cNvSpPr>
          <p:nvPr>
            <p:ph sz="quarter" idx="16"/>
          </p:nvPr>
        </p:nvSpPr>
        <p:spPr/>
        <p:txBody>
          <a:bodyPr/>
          <a:lstStyle/>
          <a:p>
            <a:r>
              <a:rPr lang="en-GB"/>
              <a:t>Delete the “Revenue” and “Competitors” section</a:t>
            </a:r>
          </a:p>
        </p:txBody>
      </p:sp>
      <p:sp>
        <p:nvSpPr>
          <p:cNvPr id="20" name="TextBox 19">
            <a:extLst>
              <a:ext uri="{FF2B5EF4-FFF2-40B4-BE49-F238E27FC236}">
                <a16:creationId xmlns:a16="http://schemas.microsoft.com/office/drawing/2014/main" id="{4239EAA9-516C-C249-5212-65D39EBCEDFF}"/>
              </a:ext>
            </a:extLst>
          </p:cNvPr>
          <p:cNvSpPr txBox="1"/>
          <p:nvPr/>
        </p:nvSpPr>
        <p:spPr>
          <a:xfrm>
            <a:off x="1404296" y="6012822"/>
            <a:ext cx="582305" cy="215444"/>
          </a:xfrm>
          <a:prstGeom prst="rect">
            <a:avLst/>
          </a:prstGeom>
          <a:noFill/>
        </p:spPr>
        <p:txBody>
          <a:bodyPr wrap="square" lIns="0" tIns="0" rIns="0" bIns="0" rtlCol="0">
            <a:spAutoFit/>
          </a:bodyPr>
          <a:lstStyle/>
          <a:p>
            <a:pPr algn="ctr"/>
            <a:r>
              <a:rPr lang="en-GB" sz="1400" b="1" kern="0" dirty="0">
                <a:solidFill>
                  <a:srgbClr val="FF8C00"/>
                </a:solidFill>
                <a:latin typeface="+mj-lt"/>
              </a:rPr>
              <a:t>WIP</a:t>
            </a:r>
          </a:p>
        </p:txBody>
      </p:sp>
      <p:sp>
        <p:nvSpPr>
          <p:cNvPr id="30" name="TextBox 29">
            <a:extLst>
              <a:ext uri="{FF2B5EF4-FFF2-40B4-BE49-F238E27FC236}">
                <a16:creationId xmlns:a16="http://schemas.microsoft.com/office/drawing/2014/main" id="{8DD3E365-6623-17C5-335F-9264F87D402A}"/>
              </a:ext>
            </a:extLst>
          </p:cNvPr>
          <p:cNvSpPr txBox="1"/>
          <p:nvPr/>
        </p:nvSpPr>
        <p:spPr>
          <a:xfrm>
            <a:off x="4337997" y="6012822"/>
            <a:ext cx="582305" cy="215444"/>
          </a:xfrm>
          <a:prstGeom prst="rect">
            <a:avLst/>
          </a:prstGeom>
          <a:noFill/>
        </p:spPr>
        <p:txBody>
          <a:bodyPr wrap="square" lIns="0" tIns="0" rIns="0" bIns="0" rtlCol="0">
            <a:spAutoFit/>
          </a:bodyPr>
          <a:lstStyle/>
          <a:p>
            <a:pPr algn="ctr"/>
            <a:r>
              <a:rPr lang="en-GB" sz="1400" b="1" kern="0">
                <a:solidFill>
                  <a:srgbClr val="C53532"/>
                </a:solidFill>
                <a:latin typeface="+mj-lt"/>
              </a:rPr>
              <a:t>To DO</a:t>
            </a:r>
          </a:p>
        </p:txBody>
      </p:sp>
      <p:sp>
        <p:nvSpPr>
          <p:cNvPr id="31" name="TextBox 30">
            <a:extLst>
              <a:ext uri="{FF2B5EF4-FFF2-40B4-BE49-F238E27FC236}">
                <a16:creationId xmlns:a16="http://schemas.microsoft.com/office/drawing/2014/main" id="{F10DBEDC-EA3F-75BD-E076-EA924FAAC075}"/>
              </a:ext>
            </a:extLst>
          </p:cNvPr>
          <p:cNvSpPr txBox="1"/>
          <p:nvPr/>
        </p:nvSpPr>
        <p:spPr>
          <a:xfrm>
            <a:off x="7271697" y="6012822"/>
            <a:ext cx="582305" cy="215444"/>
          </a:xfrm>
          <a:prstGeom prst="rect">
            <a:avLst/>
          </a:prstGeom>
          <a:noFill/>
        </p:spPr>
        <p:txBody>
          <a:bodyPr wrap="square" lIns="0" tIns="0" rIns="0" bIns="0" rtlCol="0">
            <a:spAutoFit/>
          </a:bodyPr>
          <a:lstStyle/>
          <a:p>
            <a:pPr algn="ctr"/>
            <a:r>
              <a:rPr lang="en-GB" sz="1400" b="1" kern="0" dirty="0">
                <a:solidFill>
                  <a:srgbClr val="FF8C00"/>
                </a:solidFill>
                <a:latin typeface="+mj-lt"/>
              </a:rPr>
              <a:t>To DO</a:t>
            </a:r>
          </a:p>
        </p:txBody>
      </p:sp>
      <p:sp>
        <p:nvSpPr>
          <p:cNvPr id="32" name="TextBox 31">
            <a:extLst>
              <a:ext uri="{FF2B5EF4-FFF2-40B4-BE49-F238E27FC236}">
                <a16:creationId xmlns:a16="http://schemas.microsoft.com/office/drawing/2014/main" id="{3264B771-09F8-070D-0F2C-DC38A57D523C}"/>
              </a:ext>
            </a:extLst>
          </p:cNvPr>
          <p:cNvSpPr txBox="1"/>
          <p:nvPr/>
        </p:nvSpPr>
        <p:spPr>
          <a:xfrm>
            <a:off x="10205397" y="6012822"/>
            <a:ext cx="582305" cy="215444"/>
          </a:xfrm>
          <a:prstGeom prst="rect">
            <a:avLst/>
          </a:prstGeom>
          <a:noFill/>
        </p:spPr>
        <p:txBody>
          <a:bodyPr wrap="square" lIns="0" tIns="0" rIns="0" bIns="0" rtlCol="0">
            <a:spAutoFit/>
          </a:bodyPr>
          <a:lstStyle/>
          <a:p>
            <a:pPr algn="ctr"/>
            <a:r>
              <a:rPr lang="en-GB" sz="1400" b="1" kern="0" dirty="0">
                <a:solidFill>
                  <a:schemeClr val="accent6"/>
                </a:solidFill>
                <a:latin typeface="+mj-lt"/>
              </a:rPr>
              <a:t>DONE</a:t>
            </a:r>
          </a:p>
        </p:txBody>
      </p:sp>
    </p:spTree>
    <p:extLst>
      <p:ext uri="{BB962C8B-B14F-4D97-AF65-F5344CB8AC3E}">
        <p14:creationId xmlns:p14="http://schemas.microsoft.com/office/powerpoint/2010/main" val="77444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80C62-0298-44D5-6B64-99838CBF19E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9952B9F-B216-AE31-AD9D-E7AC2BDA6ACA}"/>
              </a:ext>
            </a:extLst>
          </p:cNvPr>
          <p:cNvSpPr>
            <a:spLocks noGrp="1"/>
          </p:cNvSpPr>
          <p:nvPr>
            <p:ph type="body" sz="quarter" idx="12"/>
          </p:nvPr>
        </p:nvSpPr>
        <p:spPr>
          <a:xfrm>
            <a:off x="457200" y="3567500"/>
            <a:ext cx="8348472" cy="1015663"/>
          </a:xfrm>
        </p:spPr>
        <p:txBody>
          <a:bodyPr/>
          <a:lstStyle/>
          <a:p>
            <a:r>
              <a:rPr lang="en-GB" sz="6600" dirty="0" err="1"/>
              <a:t>ApprovalS</a:t>
            </a:r>
            <a:r>
              <a:rPr lang="en-GB" sz="6600" dirty="0"/>
              <a:t> overview</a:t>
            </a:r>
            <a:endParaRPr lang="en-GB" sz="6600" dirty="0">
              <a:solidFill>
                <a:srgbClr val="FF8C00"/>
              </a:solidFill>
            </a:endParaRPr>
          </a:p>
        </p:txBody>
      </p:sp>
    </p:spTree>
    <p:extLst>
      <p:ext uri="{BB962C8B-B14F-4D97-AF65-F5344CB8AC3E}">
        <p14:creationId xmlns:p14="http://schemas.microsoft.com/office/powerpoint/2010/main" val="3469511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A3CA26F-DE95-7B29-38B4-5C46491013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1A3CA26F-DE95-7B29-38B4-5C46491013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E15ED93-AF48-CC74-0DFB-0D4A7D9C0C01}"/>
              </a:ext>
            </a:extLst>
          </p:cNvPr>
          <p:cNvSpPr>
            <a:spLocks noGrp="1"/>
          </p:cNvSpPr>
          <p:nvPr>
            <p:ph type="title"/>
          </p:nvPr>
        </p:nvSpPr>
        <p:spPr/>
        <p:txBody>
          <a:bodyPr vert="horz"/>
          <a:lstStyle/>
          <a:p>
            <a:r>
              <a:rPr lang="en-GB"/>
              <a:t>Approvals workflow || </a:t>
            </a:r>
            <a:r>
              <a:rPr lang="en-GB" err="1"/>
              <a:t>crm</a:t>
            </a:r>
            <a:r>
              <a:rPr lang="en-GB"/>
              <a:t> implementation</a:t>
            </a:r>
          </a:p>
        </p:txBody>
      </p:sp>
      <p:sp>
        <p:nvSpPr>
          <p:cNvPr id="3" name="Content Placeholder 2">
            <a:extLst>
              <a:ext uri="{FF2B5EF4-FFF2-40B4-BE49-F238E27FC236}">
                <a16:creationId xmlns:a16="http://schemas.microsoft.com/office/drawing/2014/main" id="{6D8893A6-0A7C-2DE5-1C9C-DACD1FD7DD00}"/>
              </a:ext>
            </a:extLst>
          </p:cNvPr>
          <p:cNvSpPr>
            <a:spLocks noGrp="1"/>
          </p:cNvSpPr>
          <p:nvPr>
            <p:ph idx="11"/>
          </p:nvPr>
        </p:nvSpPr>
        <p:spPr>
          <a:xfrm>
            <a:off x="457199" y="1143000"/>
            <a:ext cx="11098635" cy="5001768"/>
          </a:xfrm>
        </p:spPr>
        <p:txBody>
          <a:bodyPr/>
          <a:lstStyle/>
          <a:p>
            <a:pPr marL="0" indent="0">
              <a:buNone/>
            </a:pPr>
            <a:r>
              <a:rPr lang="en-GB" b="1" dirty="0">
                <a:solidFill>
                  <a:schemeClr val="accent2"/>
                </a:solidFill>
              </a:rPr>
              <a:t>PERSONAL QUEUES</a:t>
            </a:r>
            <a:endParaRPr lang="en-GB" i="1" dirty="0"/>
          </a:p>
          <a:p>
            <a:r>
              <a:rPr lang="en-GB" b="1" dirty="0"/>
              <a:t>Sales Dimension </a:t>
            </a:r>
            <a:r>
              <a:rPr lang="en-GB" b="1" dirty="0">
                <a:sym typeface="Wingdings" panose="05000000000000000000" pitchFamily="2" charset="2"/>
              </a:rPr>
              <a:t> personal queues</a:t>
            </a:r>
            <a:endParaRPr lang="en-GB" b="1" dirty="0"/>
          </a:p>
          <a:p>
            <a:pPr lvl="1"/>
            <a:r>
              <a:rPr lang="en-GB" dirty="0" err="1"/>
              <a:t>PriceAdvisor</a:t>
            </a:r>
            <a:r>
              <a:rPr lang="en-GB" dirty="0"/>
              <a:t> loads user context; lookups Sales Manager and CBU Lead from the “Sales Recap To” table in F&amp;O</a:t>
            </a:r>
          </a:p>
          <a:p>
            <a:pPr lvl="1"/>
            <a:r>
              <a:rPr lang="en-GB" dirty="0"/>
              <a:t>CRM flow routes the opportunity / quote to the personal queues based on level of approval required</a:t>
            </a:r>
          </a:p>
          <a:p>
            <a:pPr lvl="1"/>
            <a:r>
              <a:rPr lang="en-GB" dirty="0"/>
              <a:t>Sales Rep context </a:t>
            </a:r>
            <a:r>
              <a:rPr lang="en-GB" dirty="0">
                <a:sym typeface="Wingdings" panose="05000000000000000000" pitchFamily="2" charset="2"/>
              </a:rPr>
              <a:t> </a:t>
            </a:r>
            <a:r>
              <a:rPr lang="en-GB" dirty="0"/>
              <a:t>Sales Manager (L1, L2, L3)</a:t>
            </a:r>
            <a:endParaRPr lang="en-GB" b="1" dirty="0"/>
          </a:p>
          <a:p>
            <a:pPr lvl="1"/>
            <a:r>
              <a:rPr lang="en-GB" dirty="0"/>
              <a:t>Sales Rep context </a:t>
            </a:r>
            <a:r>
              <a:rPr lang="en-GB" dirty="0">
                <a:sym typeface="Wingdings" panose="05000000000000000000" pitchFamily="2" charset="2"/>
              </a:rPr>
              <a:t> </a:t>
            </a:r>
            <a:r>
              <a:rPr lang="en-GB" dirty="0"/>
              <a:t>CBU lead (L2, L3, L4)</a:t>
            </a:r>
          </a:p>
          <a:p>
            <a:endParaRPr lang="en-GB" b="1" dirty="0">
              <a:solidFill>
                <a:schemeClr val="accent2"/>
              </a:solidFill>
            </a:endParaRPr>
          </a:p>
          <a:p>
            <a:pPr marL="0" indent="0">
              <a:buNone/>
            </a:pPr>
            <a:r>
              <a:rPr lang="en-GB" b="1" dirty="0">
                <a:solidFill>
                  <a:schemeClr val="accent2"/>
                </a:solidFill>
              </a:rPr>
              <a:t>CUSTOM QUEUE</a:t>
            </a:r>
            <a:endParaRPr lang="en-GB" i="1" dirty="0"/>
          </a:p>
          <a:p>
            <a:r>
              <a:rPr lang="en-GB" b="1" dirty="0"/>
              <a:t>Product Dimension </a:t>
            </a:r>
            <a:r>
              <a:rPr lang="en-GB" b="1" dirty="0">
                <a:sym typeface="Wingdings" panose="05000000000000000000" pitchFamily="2" charset="2"/>
              </a:rPr>
              <a:t> </a:t>
            </a:r>
            <a:r>
              <a:rPr lang="en-GB" dirty="0">
                <a:sym typeface="Wingdings" panose="05000000000000000000" pitchFamily="2" charset="2"/>
              </a:rPr>
              <a:t>create a</a:t>
            </a:r>
            <a:r>
              <a:rPr lang="en-GB" b="1" dirty="0">
                <a:sym typeface="Wingdings" panose="05000000000000000000" pitchFamily="2" charset="2"/>
              </a:rPr>
              <a:t> PL1 x L1 </a:t>
            </a:r>
            <a:r>
              <a:rPr lang="en-GB" dirty="0">
                <a:sym typeface="Wingdings" panose="05000000000000000000" pitchFamily="2" charset="2"/>
              </a:rPr>
              <a:t>and</a:t>
            </a:r>
            <a:r>
              <a:rPr lang="en-GB" b="1" dirty="0">
                <a:sym typeface="Wingdings" panose="05000000000000000000" pitchFamily="2" charset="2"/>
              </a:rPr>
              <a:t> PL1 x L2 queue</a:t>
            </a:r>
            <a:endParaRPr lang="en-GB" b="1" dirty="0"/>
          </a:p>
          <a:p>
            <a:pPr lvl="1"/>
            <a:r>
              <a:rPr lang="en-GB" dirty="0" err="1"/>
              <a:t>PriceAdvisor</a:t>
            </a:r>
            <a:r>
              <a:rPr lang="en-GB" dirty="0"/>
              <a:t> calculates the leading PL1; lookups Product Manager and Portfolio Director from PM table in Dataverse</a:t>
            </a:r>
          </a:p>
          <a:p>
            <a:pPr lvl="1"/>
            <a:r>
              <a:rPr lang="en-GB" dirty="0"/>
              <a:t>Need to create the PL1 x L1 and PL1 x L2 queues and implement the business process flow to route to the </a:t>
            </a:r>
            <a:r>
              <a:rPr lang="en-GB"/>
              <a:t>relevant queues</a:t>
            </a:r>
          </a:p>
          <a:p>
            <a:pPr lvl="1"/>
            <a:r>
              <a:rPr lang="en-GB" dirty="0"/>
              <a:t>Leading PL1 by revenue </a:t>
            </a:r>
            <a:r>
              <a:rPr lang="en-GB" dirty="0">
                <a:sym typeface="Wingdings" panose="05000000000000000000" pitchFamily="2" charset="2"/>
              </a:rPr>
              <a:t> </a:t>
            </a:r>
            <a:r>
              <a:rPr lang="en-GB" dirty="0"/>
              <a:t>Product Manager (L1, L2, L3)</a:t>
            </a:r>
            <a:endParaRPr lang="en-GB" b="1" dirty="0"/>
          </a:p>
          <a:p>
            <a:pPr lvl="1"/>
            <a:r>
              <a:rPr lang="en-GB" dirty="0"/>
              <a:t>Leading PL1 by revenue </a:t>
            </a:r>
            <a:r>
              <a:rPr lang="en-GB" dirty="0">
                <a:sym typeface="Wingdings" panose="05000000000000000000" pitchFamily="2" charset="2"/>
              </a:rPr>
              <a:t> </a:t>
            </a:r>
            <a:r>
              <a:rPr lang="en-GB" dirty="0"/>
              <a:t>Portfolio Director (L2, L3, L4)</a:t>
            </a:r>
          </a:p>
          <a:p>
            <a:endParaRPr lang="en-GB" b="1" dirty="0"/>
          </a:p>
          <a:p>
            <a:r>
              <a:rPr lang="en-GB" b="1" dirty="0"/>
              <a:t>Commercial and Enterprise Approval</a:t>
            </a:r>
          </a:p>
          <a:p>
            <a:pPr lvl="1"/>
            <a:r>
              <a:rPr lang="en-GB" dirty="0"/>
              <a:t>Custom queues are created for L3 and L4</a:t>
            </a:r>
          </a:p>
          <a:p>
            <a:pPr lvl="1"/>
            <a:r>
              <a:rPr lang="en-GB" dirty="0"/>
              <a:t>Eric Cecilio and Jorge Alfaro (L3 - Commercial Approval)</a:t>
            </a:r>
          </a:p>
          <a:p>
            <a:pPr lvl="1"/>
            <a:r>
              <a:rPr lang="en-GB" dirty="0"/>
              <a:t>Ken Chrisman and Chris Heinold (L4 - Enterprise Approval)</a:t>
            </a:r>
          </a:p>
          <a:p>
            <a:pPr lvl="1"/>
            <a:endParaRPr lang="en-GB" dirty="0"/>
          </a:p>
          <a:p>
            <a:endParaRPr lang="en-GB" dirty="0"/>
          </a:p>
        </p:txBody>
      </p:sp>
    </p:spTree>
    <p:extLst>
      <p:ext uri="{BB962C8B-B14F-4D97-AF65-F5344CB8AC3E}">
        <p14:creationId xmlns:p14="http://schemas.microsoft.com/office/powerpoint/2010/main" val="1893727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30A2-2C12-E7A5-9FAA-F14731F6C44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A83DE95-1052-5511-696B-29855D6315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69" imgH="469" progId="TCLayout.ActiveDocument.1">
                  <p:embed/>
                </p:oleObj>
              </mc:Choice>
              <mc:Fallback>
                <p:oleObj name="think-cell Slide" r:id="rId4" imgW="469" imgH="469" progId="TCLayout.ActiveDocument.1">
                  <p:embed/>
                  <p:pic>
                    <p:nvPicPr>
                      <p:cNvPr id="6" name="think-cell data - do not delete" hidden="1">
                        <a:extLst>
                          <a:ext uri="{FF2B5EF4-FFF2-40B4-BE49-F238E27FC236}">
                            <a16:creationId xmlns:a16="http://schemas.microsoft.com/office/drawing/2014/main" id="{5A83DE95-1052-5511-696B-29855D6315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0A4ED644-BAC1-B30F-FF2A-5A43C216715A}"/>
              </a:ext>
            </a:extLst>
          </p:cNvPr>
          <p:cNvGraphicFramePr>
            <a:graphicFrameLocks noGrp="1"/>
          </p:cNvGraphicFramePr>
          <p:nvPr/>
        </p:nvGraphicFramePr>
        <p:xfrm>
          <a:off x="6324600" y="1881317"/>
          <a:ext cx="5410199" cy="3536755"/>
        </p:xfrm>
        <a:graphic>
          <a:graphicData uri="http://schemas.openxmlformats.org/drawingml/2006/table">
            <a:tbl>
              <a:tblPr firstRow="1" bandRow="1"/>
              <a:tblGrid>
                <a:gridCol w="726275">
                  <a:extLst>
                    <a:ext uri="{9D8B030D-6E8A-4147-A177-3AD203B41FA5}">
                      <a16:colId xmlns:a16="http://schemas.microsoft.com/office/drawing/2014/main" val="2167938900"/>
                    </a:ext>
                  </a:extLst>
                </a:gridCol>
                <a:gridCol w="1480634">
                  <a:extLst>
                    <a:ext uri="{9D8B030D-6E8A-4147-A177-3AD203B41FA5}">
                      <a16:colId xmlns:a16="http://schemas.microsoft.com/office/drawing/2014/main" val="3842429013"/>
                    </a:ext>
                  </a:extLst>
                </a:gridCol>
                <a:gridCol w="3203290">
                  <a:extLst>
                    <a:ext uri="{9D8B030D-6E8A-4147-A177-3AD203B41FA5}">
                      <a16:colId xmlns:a16="http://schemas.microsoft.com/office/drawing/2014/main" val="966823380"/>
                    </a:ext>
                  </a:extLst>
                </a:gridCol>
              </a:tblGrid>
              <a:tr h="307945">
                <a:tc>
                  <a:txBody>
                    <a:bodyPr/>
                    <a:lstStyle/>
                    <a:p>
                      <a:pPr algn="ctr"/>
                      <a:r>
                        <a:rPr lang="en-US" sz="1200" b="1">
                          <a:solidFill>
                            <a:schemeClr val="tx1"/>
                          </a:solidFill>
                          <a:cs typeface="+mn-cs"/>
                        </a:rPr>
                        <a:t>Level</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p>
                      <a:r>
                        <a:rPr lang="en-US" sz="1200" b="1">
                          <a:solidFill>
                            <a:schemeClr val="tx1"/>
                          </a:solidFill>
                          <a:cs typeface="+mn-cs"/>
                        </a:rPr>
                        <a:t>Approver</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p>
                      <a:r>
                        <a:rPr lang="en-US" sz="1200" b="1">
                          <a:solidFill>
                            <a:schemeClr val="tx1"/>
                          </a:solidFill>
                          <a:cs typeface="+mn-cs"/>
                        </a:rPr>
                        <a:t>Objective of review</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extLst>
                  <a:ext uri="{0D108BD9-81ED-4DB2-BD59-A6C34878D82A}">
                    <a16:rowId xmlns:a16="http://schemas.microsoft.com/office/drawing/2014/main" val="3254911805"/>
                  </a:ext>
                </a:extLst>
              </a:tr>
              <a:tr h="645762">
                <a:tc>
                  <a:txBody>
                    <a:bodyPr/>
                    <a:lstStyle/>
                    <a:p>
                      <a:pPr algn="ctr"/>
                      <a:r>
                        <a:rPr lang="en-US" sz="2000" b="1">
                          <a:solidFill>
                            <a:schemeClr val="tx1"/>
                          </a:solidFill>
                          <a:cs typeface="+mn-cs"/>
                        </a:rPr>
                        <a:t>L0</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200" b="1">
                          <a:cs typeface="+mn-cs"/>
                        </a:rPr>
                        <a:t>Auto-approved</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buFont typeface="Arial" panose="020B0604020202020204" pitchFamily="34" charset="0"/>
                        <a:buNone/>
                      </a:pPr>
                      <a:r>
                        <a:rPr lang="en-US" sz="1200">
                          <a:cs typeface="+mn-cs"/>
                        </a:rPr>
                        <a:t>Ensure speedy approvals of deals that clearly align with DuBois’ strategy and target prices</a:t>
                      </a:r>
                    </a:p>
                    <a:p>
                      <a:pPr marL="0" indent="0">
                        <a:buFont typeface="Arial" panose="020B0604020202020204" pitchFamily="34" charset="0"/>
                        <a:buNone/>
                      </a:pPr>
                      <a:r>
                        <a:rPr lang="en-US" sz="1200">
                          <a:cs typeface="+mn-cs"/>
                        </a:rPr>
                        <a:t>*Flag if rated P for management awareness</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01787291"/>
                  </a:ext>
                </a:extLst>
              </a:tr>
              <a:tr h="645762">
                <a:tc>
                  <a:txBody>
                    <a:bodyPr/>
                    <a:lstStyle/>
                    <a:p>
                      <a:pPr algn="ctr"/>
                      <a:r>
                        <a:rPr lang="en-US" sz="2000" b="1">
                          <a:solidFill>
                            <a:schemeClr val="tx1"/>
                          </a:solidFill>
                          <a:cs typeface="+mn-cs"/>
                        </a:rPr>
                        <a:t>L1</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tc>
                  <a:txBody>
                    <a:bodyPr/>
                    <a:lstStyle/>
                    <a:p>
                      <a:r>
                        <a:rPr lang="en-US" sz="1200" b="1">
                          <a:cs typeface="+mn-cs"/>
                        </a:rPr>
                        <a:t>Frontline Sales Manager + Product Line Manager</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tc>
                  <a:txBody>
                    <a:bodyPr/>
                    <a:lstStyle/>
                    <a:p>
                      <a:pPr marL="0" indent="0">
                        <a:buFont typeface="Arial" panose="020B0604020202020204" pitchFamily="34" charset="0"/>
                        <a:buNone/>
                      </a:pPr>
                      <a:r>
                        <a:rPr lang="en-US" sz="1200">
                          <a:cs typeface="+mn-cs"/>
                        </a:rPr>
                        <a:t>Review deals up to $250k with B scores. Understand pricing rationale and advise Sales Reps</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extLst>
                  <a:ext uri="{0D108BD9-81ED-4DB2-BD59-A6C34878D82A}">
                    <a16:rowId xmlns:a16="http://schemas.microsoft.com/office/drawing/2014/main" val="2992545265"/>
                  </a:ext>
                </a:extLst>
              </a:tr>
              <a:tr h="645762">
                <a:tc>
                  <a:txBody>
                    <a:bodyPr/>
                    <a:lstStyle/>
                    <a:p>
                      <a:pPr algn="ctr"/>
                      <a:r>
                        <a:rPr lang="en-US" sz="2000" b="1">
                          <a:solidFill>
                            <a:schemeClr val="tx1"/>
                          </a:solidFill>
                          <a:cs typeface="+mn-cs"/>
                        </a:rPr>
                        <a:t>L2</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tc>
                  <a:txBody>
                    <a:bodyPr/>
                    <a:lstStyle/>
                    <a:p>
                      <a:r>
                        <a:rPr lang="en-US" sz="1200" b="1">
                          <a:cs typeface="+mn-cs"/>
                        </a:rPr>
                        <a:t>CBU Product Director (Max)</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tc>
                  <a:txBody>
                    <a:bodyPr/>
                    <a:lstStyle/>
                    <a:p>
                      <a:pPr marL="0" indent="0">
                        <a:buFont typeface="Arial" panose="020B0604020202020204" pitchFamily="34" charset="0"/>
                        <a:buNone/>
                      </a:pPr>
                      <a:r>
                        <a:rPr lang="en-US" sz="1200">
                          <a:cs typeface="+mn-cs"/>
                        </a:rPr>
                        <a:t>Ensure strategic alignment of pricing of C and D scores up to $250k</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extLst>
                  <a:ext uri="{0D108BD9-81ED-4DB2-BD59-A6C34878D82A}">
                    <a16:rowId xmlns:a16="http://schemas.microsoft.com/office/drawing/2014/main" val="1900873468"/>
                  </a:ext>
                </a:extLst>
              </a:tr>
              <a:tr h="645762">
                <a:tc>
                  <a:txBody>
                    <a:bodyPr/>
                    <a:lstStyle/>
                    <a:p>
                      <a:pPr algn="ctr"/>
                      <a:r>
                        <a:rPr lang="en-US" sz="2000" b="1">
                          <a:solidFill>
                            <a:schemeClr val="bg1"/>
                          </a:solidFill>
                          <a:cs typeface="+mn-cs"/>
                        </a:rPr>
                        <a:t>L3</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GB" sz="1200" b="1" kern="0">
                          <a:solidFill>
                            <a:schemeClr val="bg1"/>
                          </a:solidFill>
                          <a:cs typeface="+mn-cs"/>
                        </a:rPr>
                        <a:t>Vice president of product/pricing (Eric OR Jorge)</a:t>
                      </a:r>
                      <a:endParaRPr lang="en-US" sz="1200" b="1">
                        <a:solidFill>
                          <a:schemeClr val="bg1"/>
                        </a:solidFill>
                        <a:cs typeface="+mn-cs"/>
                      </a:endParaRP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buFont typeface="Arial" panose="020B0604020202020204" pitchFamily="34" charset="0"/>
                        <a:buNone/>
                      </a:pPr>
                      <a:r>
                        <a:rPr lang="en-US" sz="1200">
                          <a:solidFill>
                            <a:schemeClr val="bg1"/>
                          </a:solidFill>
                          <a:cs typeface="+mn-cs"/>
                        </a:rPr>
                        <a:t>Review margin and strategic alignment of deals with significant discount relative to target price. Review any deal below floor.</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00487804"/>
                  </a:ext>
                </a:extLst>
              </a:tr>
              <a:tr h="645762">
                <a:tc>
                  <a:txBody>
                    <a:bodyPr/>
                    <a:lstStyle/>
                    <a:p>
                      <a:pPr algn="ctr"/>
                      <a:r>
                        <a:rPr lang="en-US" sz="2000" b="1">
                          <a:solidFill>
                            <a:schemeClr val="bg1"/>
                          </a:solidFill>
                          <a:cs typeface="+mn-cs"/>
                        </a:rPr>
                        <a:t>L4</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200" b="1">
                          <a:solidFill>
                            <a:schemeClr val="bg1"/>
                          </a:solidFill>
                          <a:cs typeface="+mn-cs"/>
                        </a:rPr>
                        <a:t>Chief revenue officer or CFO </a:t>
                      </a:r>
                    </a:p>
                    <a:p>
                      <a:r>
                        <a:rPr lang="en-US" sz="1200" b="1">
                          <a:solidFill>
                            <a:schemeClr val="bg1"/>
                          </a:solidFill>
                          <a:cs typeface="+mn-cs"/>
                        </a:rPr>
                        <a:t>(Ken OR Chris)</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buFont typeface="Arial" panose="020B0604020202020204" pitchFamily="34" charset="0"/>
                        <a:buNone/>
                      </a:pPr>
                      <a:r>
                        <a:rPr lang="en-US" sz="1200" kern="0">
                          <a:solidFill>
                            <a:schemeClr val="bg1"/>
                          </a:solidFill>
                          <a:latin typeface="+mn-lt"/>
                          <a:ea typeface="+mn-ea"/>
                          <a:cs typeface="+mn-cs"/>
                        </a:rPr>
                        <a:t>Evaluate pricing for most important deals in context of business goals</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969251792"/>
                  </a:ext>
                </a:extLst>
              </a:tr>
            </a:tbl>
          </a:graphicData>
        </a:graphic>
      </p:graphicFrame>
      <p:sp>
        <p:nvSpPr>
          <p:cNvPr id="11" name="TextBox 10">
            <a:extLst>
              <a:ext uri="{FF2B5EF4-FFF2-40B4-BE49-F238E27FC236}">
                <a16:creationId xmlns:a16="http://schemas.microsoft.com/office/drawing/2014/main" id="{63B78B03-26B0-6681-6C78-B496CA00D1AC}"/>
              </a:ext>
            </a:extLst>
          </p:cNvPr>
          <p:cNvSpPr txBox="1"/>
          <p:nvPr/>
        </p:nvSpPr>
        <p:spPr>
          <a:xfrm>
            <a:off x="2919336" y="6006156"/>
            <a:ext cx="1373691" cy="22946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Calibri"/>
                <a:ea typeface="+mn-ea"/>
                <a:cs typeface="+mn-cs"/>
              </a:rPr>
              <a:t>Deal Size</a:t>
            </a:r>
          </a:p>
        </p:txBody>
      </p:sp>
      <p:sp>
        <p:nvSpPr>
          <p:cNvPr id="12" name="TextBox 11">
            <a:extLst>
              <a:ext uri="{FF2B5EF4-FFF2-40B4-BE49-F238E27FC236}">
                <a16:creationId xmlns:a16="http://schemas.microsoft.com/office/drawing/2014/main" id="{F9595F40-11B5-3B7B-1912-58405531FDB2}"/>
              </a:ext>
            </a:extLst>
          </p:cNvPr>
          <p:cNvSpPr txBox="1"/>
          <p:nvPr/>
        </p:nvSpPr>
        <p:spPr>
          <a:xfrm rot="16200000">
            <a:off x="-193037" y="3531787"/>
            <a:ext cx="1102356" cy="25662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00"/>
                </a:solidFill>
                <a:effectLst/>
                <a:uLnTx/>
                <a:uFillTx/>
                <a:latin typeface="Calibri"/>
                <a:ea typeface="+mn-ea"/>
                <a:cs typeface="+mn-cs"/>
              </a:rPr>
              <a:t>Deal Score</a:t>
            </a:r>
          </a:p>
        </p:txBody>
      </p:sp>
      <p:sp>
        <p:nvSpPr>
          <p:cNvPr id="13" name="TextBox 12">
            <a:extLst>
              <a:ext uri="{FF2B5EF4-FFF2-40B4-BE49-F238E27FC236}">
                <a16:creationId xmlns:a16="http://schemas.microsoft.com/office/drawing/2014/main" id="{934FB588-38FD-9370-6E0C-2969BB86657B}"/>
              </a:ext>
            </a:extLst>
          </p:cNvPr>
          <p:cNvSpPr txBox="1"/>
          <p:nvPr/>
        </p:nvSpPr>
        <p:spPr>
          <a:xfrm>
            <a:off x="528652" y="2056014"/>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P</a:t>
            </a:r>
          </a:p>
        </p:txBody>
      </p:sp>
      <p:sp>
        <p:nvSpPr>
          <p:cNvPr id="20" name="Rectangle 19">
            <a:extLst>
              <a:ext uri="{FF2B5EF4-FFF2-40B4-BE49-F238E27FC236}">
                <a16:creationId xmlns:a16="http://schemas.microsoft.com/office/drawing/2014/main" id="{8F00D55B-193A-7D39-1375-0CA841F1D4FC}"/>
              </a:ext>
            </a:extLst>
          </p:cNvPr>
          <p:cNvSpPr/>
          <p:nvPr/>
        </p:nvSpPr>
        <p:spPr>
          <a:xfrm>
            <a:off x="5251453" y="3159815"/>
            <a:ext cx="566959" cy="2558838"/>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FFFFFF"/>
                </a:solidFill>
                <a:effectLst/>
                <a:uLnTx/>
                <a:uFillTx/>
                <a:latin typeface="Calibri"/>
                <a:ea typeface="+mn-ea"/>
                <a:cs typeface="+mn-cs"/>
              </a:rPr>
              <a:t>L4</a:t>
            </a:r>
          </a:p>
        </p:txBody>
      </p:sp>
      <p:sp>
        <p:nvSpPr>
          <p:cNvPr id="24" name="Rectangle 23">
            <a:extLst>
              <a:ext uri="{FF2B5EF4-FFF2-40B4-BE49-F238E27FC236}">
                <a16:creationId xmlns:a16="http://schemas.microsoft.com/office/drawing/2014/main" id="{E00800C1-C01F-DF01-CA0F-48804D53D580}"/>
              </a:ext>
            </a:extLst>
          </p:cNvPr>
          <p:cNvSpPr/>
          <p:nvPr/>
        </p:nvSpPr>
        <p:spPr>
          <a:xfrm>
            <a:off x="1664326" y="5078572"/>
            <a:ext cx="3587128" cy="64008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0">
                <a:solidFill>
                  <a:srgbClr val="FFFFFF"/>
                </a:solidFill>
                <a:latin typeface="Calibri"/>
              </a:rPr>
              <a:t>L3</a:t>
            </a:r>
          </a:p>
        </p:txBody>
      </p:sp>
      <p:sp>
        <p:nvSpPr>
          <p:cNvPr id="26" name="Rectangle 25">
            <a:extLst>
              <a:ext uri="{FF2B5EF4-FFF2-40B4-BE49-F238E27FC236}">
                <a16:creationId xmlns:a16="http://schemas.microsoft.com/office/drawing/2014/main" id="{58B39DFD-A6DE-8067-93CA-5EF7A1E965C8}"/>
              </a:ext>
            </a:extLst>
          </p:cNvPr>
          <p:cNvSpPr/>
          <p:nvPr/>
        </p:nvSpPr>
        <p:spPr>
          <a:xfrm>
            <a:off x="939705" y="3159816"/>
            <a:ext cx="4288495" cy="640080"/>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a:ea typeface="+mn-ea"/>
                <a:cs typeface="+mn-cs"/>
              </a:rPr>
              <a:t>           L1</a:t>
            </a:r>
          </a:p>
        </p:txBody>
      </p:sp>
      <p:sp>
        <p:nvSpPr>
          <p:cNvPr id="32" name="TextBox 31">
            <a:extLst>
              <a:ext uri="{FF2B5EF4-FFF2-40B4-BE49-F238E27FC236}">
                <a16:creationId xmlns:a16="http://schemas.microsoft.com/office/drawing/2014/main" id="{7F3FBF15-9FF2-E5D0-DB7D-A4D1F6A78D34}"/>
              </a:ext>
            </a:extLst>
          </p:cNvPr>
          <p:cNvSpPr txBox="1"/>
          <p:nvPr/>
        </p:nvSpPr>
        <p:spPr>
          <a:xfrm>
            <a:off x="520890" y="5768057"/>
            <a:ext cx="418817" cy="229464"/>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0</a:t>
            </a:r>
          </a:p>
        </p:txBody>
      </p:sp>
      <p:sp>
        <p:nvSpPr>
          <p:cNvPr id="33" name="TextBox 32">
            <a:extLst>
              <a:ext uri="{FF2B5EF4-FFF2-40B4-BE49-F238E27FC236}">
                <a16:creationId xmlns:a16="http://schemas.microsoft.com/office/drawing/2014/main" id="{6D394BA0-D7F8-44FF-5850-E1CC3DC68BFB}"/>
              </a:ext>
            </a:extLst>
          </p:cNvPr>
          <p:cNvSpPr txBox="1"/>
          <p:nvPr/>
        </p:nvSpPr>
        <p:spPr>
          <a:xfrm>
            <a:off x="1438526" y="5768057"/>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kern="0">
                <a:solidFill>
                  <a:srgbClr val="000000"/>
                </a:solidFill>
                <a:latin typeface="Calibri"/>
              </a:rPr>
              <a:t>$10k</a:t>
            </a:r>
            <a:endParaRPr kumimoji="0" lang="en-US" sz="1400" b="0" i="0" u="none" strike="noStrike" kern="0" cap="none" spc="0" normalizeH="0" baseline="0" noProof="0">
              <a:ln>
                <a:noFill/>
              </a:ln>
              <a:solidFill>
                <a:srgbClr val="000000"/>
              </a:solidFill>
              <a:effectLst/>
              <a:uLnTx/>
              <a:uFillTx/>
              <a:latin typeface="Calibri"/>
              <a:ea typeface="+mn-ea"/>
              <a:cs typeface="+mn-cs"/>
            </a:endParaRPr>
          </a:p>
        </p:txBody>
      </p:sp>
      <p:sp>
        <p:nvSpPr>
          <p:cNvPr id="35" name="TextBox 34">
            <a:extLst>
              <a:ext uri="{FF2B5EF4-FFF2-40B4-BE49-F238E27FC236}">
                <a16:creationId xmlns:a16="http://schemas.microsoft.com/office/drawing/2014/main" id="{99F781F9-174D-7104-16B3-BCF0AD1F88B8}"/>
              </a:ext>
            </a:extLst>
          </p:cNvPr>
          <p:cNvSpPr txBox="1"/>
          <p:nvPr/>
        </p:nvSpPr>
        <p:spPr>
          <a:xfrm>
            <a:off x="507554" y="2685337"/>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A</a:t>
            </a:r>
          </a:p>
        </p:txBody>
      </p:sp>
      <p:sp>
        <p:nvSpPr>
          <p:cNvPr id="36" name="TextBox 35">
            <a:extLst>
              <a:ext uri="{FF2B5EF4-FFF2-40B4-BE49-F238E27FC236}">
                <a16:creationId xmlns:a16="http://schemas.microsoft.com/office/drawing/2014/main" id="{805813D4-7595-B149-FA3D-16C30613ECBC}"/>
              </a:ext>
            </a:extLst>
          </p:cNvPr>
          <p:cNvSpPr txBox="1"/>
          <p:nvPr/>
        </p:nvSpPr>
        <p:spPr>
          <a:xfrm>
            <a:off x="507554" y="3314660"/>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B</a:t>
            </a:r>
          </a:p>
        </p:txBody>
      </p:sp>
      <p:sp>
        <p:nvSpPr>
          <p:cNvPr id="37" name="TextBox 36">
            <a:extLst>
              <a:ext uri="{FF2B5EF4-FFF2-40B4-BE49-F238E27FC236}">
                <a16:creationId xmlns:a16="http://schemas.microsoft.com/office/drawing/2014/main" id="{682AF29E-9EDC-BA3D-34E1-F6627D945190}"/>
              </a:ext>
            </a:extLst>
          </p:cNvPr>
          <p:cNvSpPr txBox="1"/>
          <p:nvPr/>
        </p:nvSpPr>
        <p:spPr>
          <a:xfrm>
            <a:off x="507554" y="3943983"/>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C</a:t>
            </a:r>
          </a:p>
        </p:txBody>
      </p:sp>
      <p:sp>
        <p:nvSpPr>
          <p:cNvPr id="38" name="TextBox 37">
            <a:extLst>
              <a:ext uri="{FF2B5EF4-FFF2-40B4-BE49-F238E27FC236}">
                <a16:creationId xmlns:a16="http://schemas.microsoft.com/office/drawing/2014/main" id="{0C3F505B-603C-5C40-0469-4C0CBA6655F9}"/>
              </a:ext>
            </a:extLst>
          </p:cNvPr>
          <p:cNvSpPr txBox="1"/>
          <p:nvPr/>
        </p:nvSpPr>
        <p:spPr>
          <a:xfrm>
            <a:off x="507554" y="5202629"/>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E</a:t>
            </a:r>
          </a:p>
        </p:txBody>
      </p:sp>
      <p:sp>
        <p:nvSpPr>
          <p:cNvPr id="39" name="TextBox 38">
            <a:extLst>
              <a:ext uri="{FF2B5EF4-FFF2-40B4-BE49-F238E27FC236}">
                <a16:creationId xmlns:a16="http://schemas.microsoft.com/office/drawing/2014/main" id="{40378BC6-5E92-4E8D-66A2-E140EE6CBF02}"/>
              </a:ext>
            </a:extLst>
          </p:cNvPr>
          <p:cNvSpPr txBox="1"/>
          <p:nvPr/>
        </p:nvSpPr>
        <p:spPr>
          <a:xfrm>
            <a:off x="507554" y="4573306"/>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D</a:t>
            </a:r>
          </a:p>
        </p:txBody>
      </p:sp>
      <p:sp>
        <p:nvSpPr>
          <p:cNvPr id="40" name="TextBox 39">
            <a:extLst>
              <a:ext uri="{FF2B5EF4-FFF2-40B4-BE49-F238E27FC236}">
                <a16:creationId xmlns:a16="http://schemas.microsoft.com/office/drawing/2014/main" id="{13E390DD-C0C3-8B09-FA7D-14942B102B64}"/>
              </a:ext>
            </a:extLst>
          </p:cNvPr>
          <p:cNvSpPr txBox="1"/>
          <p:nvPr/>
        </p:nvSpPr>
        <p:spPr>
          <a:xfrm>
            <a:off x="3389680" y="5768057"/>
            <a:ext cx="418817"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100k</a:t>
            </a:r>
          </a:p>
        </p:txBody>
      </p:sp>
      <p:sp>
        <p:nvSpPr>
          <p:cNvPr id="41" name="TextBox 40">
            <a:extLst>
              <a:ext uri="{FF2B5EF4-FFF2-40B4-BE49-F238E27FC236}">
                <a16:creationId xmlns:a16="http://schemas.microsoft.com/office/drawing/2014/main" id="{FD524568-CDCC-3B95-F2F5-5417ABD07DA2}"/>
              </a:ext>
            </a:extLst>
          </p:cNvPr>
          <p:cNvSpPr txBox="1"/>
          <p:nvPr/>
        </p:nvSpPr>
        <p:spPr>
          <a:xfrm>
            <a:off x="5005485" y="5768057"/>
            <a:ext cx="491939"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Calibri"/>
                <a:ea typeface="+mn-ea"/>
                <a:cs typeface="+mn-cs"/>
              </a:rPr>
              <a:t>$250k</a:t>
            </a:r>
          </a:p>
        </p:txBody>
      </p:sp>
      <p:sp>
        <p:nvSpPr>
          <p:cNvPr id="51" name="Title 50">
            <a:extLst>
              <a:ext uri="{FF2B5EF4-FFF2-40B4-BE49-F238E27FC236}">
                <a16:creationId xmlns:a16="http://schemas.microsoft.com/office/drawing/2014/main" id="{F15C70D6-C496-C7D1-74BB-54E4032B91A0}"/>
              </a:ext>
            </a:extLst>
          </p:cNvPr>
          <p:cNvSpPr>
            <a:spLocks noGrp="1"/>
          </p:cNvSpPr>
          <p:nvPr>
            <p:ph type="title"/>
          </p:nvPr>
        </p:nvSpPr>
        <p:spPr/>
        <p:txBody>
          <a:bodyPr vert="horz"/>
          <a:lstStyle/>
          <a:p>
            <a:r>
              <a:rPr lang="en-US">
                <a:solidFill>
                  <a:schemeClr val="accent2"/>
                </a:solidFill>
              </a:rPr>
              <a:t>Approval workflows:  </a:t>
            </a:r>
            <a:r>
              <a:rPr lang="en-US"/>
              <a:t>Deal scores and size will drive routing of approvals</a:t>
            </a:r>
            <a:br>
              <a:rPr lang="en-US"/>
            </a:br>
            <a:endParaRPr lang="en-GB" sz="1600" b="0" cap="none">
              <a:latin typeface="+mn-lt"/>
              <a:ea typeface="+mn-ea"/>
              <a:cs typeface="+mn-cs"/>
            </a:endParaRPr>
          </a:p>
        </p:txBody>
      </p:sp>
      <p:sp>
        <p:nvSpPr>
          <p:cNvPr id="2" name="Text Placeholder 1">
            <a:extLst>
              <a:ext uri="{FF2B5EF4-FFF2-40B4-BE49-F238E27FC236}">
                <a16:creationId xmlns:a16="http://schemas.microsoft.com/office/drawing/2014/main" id="{E0DD6668-85AB-3285-772D-1E61B88950FA}"/>
              </a:ext>
            </a:extLst>
          </p:cNvPr>
          <p:cNvSpPr>
            <a:spLocks noGrp="1"/>
          </p:cNvSpPr>
          <p:nvPr>
            <p:ph type="body" idx="10"/>
          </p:nvPr>
        </p:nvSpPr>
        <p:spPr/>
        <p:txBody>
          <a:bodyPr/>
          <a:lstStyle/>
          <a:p>
            <a:r>
              <a:rPr lang="en-GB"/>
              <a:t>Final approver matrix</a:t>
            </a:r>
          </a:p>
          <a:p>
            <a:endParaRPr lang="en-GB"/>
          </a:p>
        </p:txBody>
      </p:sp>
      <p:sp>
        <p:nvSpPr>
          <p:cNvPr id="4" name="Text Placeholder 3">
            <a:extLst>
              <a:ext uri="{FF2B5EF4-FFF2-40B4-BE49-F238E27FC236}">
                <a16:creationId xmlns:a16="http://schemas.microsoft.com/office/drawing/2014/main" id="{6C5805B6-BDE4-5DF7-DF5A-62ABBFFE7860}"/>
              </a:ext>
            </a:extLst>
          </p:cNvPr>
          <p:cNvSpPr>
            <a:spLocks noGrp="1"/>
          </p:cNvSpPr>
          <p:nvPr>
            <p:ph type="body" sz="quarter" idx="13"/>
          </p:nvPr>
        </p:nvSpPr>
        <p:spPr/>
        <p:txBody>
          <a:bodyPr/>
          <a:lstStyle/>
          <a:p>
            <a:r>
              <a:rPr lang="en-GB"/>
              <a:t>Approval levels and role</a:t>
            </a:r>
          </a:p>
        </p:txBody>
      </p:sp>
      <p:sp>
        <p:nvSpPr>
          <p:cNvPr id="53" name="Rectangle 52">
            <a:extLst>
              <a:ext uri="{FF2B5EF4-FFF2-40B4-BE49-F238E27FC236}">
                <a16:creationId xmlns:a16="http://schemas.microsoft.com/office/drawing/2014/main" id="{965255E2-2738-6FBD-7C22-5A60E73CC1A7}"/>
              </a:ext>
            </a:extLst>
          </p:cNvPr>
          <p:cNvSpPr/>
          <p:nvPr/>
        </p:nvSpPr>
        <p:spPr>
          <a:xfrm>
            <a:off x="939705" y="4438490"/>
            <a:ext cx="708218" cy="1280162"/>
          </a:xfrm>
          <a:prstGeom prst="rect">
            <a:avLst/>
          </a:prstGeom>
          <a:solidFill>
            <a:schemeClr val="bg1">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a:ln>
                  <a:noFill/>
                </a:ln>
                <a:solidFill>
                  <a:schemeClr val="bg1"/>
                </a:solidFill>
                <a:effectLst/>
                <a:uLnTx/>
                <a:uFillTx/>
                <a:latin typeface="Calibri"/>
                <a:ea typeface="+mn-ea"/>
                <a:cs typeface="+mn-cs"/>
              </a:rPr>
              <a:t>Auto-Block</a:t>
            </a:r>
          </a:p>
        </p:txBody>
      </p:sp>
      <p:sp>
        <p:nvSpPr>
          <p:cNvPr id="16" name="Rectangle 15">
            <a:extLst>
              <a:ext uri="{FF2B5EF4-FFF2-40B4-BE49-F238E27FC236}">
                <a16:creationId xmlns:a16="http://schemas.microsoft.com/office/drawing/2014/main" id="{2BC441EA-A02A-9E12-8F2E-8C646ABC11EF}"/>
              </a:ext>
            </a:extLst>
          </p:cNvPr>
          <p:cNvSpPr/>
          <p:nvPr/>
        </p:nvSpPr>
        <p:spPr>
          <a:xfrm>
            <a:off x="939705" y="2517893"/>
            <a:ext cx="4878705" cy="64008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a:ea typeface="+mn-ea"/>
                <a:cs typeface="+mn-cs"/>
              </a:rPr>
              <a:t>  L0</a:t>
            </a:r>
          </a:p>
        </p:txBody>
      </p:sp>
      <p:sp>
        <p:nvSpPr>
          <p:cNvPr id="17" name="Rectangle 16">
            <a:extLst>
              <a:ext uri="{FF2B5EF4-FFF2-40B4-BE49-F238E27FC236}">
                <a16:creationId xmlns:a16="http://schemas.microsoft.com/office/drawing/2014/main" id="{E51AE870-9D52-438B-3432-9B3751AC4E98}"/>
              </a:ext>
            </a:extLst>
          </p:cNvPr>
          <p:cNvSpPr/>
          <p:nvPr/>
        </p:nvSpPr>
        <p:spPr>
          <a:xfrm>
            <a:off x="939705" y="1881317"/>
            <a:ext cx="4878703" cy="640080"/>
          </a:xfrm>
          <a:prstGeom prst="rect">
            <a:avLst/>
          </a:prstGeom>
          <a:solidFill>
            <a:srgbClr val="CAE9D3"/>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u="none" strike="noStrike" kern="0" cap="none" spc="0" normalizeH="0" baseline="0" noProof="0">
                <a:ln>
                  <a:noFill/>
                </a:ln>
                <a:solidFill>
                  <a:srgbClr val="000000"/>
                </a:solidFill>
                <a:effectLst/>
                <a:uLnTx/>
                <a:uFillTx/>
                <a:latin typeface="Calibri"/>
                <a:ea typeface="+mn-ea"/>
                <a:cs typeface="+mn-cs"/>
              </a:rPr>
              <a:t>   L0*</a:t>
            </a:r>
          </a:p>
        </p:txBody>
      </p:sp>
      <p:sp>
        <p:nvSpPr>
          <p:cNvPr id="18" name="Rectangle 17">
            <a:extLst>
              <a:ext uri="{FF2B5EF4-FFF2-40B4-BE49-F238E27FC236}">
                <a16:creationId xmlns:a16="http://schemas.microsoft.com/office/drawing/2014/main" id="{56525937-2154-25A1-3985-3755B1A1D3FC}"/>
              </a:ext>
            </a:extLst>
          </p:cNvPr>
          <p:cNvSpPr/>
          <p:nvPr/>
        </p:nvSpPr>
        <p:spPr>
          <a:xfrm>
            <a:off x="939705" y="3799153"/>
            <a:ext cx="4300122" cy="640080"/>
          </a:xfrm>
          <a:prstGeom prst="rect">
            <a:avLst/>
          </a:prstGeom>
          <a:solidFill>
            <a:schemeClr val="accent2">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0" cap="none" spc="0" normalizeH="0" baseline="0" noProof="0">
              <a:ln>
                <a:noFill/>
              </a:ln>
              <a:solidFill>
                <a:prstClr val="black"/>
              </a:solidFill>
              <a:effectLst/>
              <a:uLnTx/>
              <a:uFillTx/>
              <a:latin typeface="Calibri"/>
              <a:ea typeface="+mn-ea"/>
              <a:cs typeface="+mn-cs"/>
            </a:endParaRPr>
          </a:p>
        </p:txBody>
      </p:sp>
      <p:sp>
        <p:nvSpPr>
          <p:cNvPr id="27" name="Rectangle 26">
            <a:extLst>
              <a:ext uri="{FF2B5EF4-FFF2-40B4-BE49-F238E27FC236}">
                <a16:creationId xmlns:a16="http://schemas.microsoft.com/office/drawing/2014/main" id="{E9DF3614-D648-124A-4204-6482B8A9F8CE}"/>
              </a:ext>
            </a:extLst>
          </p:cNvPr>
          <p:cNvSpPr/>
          <p:nvPr/>
        </p:nvSpPr>
        <p:spPr>
          <a:xfrm>
            <a:off x="1663450" y="3820552"/>
            <a:ext cx="3588003" cy="1258018"/>
          </a:xfrm>
          <a:prstGeom prst="rect">
            <a:avLst/>
          </a:prstGeom>
          <a:solidFill>
            <a:schemeClr val="accent2">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prstClr val="black"/>
                </a:solidFill>
                <a:effectLst/>
                <a:uLnTx/>
                <a:uFillTx/>
                <a:latin typeface="Calibri"/>
                <a:ea typeface="+mn-ea"/>
                <a:cs typeface="+mn-cs"/>
              </a:rPr>
              <a:t>L2</a:t>
            </a:r>
          </a:p>
        </p:txBody>
      </p:sp>
      <p:cxnSp>
        <p:nvCxnSpPr>
          <p:cNvPr id="3" name="Straight Connector 2">
            <a:extLst>
              <a:ext uri="{FF2B5EF4-FFF2-40B4-BE49-F238E27FC236}">
                <a16:creationId xmlns:a16="http://schemas.microsoft.com/office/drawing/2014/main" id="{D82C8893-7ACF-3158-7C9D-3474E3DDBC64}"/>
              </a:ext>
            </a:extLst>
          </p:cNvPr>
          <p:cNvCxnSpPr>
            <a:cxnSpLocks/>
          </p:cNvCxnSpPr>
          <p:nvPr/>
        </p:nvCxnSpPr>
        <p:spPr>
          <a:xfrm flipV="1">
            <a:off x="1655686" y="1825646"/>
            <a:ext cx="0" cy="3893006"/>
          </a:xfrm>
          <a:prstGeom prst="line">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0C3F9A2-922A-6506-7C05-3F4433B0326E}"/>
              </a:ext>
            </a:extLst>
          </p:cNvPr>
          <p:cNvCxnSpPr>
            <a:cxnSpLocks/>
          </p:cNvCxnSpPr>
          <p:nvPr/>
        </p:nvCxnSpPr>
        <p:spPr>
          <a:xfrm flipV="1">
            <a:off x="3695030" y="1825646"/>
            <a:ext cx="0" cy="3893006"/>
          </a:xfrm>
          <a:prstGeom prst="line">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C64E10-D5A3-3746-8FA2-5A738B3DEB80}"/>
              </a:ext>
            </a:extLst>
          </p:cNvPr>
          <p:cNvCxnSpPr>
            <a:cxnSpLocks/>
          </p:cNvCxnSpPr>
          <p:nvPr/>
        </p:nvCxnSpPr>
        <p:spPr>
          <a:xfrm flipV="1">
            <a:off x="5239827" y="1825646"/>
            <a:ext cx="0" cy="3893006"/>
          </a:xfrm>
          <a:prstGeom prst="line">
            <a:avLst/>
          </a:prstGeom>
          <a:ln w="190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1" name="Conclusion">
            <a:extLst>
              <a:ext uri="{FF2B5EF4-FFF2-40B4-BE49-F238E27FC236}">
                <a16:creationId xmlns:a16="http://schemas.microsoft.com/office/drawing/2014/main" id="{34E02DD1-1D06-21EE-06C0-40FBEE2CCE63}"/>
              </a:ext>
            </a:extLst>
          </p:cNvPr>
          <p:cNvGraphicFramePr>
            <a:graphicFrameLocks noGrp="1"/>
          </p:cNvGraphicFramePr>
          <p:nvPr/>
        </p:nvGraphicFramePr>
        <p:xfrm>
          <a:off x="538840" y="6221361"/>
          <a:ext cx="11277600" cy="288132"/>
        </p:xfrm>
        <a:graphic>
          <a:graphicData uri="http://schemas.openxmlformats.org/drawingml/2006/table">
            <a:tbl>
              <a:tblPr firstRow="1" bandRow="1">
                <a:tableStyleId>{839DD9DD-9E6C-4910-8AC0-68ADFF6A6AFC}</a:tableStyleId>
              </a:tblPr>
              <a:tblGrid>
                <a:gridCol w="11277600">
                  <a:extLst>
                    <a:ext uri="{9D8B030D-6E8A-4147-A177-3AD203B41FA5}">
                      <a16:colId xmlns:a16="http://schemas.microsoft.com/office/drawing/2014/main" val="4098187308"/>
                    </a:ext>
                  </a:extLst>
                </a:gridCol>
              </a:tblGrid>
              <a:tr h="203200">
                <a:tc>
                  <a:txBody>
                    <a:bodyPr/>
                    <a:lstStyle/>
                    <a:p>
                      <a:r>
                        <a:rPr kumimoji="0" lang="en-US" sz="1300" b="0" i="1" u="none" baseline="0">
                          <a:solidFill>
                            <a:schemeClr val="tx1"/>
                          </a:solidFill>
                          <a:latin typeface="+mn-lt"/>
                          <a:ea typeface="+mn-ea"/>
                          <a:cs typeface="+mn-cs"/>
                        </a:rPr>
                        <a:t>Note: Colors indicate the final approver for an opportunity; preceding levels will also need to approve.  For example, L4 final approval will require L1-L3 approvals</a:t>
                      </a:r>
                      <a:endParaRPr kumimoji="0" lang="en-GB" sz="1300" b="0" i="1" u="none" baseline="0">
                        <a:solidFill>
                          <a:schemeClr val="tx1"/>
                        </a:solidFill>
                        <a:latin typeface="+mn-lt"/>
                        <a:ea typeface="+mn-ea"/>
                        <a:cs typeface="+mn-cs"/>
                      </a:endParaRPr>
                    </a:p>
                  </a:txBody>
                  <a:tcPr marL="90011" marR="90011" marT="45006" marB="45006"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3319332"/>
                  </a:ext>
                </a:extLst>
              </a:tr>
            </a:tbl>
          </a:graphicData>
        </a:graphic>
      </p:graphicFrame>
      <p:sp>
        <p:nvSpPr>
          <p:cNvPr id="8" name="Rectangle 7">
            <a:extLst>
              <a:ext uri="{FF2B5EF4-FFF2-40B4-BE49-F238E27FC236}">
                <a16:creationId xmlns:a16="http://schemas.microsoft.com/office/drawing/2014/main" id="{47EB7E28-BFEE-FC0D-C217-A6BC735086CF}"/>
              </a:ext>
            </a:extLst>
          </p:cNvPr>
          <p:cNvSpPr/>
          <p:nvPr/>
        </p:nvSpPr>
        <p:spPr>
          <a:xfrm>
            <a:off x="5251484" y="3159816"/>
            <a:ext cx="566928" cy="640080"/>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kern="0">
                <a:solidFill>
                  <a:srgbClr val="FFFFFF"/>
                </a:solidFill>
                <a:latin typeface="Calibri"/>
              </a:rPr>
              <a:t>L3</a:t>
            </a:r>
          </a:p>
        </p:txBody>
      </p:sp>
      <p:sp>
        <p:nvSpPr>
          <p:cNvPr id="14" name="Speech Bubble: Rectangle 13">
            <a:extLst>
              <a:ext uri="{FF2B5EF4-FFF2-40B4-BE49-F238E27FC236}">
                <a16:creationId xmlns:a16="http://schemas.microsoft.com/office/drawing/2014/main" id="{2E4E6419-140A-562C-0685-24B69C4F247D}"/>
              </a:ext>
            </a:extLst>
          </p:cNvPr>
          <p:cNvSpPr/>
          <p:nvPr/>
        </p:nvSpPr>
        <p:spPr>
          <a:xfrm>
            <a:off x="10147361" y="926061"/>
            <a:ext cx="1911550" cy="1027359"/>
          </a:xfrm>
          <a:prstGeom prst="wedgeRectCallout">
            <a:avLst>
              <a:gd name="adj1" fmla="val -39200"/>
              <a:gd name="adj2" fmla="val 63955"/>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Complications with baskets still requiring definition:</a:t>
            </a:r>
          </a:p>
          <a:p>
            <a:pPr marL="179994" indent="-179994">
              <a:buSzPct val="100000"/>
              <a:buFont typeface="Arial" panose="020B0604020202020204" pitchFamily="34" charset="0"/>
              <a:buChar char="•"/>
            </a:pPr>
            <a:r>
              <a:rPr lang="en-US" sz="1050" kern="0">
                <a:solidFill>
                  <a:schemeClr val="tx1"/>
                </a:solidFill>
                <a:sym typeface="+mn-lt"/>
              </a:rPr>
              <a:t>Approval may imply multiple PL managers</a:t>
            </a:r>
          </a:p>
          <a:p>
            <a:pPr marL="179994" indent="-179994">
              <a:buSzPct val="100000"/>
              <a:buFont typeface="Arial" panose="020B0604020202020204" pitchFamily="34" charset="0"/>
              <a:buChar char="•"/>
            </a:pPr>
            <a:r>
              <a:rPr lang="en-US" sz="1050" kern="0">
                <a:solidFill>
                  <a:schemeClr val="tx1"/>
                </a:solidFill>
                <a:sym typeface="+mn-lt"/>
              </a:rPr>
              <a:t>Basket may involve multiple CBUs</a:t>
            </a:r>
          </a:p>
        </p:txBody>
      </p:sp>
      <p:sp>
        <p:nvSpPr>
          <p:cNvPr id="15" name="Speech Bubble: Rectangle 14">
            <a:extLst>
              <a:ext uri="{FF2B5EF4-FFF2-40B4-BE49-F238E27FC236}">
                <a16:creationId xmlns:a16="http://schemas.microsoft.com/office/drawing/2014/main" id="{99ED6B41-0D40-0551-BF1D-4D99E55F1386}"/>
              </a:ext>
            </a:extLst>
          </p:cNvPr>
          <p:cNvSpPr/>
          <p:nvPr/>
        </p:nvSpPr>
        <p:spPr>
          <a:xfrm>
            <a:off x="7194450" y="5501181"/>
            <a:ext cx="3225897" cy="611852"/>
          </a:xfrm>
          <a:prstGeom prst="wedgeRectCallout">
            <a:avLst>
              <a:gd name="adj1" fmla="val -27672"/>
              <a:gd name="adj2" fmla="val -69669"/>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Note: “Or” implies review would be directed to both Ken/Chris as a means to split review burden (group to confirm whether either can provide review / sign-off)</a:t>
            </a:r>
          </a:p>
        </p:txBody>
      </p:sp>
      <p:sp>
        <p:nvSpPr>
          <p:cNvPr id="19" name="Ghost">
            <a:extLst>
              <a:ext uri="{FF2B5EF4-FFF2-40B4-BE49-F238E27FC236}">
                <a16:creationId xmlns:a16="http://schemas.microsoft.com/office/drawing/2014/main" id="{6A3E6B0E-0890-2E53-7B65-0D27AE3DFF72}"/>
              </a:ext>
            </a:extLst>
          </p:cNvPr>
          <p:cNvSpPr/>
          <p:nvPr/>
        </p:nvSpPr>
        <p:spPr>
          <a:xfrm>
            <a:off x="457200" y="107385"/>
            <a:ext cx="1984518" cy="169277"/>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r>
              <a:rPr lang="en-US" sz="1100" kern="0">
                <a:solidFill>
                  <a:schemeClr val="accent3"/>
                </a:solidFill>
              </a:rPr>
              <a:t>Operating Model and Organization</a:t>
            </a:r>
          </a:p>
        </p:txBody>
      </p:sp>
      <p:sp>
        <p:nvSpPr>
          <p:cNvPr id="21" name="Oval 20">
            <a:extLst>
              <a:ext uri="{FF2B5EF4-FFF2-40B4-BE49-F238E27FC236}">
                <a16:creationId xmlns:a16="http://schemas.microsoft.com/office/drawing/2014/main" id="{FB764E2B-824C-DA3A-5743-36EBD8753EFC}"/>
              </a:ext>
            </a:extLst>
          </p:cNvPr>
          <p:cNvSpPr/>
          <p:nvPr/>
        </p:nvSpPr>
        <p:spPr>
          <a:xfrm>
            <a:off x="12958549" y="2831910"/>
            <a:ext cx="1378424" cy="1098645"/>
          </a:xfrm>
          <a:prstGeom prst="ellipse">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400" kern="0">
                <a:solidFill>
                  <a:schemeClr val="tx1"/>
                </a:solidFill>
              </a:rPr>
              <a:t>CD + TS </a:t>
            </a:r>
          </a:p>
        </p:txBody>
      </p:sp>
    </p:spTree>
    <p:extLst>
      <p:ext uri="{BB962C8B-B14F-4D97-AF65-F5344CB8AC3E}">
        <p14:creationId xmlns:p14="http://schemas.microsoft.com/office/powerpoint/2010/main" val="1246764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EC37-0D9C-2A3D-3E2A-992B5219590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7B65574-6825-066C-E708-3CE32330BBD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69" imgH="469" progId="TCLayout.ActiveDocument.1">
                  <p:embed/>
                </p:oleObj>
              </mc:Choice>
              <mc:Fallback>
                <p:oleObj name="think-cell Slide" r:id="rId4" imgW="469" imgH="469" progId="TCLayout.ActiveDocument.1">
                  <p:embed/>
                  <p:pic>
                    <p:nvPicPr>
                      <p:cNvPr id="6" name="think-cell data - do not delete" hidden="1">
                        <a:extLst>
                          <a:ext uri="{FF2B5EF4-FFF2-40B4-BE49-F238E27FC236}">
                            <a16:creationId xmlns:a16="http://schemas.microsoft.com/office/drawing/2014/main" id="{27B65574-6825-066C-E708-3CE32330BBD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10" name="Table 9">
            <a:extLst>
              <a:ext uri="{FF2B5EF4-FFF2-40B4-BE49-F238E27FC236}">
                <a16:creationId xmlns:a16="http://schemas.microsoft.com/office/drawing/2014/main" id="{4F92E685-33A5-1E98-A98A-3194655B0292}"/>
              </a:ext>
            </a:extLst>
          </p:cNvPr>
          <p:cNvGraphicFramePr>
            <a:graphicFrameLocks noGrp="1"/>
          </p:cNvGraphicFramePr>
          <p:nvPr/>
        </p:nvGraphicFramePr>
        <p:xfrm>
          <a:off x="457200" y="1881317"/>
          <a:ext cx="5410199" cy="3652993"/>
        </p:xfrm>
        <a:graphic>
          <a:graphicData uri="http://schemas.openxmlformats.org/drawingml/2006/table">
            <a:tbl>
              <a:tblPr firstRow="1" bandRow="1"/>
              <a:tblGrid>
                <a:gridCol w="540129">
                  <a:extLst>
                    <a:ext uri="{9D8B030D-6E8A-4147-A177-3AD203B41FA5}">
                      <a16:colId xmlns:a16="http://schemas.microsoft.com/office/drawing/2014/main" val="2167938900"/>
                    </a:ext>
                  </a:extLst>
                </a:gridCol>
                <a:gridCol w="1017399">
                  <a:extLst>
                    <a:ext uri="{9D8B030D-6E8A-4147-A177-3AD203B41FA5}">
                      <a16:colId xmlns:a16="http://schemas.microsoft.com/office/drawing/2014/main" val="2636790228"/>
                    </a:ext>
                  </a:extLst>
                </a:gridCol>
                <a:gridCol w="1664208">
                  <a:extLst>
                    <a:ext uri="{9D8B030D-6E8A-4147-A177-3AD203B41FA5}">
                      <a16:colId xmlns:a16="http://schemas.microsoft.com/office/drawing/2014/main" val="3842429013"/>
                    </a:ext>
                  </a:extLst>
                </a:gridCol>
                <a:gridCol w="2188463">
                  <a:extLst>
                    <a:ext uri="{9D8B030D-6E8A-4147-A177-3AD203B41FA5}">
                      <a16:colId xmlns:a16="http://schemas.microsoft.com/office/drawing/2014/main" val="966823380"/>
                    </a:ext>
                  </a:extLst>
                </a:gridCol>
              </a:tblGrid>
              <a:tr h="307945">
                <a:tc>
                  <a:txBody>
                    <a:bodyPr/>
                    <a:lstStyle/>
                    <a:p>
                      <a:pPr algn="ctr"/>
                      <a:r>
                        <a:rPr lang="en-US" sz="1100" b="1">
                          <a:solidFill>
                            <a:schemeClr val="tx1"/>
                          </a:solidFill>
                          <a:cs typeface="+mn-cs"/>
                        </a:rPr>
                        <a:t>Level</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p>
                      <a:r>
                        <a:rPr lang="en-US" sz="1100" b="1">
                          <a:solidFill>
                            <a:schemeClr val="tx1"/>
                          </a:solidFill>
                          <a:cs typeface="+mn-cs"/>
                        </a:rPr>
                        <a:t>Stage Name</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p>
                      <a:r>
                        <a:rPr lang="en-US" sz="1100" b="1">
                          <a:solidFill>
                            <a:schemeClr val="tx1"/>
                          </a:solidFill>
                          <a:cs typeface="+mn-cs"/>
                        </a:rPr>
                        <a:t>Approver(s)</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p>
                      <a:r>
                        <a:rPr lang="en-US" sz="1100" b="1">
                          <a:solidFill>
                            <a:schemeClr val="tx1"/>
                          </a:solidFill>
                          <a:cs typeface="+mn-cs"/>
                        </a:rPr>
                        <a:t>Approver is determined by…</a:t>
                      </a:r>
                    </a:p>
                  </a:txBody>
                  <a:tcPr anchor="b">
                    <a:lnL>
                      <a:noFill/>
                    </a:lnL>
                    <a:lnR>
                      <a:noFill/>
                    </a:lnR>
                    <a:lnT>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0F0F0"/>
                    </a:solidFill>
                  </a:tcPr>
                </a:tc>
                <a:extLst>
                  <a:ext uri="{0D108BD9-81ED-4DB2-BD59-A6C34878D82A}">
                    <a16:rowId xmlns:a16="http://schemas.microsoft.com/office/drawing/2014/main" val="3254911805"/>
                  </a:ext>
                </a:extLst>
              </a:tr>
              <a:tr h="645762">
                <a:tc>
                  <a:txBody>
                    <a:bodyPr/>
                    <a:lstStyle/>
                    <a:p>
                      <a:pPr algn="ctr"/>
                      <a:r>
                        <a:rPr lang="en-US" sz="1100" b="1">
                          <a:solidFill>
                            <a:schemeClr val="tx1"/>
                          </a:solidFill>
                          <a:cs typeface="+mn-cs"/>
                        </a:rPr>
                        <a:t>L0</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100" b="1">
                          <a:cs typeface="+mn-cs"/>
                        </a:rPr>
                        <a:t>N/A</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1100" b="0">
                          <a:cs typeface="+mn-cs"/>
                        </a:rPr>
                        <a:t>Auto-approved (skips straight to close)</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indent="0">
                        <a:buFont typeface="Arial" panose="020B0604020202020204" pitchFamily="34" charset="0"/>
                        <a:buNone/>
                      </a:pPr>
                      <a:r>
                        <a:rPr lang="en-US" sz="1100">
                          <a:cs typeface="+mn-cs"/>
                        </a:rPr>
                        <a:t>N/A</a:t>
                      </a:r>
                    </a:p>
                  </a:txBody>
                  <a:tcPr anchor="ctr">
                    <a:lnL>
                      <a:noFill/>
                    </a:lnL>
                    <a:lnR>
                      <a:noFill/>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01787291"/>
                  </a:ext>
                </a:extLst>
              </a:tr>
              <a:tr h="645762">
                <a:tc>
                  <a:txBody>
                    <a:bodyPr/>
                    <a:lstStyle/>
                    <a:p>
                      <a:pPr algn="ctr"/>
                      <a:r>
                        <a:rPr lang="en-US" sz="1100" b="1">
                          <a:solidFill>
                            <a:schemeClr val="tx1"/>
                          </a:solidFill>
                          <a:cs typeface="+mn-cs"/>
                        </a:rPr>
                        <a:t>L1/L2</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tc>
                  <a:txBody>
                    <a:bodyPr/>
                    <a:lstStyle/>
                    <a:p>
                      <a:r>
                        <a:rPr lang="en-US" sz="1100" b="1">
                          <a:cs typeface="+mn-cs"/>
                        </a:rPr>
                        <a:t>Sales Manager Approval</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cs typeface="+mn-cs"/>
                        </a:rPr>
                        <a:t>Frontline Sales Manager [if L1-3] + </a:t>
                      </a:r>
                    </a:p>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cs typeface="+mn-cs"/>
                        </a:rPr>
                        <a:t>CBU Lead (Eric J.) [if L2-4]</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tc>
                  <a:txBody>
                    <a:bodyPr/>
                    <a:lstStyle/>
                    <a:p>
                      <a:pPr marL="0" indent="0">
                        <a:buFont typeface="Arial" panose="020B0604020202020204" pitchFamily="34" charset="0"/>
                        <a:buNone/>
                      </a:pPr>
                      <a:r>
                        <a:rPr lang="en-US" sz="1100" b="1">
                          <a:cs typeface="+mn-cs"/>
                        </a:rPr>
                        <a:t>Sales-Rep driven </a:t>
                      </a:r>
                      <a:r>
                        <a:rPr lang="en-US" sz="1100">
                          <a:cs typeface="+mn-cs"/>
                        </a:rPr>
                        <a:t>(direct manager + CBU Commercial lead)</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7EDFF"/>
                    </a:solidFill>
                  </a:tcPr>
                </a:tc>
                <a:extLst>
                  <a:ext uri="{0D108BD9-81ED-4DB2-BD59-A6C34878D82A}">
                    <a16:rowId xmlns:a16="http://schemas.microsoft.com/office/drawing/2014/main" val="2992545265"/>
                  </a:ext>
                </a:extLst>
              </a:tr>
              <a:tr h="645762">
                <a:tc>
                  <a:txBody>
                    <a:bodyPr/>
                    <a:lstStyle/>
                    <a:p>
                      <a:pPr algn="ctr"/>
                      <a:r>
                        <a:rPr lang="en-US" sz="1100" b="1">
                          <a:solidFill>
                            <a:schemeClr val="tx1"/>
                          </a:solidFill>
                          <a:cs typeface="+mn-cs"/>
                        </a:rPr>
                        <a:t>L1/L2</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tc>
                  <a:txBody>
                    <a:bodyPr/>
                    <a:lstStyle/>
                    <a:p>
                      <a:r>
                        <a:rPr lang="en-US" sz="1100" b="1">
                          <a:cs typeface="+mn-cs"/>
                        </a:rPr>
                        <a:t>Product Approval</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cs typeface="+mn-cs"/>
                        </a:rPr>
                        <a:t>Product Line Manager [if L1-3]</a:t>
                      </a:r>
                    </a:p>
                    <a:p>
                      <a:r>
                        <a:rPr lang="en-US" sz="1100" b="0">
                          <a:cs typeface="+mn-cs"/>
                        </a:rPr>
                        <a:t>+ CBU Portfolio Director (Max) [if L2-4]</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tc>
                  <a:txBody>
                    <a:bodyPr/>
                    <a:lstStyle/>
                    <a:p>
                      <a:pPr marL="0" indent="0">
                        <a:buFont typeface="Arial" panose="020B0604020202020204" pitchFamily="34" charset="0"/>
                        <a:buNone/>
                      </a:pPr>
                      <a:r>
                        <a:rPr lang="en-US" sz="1100" b="1">
                          <a:cs typeface="+mn-cs"/>
                        </a:rPr>
                        <a:t>Product basket drives</a:t>
                      </a:r>
                      <a:r>
                        <a:rPr lang="en-US" sz="1100">
                          <a:cs typeface="+mn-cs"/>
                        </a:rPr>
                        <a:t> PL Manager + CBU Portfolio Director (highest PL1 by revenue of a basket, even if other CBU items are in the basket)</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DDDFF"/>
                    </a:solidFill>
                  </a:tcPr>
                </a:tc>
                <a:extLst>
                  <a:ext uri="{0D108BD9-81ED-4DB2-BD59-A6C34878D82A}">
                    <a16:rowId xmlns:a16="http://schemas.microsoft.com/office/drawing/2014/main" val="1900873468"/>
                  </a:ext>
                </a:extLst>
              </a:tr>
              <a:tr h="645762">
                <a:tc>
                  <a:txBody>
                    <a:bodyPr/>
                    <a:lstStyle/>
                    <a:p>
                      <a:pPr algn="ctr"/>
                      <a:r>
                        <a:rPr lang="en-US" sz="1100" b="1">
                          <a:solidFill>
                            <a:schemeClr val="bg1"/>
                          </a:solidFill>
                          <a:cs typeface="+mn-cs"/>
                        </a:rPr>
                        <a:t>L3</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sz="1100" b="1">
                          <a:solidFill>
                            <a:schemeClr val="bg1"/>
                          </a:solidFill>
                          <a:cs typeface="+mn-cs"/>
                        </a:rPr>
                        <a:t>VP Approval</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GB" sz="1100" b="0" kern="0">
                          <a:solidFill>
                            <a:schemeClr val="bg1"/>
                          </a:solidFill>
                          <a:cs typeface="+mn-cs"/>
                        </a:rPr>
                        <a:t>Vice president of product/pricing (Eric C. OR Jorge)</a:t>
                      </a:r>
                      <a:r>
                        <a:rPr lang="en-GB" sz="1100" b="0" kern="0" baseline="30000">
                          <a:solidFill>
                            <a:schemeClr val="bg1"/>
                          </a:solidFill>
                          <a:cs typeface="+mn-cs"/>
                        </a:rPr>
                        <a:t>1</a:t>
                      </a:r>
                      <a:endParaRPr lang="en-US" sz="1100" b="0">
                        <a:solidFill>
                          <a:schemeClr val="bg1"/>
                        </a:solidFill>
                        <a:cs typeface="+mn-cs"/>
                      </a:endParaRP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buFont typeface="Arial" panose="020B0604020202020204" pitchFamily="34" charset="0"/>
                        <a:buNone/>
                      </a:pPr>
                      <a:r>
                        <a:rPr lang="en-US" sz="1100" b="1">
                          <a:solidFill>
                            <a:schemeClr val="bg1"/>
                          </a:solidFill>
                          <a:cs typeface="+mn-cs"/>
                        </a:rPr>
                        <a:t>Always Eric &amp; Jorge</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00487804"/>
                  </a:ext>
                </a:extLst>
              </a:tr>
              <a:tr h="645762">
                <a:tc>
                  <a:txBody>
                    <a:bodyPr/>
                    <a:lstStyle/>
                    <a:p>
                      <a:pPr algn="ctr"/>
                      <a:r>
                        <a:rPr lang="en-US" sz="1100" b="1">
                          <a:solidFill>
                            <a:schemeClr val="bg1"/>
                          </a:solidFill>
                          <a:cs typeface="+mn-cs"/>
                        </a:rPr>
                        <a:t>L4</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100" b="1">
                          <a:solidFill>
                            <a:schemeClr val="bg1"/>
                          </a:solidFill>
                          <a:cs typeface="+mn-cs"/>
                        </a:rPr>
                        <a:t>Enterprise Approval</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100" b="0">
                          <a:solidFill>
                            <a:schemeClr val="bg1"/>
                          </a:solidFill>
                          <a:cs typeface="+mn-cs"/>
                        </a:rPr>
                        <a:t>Chief revenue officer or CFO (Ken OR Chris)</a:t>
                      </a:r>
                      <a:r>
                        <a:rPr lang="en-US" sz="1100" b="0" baseline="30000">
                          <a:solidFill>
                            <a:schemeClr val="bg1"/>
                          </a:solidFill>
                          <a:cs typeface="+mn-cs"/>
                        </a:rPr>
                        <a:t>1</a:t>
                      </a:r>
                      <a:endParaRPr lang="en-US" sz="1100" b="0">
                        <a:solidFill>
                          <a:schemeClr val="bg1"/>
                        </a:solidFill>
                        <a:cs typeface="+mn-cs"/>
                      </a:endParaRP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indent="0">
                        <a:buFont typeface="Arial" panose="020B0604020202020204" pitchFamily="34" charset="0"/>
                        <a:buNone/>
                      </a:pPr>
                      <a:r>
                        <a:rPr lang="en-US" sz="1100" b="1" kern="0">
                          <a:solidFill>
                            <a:schemeClr val="bg1"/>
                          </a:solidFill>
                          <a:latin typeface="+mn-lt"/>
                          <a:ea typeface="+mn-ea"/>
                          <a:cs typeface="+mn-cs"/>
                        </a:rPr>
                        <a:t>Always Ken &amp; Chris</a:t>
                      </a:r>
                    </a:p>
                  </a:txBody>
                  <a:tcPr anchor="ctr">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969251792"/>
                  </a:ext>
                </a:extLst>
              </a:tr>
            </a:tbl>
          </a:graphicData>
        </a:graphic>
      </p:graphicFrame>
      <p:sp>
        <p:nvSpPr>
          <p:cNvPr id="51" name="Title 50">
            <a:extLst>
              <a:ext uri="{FF2B5EF4-FFF2-40B4-BE49-F238E27FC236}">
                <a16:creationId xmlns:a16="http://schemas.microsoft.com/office/drawing/2014/main" id="{197078D9-E62B-5947-22F7-795B668E1F62}"/>
              </a:ext>
            </a:extLst>
          </p:cNvPr>
          <p:cNvSpPr>
            <a:spLocks noGrp="1"/>
          </p:cNvSpPr>
          <p:nvPr>
            <p:ph type="title"/>
          </p:nvPr>
        </p:nvSpPr>
        <p:spPr/>
        <p:txBody>
          <a:bodyPr vert="horz"/>
          <a:lstStyle/>
          <a:p>
            <a:r>
              <a:rPr lang="en-US">
                <a:solidFill>
                  <a:schemeClr val="accent2"/>
                </a:solidFill>
              </a:rPr>
              <a:t>Level of approval: </a:t>
            </a:r>
            <a:r>
              <a:rPr lang="en-US"/>
              <a:t>Deal scores and size will drive level of approval required</a:t>
            </a:r>
            <a:endParaRPr lang="en-GB" sz="1600" b="0" cap="none">
              <a:latin typeface="+mn-lt"/>
              <a:ea typeface="+mn-ea"/>
              <a:cs typeface="+mn-cs"/>
            </a:endParaRPr>
          </a:p>
        </p:txBody>
      </p:sp>
      <p:sp>
        <p:nvSpPr>
          <p:cNvPr id="4" name="Text Placeholder 3">
            <a:extLst>
              <a:ext uri="{FF2B5EF4-FFF2-40B4-BE49-F238E27FC236}">
                <a16:creationId xmlns:a16="http://schemas.microsoft.com/office/drawing/2014/main" id="{3302FFCF-92AF-A184-1C47-942967522ACA}"/>
              </a:ext>
            </a:extLst>
          </p:cNvPr>
          <p:cNvSpPr>
            <a:spLocks noGrp="1"/>
          </p:cNvSpPr>
          <p:nvPr>
            <p:ph type="body" idx="10"/>
          </p:nvPr>
        </p:nvSpPr>
        <p:spPr/>
        <p:txBody>
          <a:bodyPr/>
          <a:lstStyle/>
          <a:p>
            <a:r>
              <a:rPr lang="en-GB"/>
              <a:t>Approval levels and role</a:t>
            </a:r>
          </a:p>
        </p:txBody>
      </p:sp>
      <p:sp>
        <p:nvSpPr>
          <p:cNvPr id="42" name="Text Placeholder 41">
            <a:extLst>
              <a:ext uri="{FF2B5EF4-FFF2-40B4-BE49-F238E27FC236}">
                <a16:creationId xmlns:a16="http://schemas.microsoft.com/office/drawing/2014/main" id="{12BBD126-A68D-F633-F0DD-B59D308F53F9}"/>
              </a:ext>
            </a:extLst>
          </p:cNvPr>
          <p:cNvSpPr>
            <a:spLocks noGrp="1"/>
          </p:cNvSpPr>
          <p:nvPr>
            <p:ph type="body" sz="quarter" idx="13"/>
          </p:nvPr>
        </p:nvSpPr>
        <p:spPr/>
        <p:txBody>
          <a:bodyPr/>
          <a:lstStyle/>
          <a:p>
            <a:r>
              <a:rPr lang="en-GB"/>
              <a:t>UX perspectives</a:t>
            </a:r>
          </a:p>
          <a:p>
            <a:endParaRPr lang="en-US"/>
          </a:p>
        </p:txBody>
      </p:sp>
      <p:sp>
        <p:nvSpPr>
          <p:cNvPr id="34" name="Content Placeholder 33">
            <a:extLst>
              <a:ext uri="{FF2B5EF4-FFF2-40B4-BE49-F238E27FC236}">
                <a16:creationId xmlns:a16="http://schemas.microsoft.com/office/drawing/2014/main" id="{1B9FAE93-CD9F-4B9B-423A-260813428B6A}"/>
              </a:ext>
            </a:extLst>
          </p:cNvPr>
          <p:cNvSpPr>
            <a:spLocks noGrp="1"/>
          </p:cNvSpPr>
          <p:nvPr>
            <p:ph sz="quarter" idx="12"/>
          </p:nvPr>
        </p:nvSpPr>
        <p:spPr/>
        <p:txBody>
          <a:bodyPr/>
          <a:lstStyle/>
          <a:p>
            <a:pPr marL="171450" indent="-171450"/>
            <a:r>
              <a:rPr lang="en-GB"/>
              <a:t>L1 approvals have a sales and product line manager</a:t>
            </a:r>
          </a:p>
          <a:p>
            <a:pPr marL="351444" lvl="1" indent="-171450"/>
            <a:r>
              <a:rPr lang="en-GB"/>
              <a:t>The sales manager will be driven by direct manager of quote-requesting sales rep</a:t>
            </a:r>
          </a:p>
          <a:p>
            <a:pPr marL="351444" lvl="1" indent="-171450"/>
            <a:r>
              <a:rPr lang="en-GB"/>
              <a:t>The PL manager will be driven by the highest PL1 by revenue of a basket (even if other CBU items are in the basket)</a:t>
            </a:r>
          </a:p>
          <a:p>
            <a:pPr marL="171450" indent="-171450"/>
            <a:r>
              <a:rPr lang="en-GB"/>
              <a:t>Approvals are cumulative (e.g., L3 approval requirement means L1 and L2 need to approve first)</a:t>
            </a:r>
          </a:p>
          <a:p>
            <a:pPr marL="171450" indent="-171450"/>
            <a:r>
              <a:rPr lang="en-GB"/>
              <a:t>L3 and L4 approvals are sent to both listed approver parties and either may approve (quote is then removed from queue of other party)</a:t>
            </a:r>
          </a:p>
          <a:p>
            <a:pPr marL="171450" indent="-171450"/>
            <a:r>
              <a:rPr lang="en-GB"/>
              <a:t>Tool allows approvers to leave notes that cascade to each new approval (whether approval is rejected and accepted)</a:t>
            </a:r>
          </a:p>
          <a:p>
            <a:pPr marL="171450" indent="-171450"/>
            <a:r>
              <a:rPr lang="en-GB"/>
              <a:t>“Rejected” approvals require re-quoting (i.e., sent directly back to rep)</a:t>
            </a:r>
          </a:p>
          <a:p>
            <a:pPr marL="171450" indent="-171450"/>
            <a:r>
              <a:rPr lang="en-GB"/>
              <a:t>Pricing team is responsible for maintaining approval matrices</a:t>
            </a:r>
          </a:p>
          <a:p>
            <a:pPr marL="171450" indent="-171450"/>
            <a:r>
              <a:rPr lang="en-GB"/>
              <a:t>Tool considers only the products currently being quoted for approval, not existing customer basket</a:t>
            </a:r>
          </a:p>
          <a:p>
            <a:pPr marL="171450" indent="-171450"/>
            <a:r>
              <a:rPr lang="en-GB"/>
              <a:t>Final approvals are submitted to customer and require win/loss tracking</a:t>
            </a:r>
          </a:p>
          <a:p>
            <a:endParaRPr lang="en-GB"/>
          </a:p>
          <a:p>
            <a:endParaRPr lang="en-US"/>
          </a:p>
          <a:p>
            <a:endParaRPr lang="en-GB"/>
          </a:p>
        </p:txBody>
      </p:sp>
      <p:sp>
        <p:nvSpPr>
          <p:cNvPr id="23" name="Footnote">
            <a:extLst>
              <a:ext uri="{FF2B5EF4-FFF2-40B4-BE49-F238E27FC236}">
                <a16:creationId xmlns:a16="http://schemas.microsoft.com/office/drawing/2014/main" id="{72E71C1E-C58F-09B6-24F1-E7F20528C12E}"/>
              </a:ext>
            </a:extLst>
          </p:cNvPr>
          <p:cNvSpPr/>
          <p:nvPr/>
        </p:nvSpPr>
        <p:spPr>
          <a:xfrm>
            <a:off x="457200" y="6277689"/>
            <a:ext cx="11277600" cy="123111"/>
          </a:xfrm>
          <a:prstGeom prst="rect">
            <a:avLst/>
          </a:prstGeom>
        </p:spPr>
        <p:txBody>
          <a:bodyPr vert="horz" lIns="0" tIns="0" rIns="0" bIns="0" rtlCol="0" anchor="b" anchorCtr="0">
            <a:spAutoFit/>
          </a:bodyPr>
          <a:lstStyle/>
          <a:p>
            <a:pPr defTabSz="914370"/>
            <a:r>
              <a:rPr lang="en-GB" sz="800" kern="0"/>
              <a:t>1. </a:t>
            </a:r>
            <a:r>
              <a:rPr lang="en-US" sz="800" kern="0"/>
              <a:t>Note: “Or” implies review would be directed to both Ken/Chris as a means to split review burden (group to confirm whether either can provide review / sign-off)</a:t>
            </a:r>
          </a:p>
        </p:txBody>
      </p:sp>
      <p:sp>
        <p:nvSpPr>
          <p:cNvPr id="15" name="Numbered Circle">
            <a:extLst>
              <a:ext uri="{FF2B5EF4-FFF2-40B4-BE49-F238E27FC236}">
                <a16:creationId xmlns:a16="http://schemas.microsoft.com/office/drawing/2014/main" id="{AFC073E8-218D-8901-8371-D4191B52A599}"/>
              </a:ext>
            </a:extLst>
          </p:cNvPr>
          <p:cNvSpPr>
            <a:spLocks noChangeAspect="1"/>
          </p:cNvSpPr>
          <p:nvPr/>
        </p:nvSpPr>
        <p:spPr>
          <a:xfrm>
            <a:off x="165100" y="409448"/>
            <a:ext cx="228600" cy="228600"/>
          </a:xfrm>
          <a:prstGeom prst="ellipse">
            <a:avLst/>
          </a:prstGeom>
          <a:solidFill>
            <a:schemeClr val="bg1"/>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GB" sz="1000" kern="0">
                <a:solidFill>
                  <a:schemeClr val="tx1"/>
                </a:solidFill>
              </a:rPr>
              <a:t>3</a:t>
            </a:r>
          </a:p>
        </p:txBody>
      </p:sp>
      <p:sp>
        <p:nvSpPr>
          <p:cNvPr id="45" name="Speech Bubble: Rectangle 44">
            <a:extLst>
              <a:ext uri="{FF2B5EF4-FFF2-40B4-BE49-F238E27FC236}">
                <a16:creationId xmlns:a16="http://schemas.microsoft.com/office/drawing/2014/main" id="{AA538538-5C19-82F7-FC3B-A3CE91FA4278}"/>
              </a:ext>
            </a:extLst>
          </p:cNvPr>
          <p:cNvSpPr/>
          <p:nvPr/>
        </p:nvSpPr>
        <p:spPr>
          <a:xfrm>
            <a:off x="457200" y="5586827"/>
            <a:ext cx="3072384" cy="635998"/>
          </a:xfrm>
          <a:prstGeom prst="wedgeRectCallout">
            <a:avLst>
              <a:gd name="adj1" fmla="val -39101"/>
              <a:gd name="adj2" fmla="val -69572"/>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Note: Front-end tool determines the level of approval required. In many cases, the “stage” can be skipped (if that level of approval is not needed)</a:t>
            </a:r>
          </a:p>
        </p:txBody>
      </p:sp>
      <p:pic>
        <p:nvPicPr>
          <p:cNvPr id="47" name="Picture 46">
            <a:extLst>
              <a:ext uri="{FF2B5EF4-FFF2-40B4-BE49-F238E27FC236}">
                <a16:creationId xmlns:a16="http://schemas.microsoft.com/office/drawing/2014/main" id="{05FEEDEC-A73B-4979-2BF2-8AD414156B00}"/>
              </a:ext>
            </a:extLst>
          </p:cNvPr>
          <p:cNvPicPr>
            <a:picLocks noChangeAspect="1"/>
          </p:cNvPicPr>
          <p:nvPr/>
        </p:nvPicPr>
        <p:blipFill>
          <a:blip r:embed="rId6"/>
          <a:stretch>
            <a:fillRect/>
          </a:stretch>
        </p:blipFill>
        <p:spPr>
          <a:xfrm rot="5400000">
            <a:off x="-1118128" y="4058787"/>
            <a:ext cx="2693456" cy="257590"/>
          </a:xfrm>
          <a:prstGeom prst="rect">
            <a:avLst/>
          </a:prstGeom>
        </p:spPr>
      </p:pic>
    </p:spTree>
    <p:extLst>
      <p:ext uri="{BB962C8B-B14F-4D97-AF65-F5344CB8AC3E}">
        <p14:creationId xmlns:p14="http://schemas.microsoft.com/office/powerpoint/2010/main" val="2351099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911F7-3CBA-A4F8-DAF6-F1D910D961E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1F0EA47-5C94-BB48-D0AC-538B1F518AA8}"/>
              </a:ext>
            </a:extLst>
          </p:cNvPr>
          <p:cNvSpPr>
            <a:spLocks noGrp="1"/>
          </p:cNvSpPr>
          <p:nvPr>
            <p:ph type="body" sz="quarter" idx="12"/>
          </p:nvPr>
        </p:nvSpPr>
        <p:spPr>
          <a:xfrm>
            <a:off x="457200" y="3567500"/>
            <a:ext cx="8348472" cy="1015663"/>
          </a:xfrm>
        </p:spPr>
        <p:txBody>
          <a:bodyPr/>
          <a:lstStyle/>
          <a:p>
            <a:r>
              <a:rPr lang="en-GB" sz="6600" dirty="0"/>
              <a:t>Deep dive on l1-l4</a:t>
            </a:r>
            <a:endParaRPr lang="en-GB" sz="6600" dirty="0">
              <a:solidFill>
                <a:srgbClr val="FF8C00"/>
              </a:solidFill>
            </a:endParaRPr>
          </a:p>
        </p:txBody>
      </p:sp>
    </p:spTree>
    <p:extLst>
      <p:ext uri="{BB962C8B-B14F-4D97-AF65-F5344CB8AC3E}">
        <p14:creationId xmlns:p14="http://schemas.microsoft.com/office/powerpoint/2010/main" val="2591350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674B-0BD0-583A-772C-4BA4634CD1FA}"/>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B762B09-F6B6-9996-33F9-42BA8C01FB2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69" imgH="469" progId="TCLayout.ActiveDocument.1">
                  <p:embed/>
                </p:oleObj>
              </mc:Choice>
              <mc:Fallback>
                <p:oleObj name="think-cell Slide" r:id="rId4" imgW="469" imgH="469" progId="TCLayout.ActiveDocument.1">
                  <p:embed/>
                  <p:pic>
                    <p:nvPicPr>
                      <p:cNvPr id="7" name="think-cell data - do not delete" hidden="1">
                        <a:extLst>
                          <a:ext uri="{FF2B5EF4-FFF2-40B4-BE49-F238E27FC236}">
                            <a16:creationId xmlns:a16="http://schemas.microsoft.com/office/drawing/2014/main" id="{2B762B09-F6B6-9996-33F9-42BA8C01FB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08CFF518-67B0-2EC3-AA15-2865B573F188}"/>
              </a:ext>
            </a:extLst>
          </p:cNvPr>
          <p:cNvSpPr>
            <a:spLocks noGrp="1"/>
          </p:cNvSpPr>
          <p:nvPr>
            <p:ph type="title"/>
          </p:nvPr>
        </p:nvSpPr>
        <p:spPr>
          <a:xfrm>
            <a:off x="457200" y="384048"/>
            <a:ext cx="11277600" cy="758952"/>
          </a:xfrm>
        </p:spPr>
        <p:txBody>
          <a:bodyPr vert="horz"/>
          <a:lstStyle/>
          <a:p>
            <a:r>
              <a:rPr lang="en-US"/>
              <a:t>Process flow (if L1 is required): L1 only</a:t>
            </a:r>
          </a:p>
        </p:txBody>
      </p:sp>
      <p:graphicFrame>
        <p:nvGraphicFramePr>
          <p:cNvPr id="5" name="Table 4">
            <a:extLst>
              <a:ext uri="{FF2B5EF4-FFF2-40B4-BE49-F238E27FC236}">
                <a16:creationId xmlns:a16="http://schemas.microsoft.com/office/drawing/2014/main" id="{F071624B-3EDA-9381-51DF-8FA13FCBA1D8}"/>
              </a:ext>
            </a:extLst>
          </p:cNvPr>
          <p:cNvGraphicFramePr>
            <a:graphicFrameLocks noGrp="1"/>
          </p:cNvGraphicFramePr>
          <p:nvPr>
            <p:extLst>
              <p:ext uri="{D42A27DB-BD31-4B8C-83A1-F6EECF244321}">
                <p14:modId xmlns:p14="http://schemas.microsoft.com/office/powerpoint/2010/main" val="259899379"/>
              </p:ext>
            </p:extLst>
          </p:nvPr>
        </p:nvGraphicFramePr>
        <p:xfrm>
          <a:off x="457201" y="1402080"/>
          <a:ext cx="11277601" cy="4450199"/>
        </p:xfrm>
        <a:graphic>
          <a:graphicData uri="http://schemas.openxmlformats.org/drawingml/2006/table">
            <a:tbl>
              <a:tblPr firstRow="1" bandRow="1">
                <a:tableStyleId>{839DD9DD-9E6C-4910-8AC0-68ADFF6A6AFC}</a:tableStyleId>
              </a:tblPr>
              <a:tblGrid>
                <a:gridCol w="552085">
                  <a:extLst>
                    <a:ext uri="{9D8B030D-6E8A-4147-A177-3AD203B41FA5}">
                      <a16:colId xmlns:a16="http://schemas.microsoft.com/office/drawing/2014/main" val="1160354700"/>
                    </a:ext>
                  </a:extLst>
                </a:gridCol>
                <a:gridCol w="1060718">
                  <a:extLst>
                    <a:ext uri="{9D8B030D-6E8A-4147-A177-3AD203B41FA5}">
                      <a16:colId xmlns:a16="http://schemas.microsoft.com/office/drawing/2014/main" val="335089722"/>
                    </a:ext>
                  </a:extLst>
                </a:gridCol>
                <a:gridCol w="2416199">
                  <a:extLst>
                    <a:ext uri="{9D8B030D-6E8A-4147-A177-3AD203B41FA5}">
                      <a16:colId xmlns:a16="http://schemas.microsoft.com/office/drawing/2014/main" val="950448801"/>
                    </a:ext>
                  </a:extLst>
                </a:gridCol>
                <a:gridCol w="2416200">
                  <a:extLst>
                    <a:ext uri="{9D8B030D-6E8A-4147-A177-3AD203B41FA5}">
                      <a16:colId xmlns:a16="http://schemas.microsoft.com/office/drawing/2014/main" val="2739390244"/>
                    </a:ext>
                  </a:extLst>
                </a:gridCol>
                <a:gridCol w="2416200">
                  <a:extLst>
                    <a:ext uri="{9D8B030D-6E8A-4147-A177-3AD203B41FA5}">
                      <a16:colId xmlns:a16="http://schemas.microsoft.com/office/drawing/2014/main" val="3889276174"/>
                    </a:ext>
                  </a:extLst>
                </a:gridCol>
                <a:gridCol w="2416199">
                  <a:extLst>
                    <a:ext uri="{9D8B030D-6E8A-4147-A177-3AD203B41FA5}">
                      <a16:colId xmlns:a16="http://schemas.microsoft.com/office/drawing/2014/main" val="1513992304"/>
                    </a:ext>
                  </a:extLst>
                </a:gridCol>
              </a:tblGrid>
              <a:tr h="0">
                <a:tc>
                  <a:txBody>
                    <a:bodyPr/>
                    <a:lstStyle/>
                    <a:p>
                      <a:r>
                        <a:rPr lang="en-US" sz="1100">
                          <a:latin typeface="+mn-lt"/>
                        </a:rPr>
                        <a:t>Queue</a:t>
                      </a:r>
                    </a:p>
                  </a:txBody>
                  <a:tcPr marR="45720"/>
                </a:tc>
                <a:tc>
                  <a:txBody>
                    <a:bodyPr/>
                    <a:lstStyle/>
                    <a:p>
                      <a:r>
                        <a:rPr lang="en-US" sz="1100">
                          <a:latin typeface="+mn-lt"/>
                        </a:rPr>
                        <a:t>Field</a:t>
                      </a:r>
                    </a:p>
                  </a:txBody>
                  <a:tcPr/>
                </a:tc>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cs typeface="+mn-cs"/>
                        </a:rPr>
                        <a:t>Sales Manager Approval</a:t>
                      </a:r>
                    </a:p>
                  </a:txBody>
                  <a:tcPr/>
                </a:tc>
                <a:tc>
                  <a:txBody>
                    <a:bodyPr/>
                    <a:lstStyle/>
                    <a:p>
                      <a:pPr algn="ctr"/>
                      <a:r>
                        <a:rPr lang="en-US" sz="1100" b="1">
                          <a:cs typeface="+mn-cs"/>
                        </a:rPr>
                        <a:t>Product Approval</a:t>
                      </a:r>
                    </a:p>
                  </a:txBody>
                  <a:tcPr/>
                </a:tc>
                <a:tc>
                  <a:txBody>
                    <a:bodyPr/>
                    <a:lstStyle/>
                    <a:p>
                      <a:pPr algn="ctr"/>
                      <a:r>
                        <a:rPr lang="en-US" sz="1100" b="1" dirty="0">
                          <a:solidFill>
                            <a:schemeClr val="tx1"/>
                          </a:solidFill>
                          <a:cs typeface="+mn-cs"/>
                        </a:rPr>
                        <a:t>Commercial Approval</a:t>
                      </a:r>
                    </a:p>
                  </a:txBody>
                  <a:tcPr>
                    <a:solidFill>
                      <a:schemeClr val="tx1">
                        <a:lumMod val="50000"/>
                        <a:lumOff val="50000"/>
                      </a:schemeClr>
                    </a:solidFill>
                  </a:tcPr>
                </a:tc>
                <a:tc>
                  <a:txBody>
                    <a:bodyPr/>
                    <a:lstStyle/>
                    <a:p>
                      <a:pPr algn="ctr"/>
                      <a:r>
                        <a:rPr lang="en-US" sz="1100" b="1">
                          <a:solidFill>
                            <a:schemeClr val="tx1"/>
                          </a:solidFill>
                          <a:cs typeface="+mn-cs"/>
                        </a:rPr>
                        <a:t>Enterprise Approval</a:t>
                      </a:r>
                    </a:p>
                  </a:txBody>
                  <a:tcPr>
                    <a:solidFill>
                      <a:schemeClr val="tx1">
                        <a:lumMod val="50000"/>
                        <a:lumOff val="50000"/>
                      </a:schemeClr>
                    </a:solidFill>
                  </a:tcPr>
                </a:tc>
                <a:extLst>
                  <a:ext uri="{0D108BD9-81ED-4DB2-BD59-A6C34878D82A}">
                    <a16:rowId xmlns:a16="http://schemas.microsoft.com/office/drawing/2014/main" val="805662088"/>
                  </a:ext>
                </a:extLst>
              </a:tr>
              <a:tr h="610649">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latin typeface="+mn-lt"/>
                        </a:rPr>
                        <a:t>Core Approver</a:t>
                      </a:r>
                    </a:p>
                  </a:txBody>
                  <a:tcPr vert="vert270" anchor="ctr"/>
                </a:tc>
                <a:tc>
                  <a:txBody>
                    <a:bodyPr/>
                    <a:lstStyle/>
                    <a:p>
                      <a:r>
                        <a:rPr lang="en-US" sz="1100" b="1">
                          <a:solidFill>
                            <a:schemeClr val="bg1"/>
                          </a:solidFill>
                          <a:latin typeface="+mn-lt"/>
                        </a:rPr>
                        <a:t>Approver</a:t>
                      </a:r>
                    </a:p>
                  </a:txBody>
                  <a:tcPr>
                    <a:solidFill>
                      <a:schemeClr val="accent2"/>
                    </a:solidFill>
                  </a:tcPr>
                </a:tc>
                <a:tc>
                  <a:txBody>
                    <a:bodyPr/>
                    <a:lstStyle/>
                    <a:p>
                      <a:pPr marL="0" indent="0">
                        <a:buFont typeface="+mj-lt"/>
                        <a:buNone/>
                      </a:pPr>
                      <a:r>
                        <a:rPr lang="en-US" sz="1100" b="1">
                          <a:solidFill>
                            <a:schemeClr val="bg1"/>
                          </a:solidFill>
                          <a:latin typeface="+mn-lt"/>
                        </a:rPr>
                        <a:t>L1 - Sales Rep Direct Manager</a:t>
                      </a:r>
                    </a:p>
                  </a:txBody>
                  <a:tcPr>
                    <a:solidFill>
                      <a:schemeClr val="accent2"/>
                    </a:solidFill>
                  </a:tcPr>
                </a:tc>
                <a:tc>
                  <a:txBody>
                    <a:bodyPr/>
                    <a:lstStyle/>
                    <a:p>
                      <a:r>
                        <a:rPr lang="en-US" sz="1100" b="1">
                          <a:solidFill>
                            <a:schemeClr val="bg1"/>
                          </a:solidFill>
                          <a:latin typeface="+mn-lt"/>
                          <a:cs typeface="+mn-cs"/>
                        </a:rPr>
                        <a:t>L1 - Product Manager – “PM”</a:t>
                      </a:r>
                    </a:p>
                    <a:p>
                      <a:r>
                        <a:rPr lang="en-US" sz="1100" b="0">
                          <a:solidFill>
                            <a:schemeClr val="bg1"/>
                          </a:solidFill>
                          <a:latin typeface="+mn-lt"/>
                          <a:cs typeface="+mn-cs"/>
                        </a:rPr>
                        <a:t>(e.g., Shoshana for Lubricants)</a:t>
                      </a:r>
                      <a:endParaRPr lang="en-US" sz="1100" b="0">
                        <a:solidFill>
                          <a:schemeClr val="bg1"/>
                        </a:solidFill>
                        <a:latin typeface="+mn-lt"/>
                      </a:endParaRPr>
                    </a:p>
                  </a:txBody>
                  <a:tcPr>
                    <a:solidFill>
                      <a:schemeClr val="accent2"/>
                    </a:solidFill>
                  </a:tcPr>
                </a:tc>
                <a:tc>
                  <a:txBody>
                    <a:bodyPr/>
                    <a:lstStyle/>
                    <a:p>
                      <a:r>
                        <a:rPr lang="en-US" sz="1100" b="1">
                          <a:solidFill>
                            <a:schemeClr val="tx1"/>
                          </a:solidFill>
                          <a:latin typeface="+mn-lt"/>
                        </a:rPr>
                        <a:t>L3 – VP Portfolio Management</a:t>
                      </a:r>
                      <a:r>
                        <a:rPr lang="en-US" sz="1100">
                          <a:solidFill>
                            <a:schemeClr val="tx1"/>
                          </a:solidFill>
                          <a:latin typeface="+mn-lt"/>
                        </a:rPr>
                        <a:t> (Eric Cecilio) OR </a:t>
                      </a:r>
                      <a:r>
                        <a:rPr lang="en-US" sz="1100" b="1">
                          <a:solidFill>
                            <a:schemeClr val="tx1"/>
                          </a:solidFill>
                          <a:latin typeface="+mn-lt"/>
                        </a:rPr>
                        <a:t>VP Commercial Excellence </a:t>
                      </a:r>
                      <a:r>
                        <a:rPr lang="en-US" sz="1100">
                          <a:solidFill>
                            <a:schemeClr val="tx1"/>
                          </a:solidFill>
                          <a:latin typeface="+mn-lt"/>
                        </a:rPr>
                        <a:t>(Jorge)</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rPr>
                        <a:t>L4 – Chief Revenue Officer </a:t>
                      </a:r>
                      <a:r>
                        <a:rPr lang="en-US" sz="1100" b="0" i="0">
                          <a:solidFill>
                            <a:schemeClr val="tx1"/>
                          </a:solidFill>
                          <a:latin typeface="+mn-lt"/>
                        </a:rPr>
                        <a:t>(Ken Chrisman) or </a:t>
                      </a:r>
                      <a:r>
                        <a:rPr lang="en-US" sz="1100" b="1" i="0">
                          <a:solidFill>
                            <a:schemeClr val="tx1"/>
                          </a:solidFill>
                          <a:latin typeface="+mn-lt"/>
                        </a:rPr>
                        <a:t>Chief Financial Officer</a:t>
                      </a:r>
                      <a:r>
                        <a:rPr lang="en-US" sz="1100" b="0" i="0">
                          <a:solidFill>
                            <a:schemeClr val="tx1"/>
                          </a:solidFill>
                          <a:latin typeface="+mn-lt"/>
                        </a:rPr>
                        <a:t> (Chris Heinold)</a:t>
                      </a:r>
                      <a:endParaRPr lang="en-US" sz="1100" b="1" i="0">
                        <a:solidFill>
                          <a:schemeClr val="tx1"/>
                        </a:solidFill>
                        <a:latin typeface="+mn-lt"/>
                      </a:endParaRPr>
                    </a:p>
                  </a:txBody>
                  <a:tcPr>
                    <a:solidFill>
                      <a:schemeClr val="tx1">
                        <a:lumMod val="50000"/>
                        <a:lumOff val="50000"/>
                      </a:schemeClr>
                    </a:solidFill>
                  </a:tcPr>
                </a:tc>
                <a:extLst>
                  <a:ext uri="{0D108BD9-81ED-4DB2-BD59-A6C34878D82A}">
                    <a16:rowId xmlns:a16="http://schemas.microsoft.com/office/drawing/2014/main" val="893372846"/>
                  </a:ext>
                </a:extLst>
              </a:tr>
              <a:tr h="402811">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indent="0">
                        <a:buFont typeface="+mj-lt"/>
                        <a:buNone/>
                      </a:pPr>
                      <a:r>
                        <a:rPr lang="en-US" sz="1100" b="0">
                          <a:latin typeface="+mn-lt"/>
                        </a:rPr>
                        <a:t>Map of Sales Reps and Direct Managers (exists within CRM)</a:t>
                      </a:r>
                    </a:p>
                  </a:txBody>
                  <a:tcPr>
                    <a:solidFill>
                      <a:schemeClr val="accent2">
                        <a:lumMod val="20000"/>
                        <a:lumOff val="80000"/>
                      </a:schemeClr>
                    </a:solidFill>
                  </a:tcPr>
                </a:tc>
                <a:tc>
                  <a:txBody>
                    <a:bodyPr/>
                    <a:lstStyle/>
                    <a:p>
                      <a:pPr marL="0" indent="0">
                        <a:buFont typeface="+mj-lt"/>
                        <a:buNone/>
                      </a:pPr>
                      <a:r>
                        <a:rPr lang="en-US" sz="1100" b="0">
                          <a:latin typeface="+mn-lt"/>
                        </a:rPr>
                        <a:t>Map of PL1s with PMs</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solidFill>
                      <a:schemeClr val="tx1">
                        <a:lumMod val="50000"/>
                        <a:lumOff val="50000"/>
                      </a:schemeClr>
                    </a:solidFill>
                  </a:tcPr>
                </a:tc>
                <a:extLst>
                  <a:ext uri="{0D108BD9-81ED-4DB2-BD59-A6C34878D82A}">
                    <a16:rowId xmlns:a16="http://schemas.microsoft.com/office/drawing/2014/main" val="563561187"/>
                  </a:ext>
                </a:extLst>
              </a:tr>
              <a:tr h="927187">
                <a:tc vMerge="1">
                  <a:txBody>
                    <a:bodyPr/>
                    <a:lstStyle/>
                    <a:p>
                      <a:endParaRPr lang="en-US" b="1"/>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sales rep manager</a:t>
                      </a:r>
                    </a:p>
                    <a:p>
                      <a:pPr marL="228600" indent="-228600">
                        <a:buFont typeface="+mj-lt"/>
                        <a:buAutoNum type="arabicPeriod"/>
                      </a:pPr>
                      <a:r>
                        <a:rPr lang="en-US" sz="1100">
                          <a:latin typeface="+mn-lt"/>
                        </a:rPr>
                        <a:t>Assign approval to queue</a:t>
                      </a:r>
                    </a:p>
                    <a:p>
                      <a:pPr marL="228600" indent="-228600">
                        <a:buFont typeface="+mj-lt"/>
                        <a:buAutoNum type="arabicPeriod"/>
                      </a:pPr>
                      <a:r>
                        <a:rPr lang="en-US" sz="1100">
                          <a:latin typeface="+mn-lt"/>
                        </a:rPr>
                        <a:t>If manager approves, move to next stage</a:t>
                      </a:r>
                    </a:p>
                  </a:txBody>
                  <a:tcPr/>
                </a:tc>
                <a:tc>
                  <a:txBody>
                    <a:bodyPr/>
                    <a:lstStyle/>
                    <a:p>
                      <a:pPr marL="228600" indent="-228600">
                        <a:buFont typeface="+mj-lt"/>
                        <a:buAutoNum type="arabicPeriod"/>
                      </a:pPr>
                      <a:r>
                        <a:rPr lang="en-US" sz="1100">
                          <a:latin typeface="+mn-lt"/>
                        </a:rPr>
                        <a:t>Determine leading PL1 based on the products in basket</a:t>
                      </a:r>
                    </a:p>
                    <a:p>
                      <a:pPr marL="228600" indent="-228600">
                        <a:buFont typeface="+mj-lt"/>
                        <a:buAutoNum type="arabicPeriod"/>
                      </a:pPr>
                      <a:r>
                        <a:rPr lang="en-US" sz="1100">
                          <a:latin typeface="+mn-lt"/>
                        </a:rPr>
                        <a:t>Find PM based on PL1</a:t>
                      </a:r>
                    </a:p>
                    <a:p>
                      <a:pPr marL="228600" indent="-228600">
                        <a:buFont typeface="+mj-lt"/>
                        <a:buAutoNum type="arabicPeriod"/>
                      </a:pPr>
                      <a:r>
                        <a:rPr lang="en-US" sz="1100">
                          <a:latin typeface="+mn-lt"/>
                        </a:rPr>
                        <a:t>Assign approval to queue</a:t>
                      </a:r>
                    </a:p>
                    <a:p>
                      <a:pPr marL="228600" indent="-228600">
                        <a:buFont typeface="+mj-lt"/>
                        <a:buAutoNum type="arabicPeriod"/>
                      </a:pPr>
                      <a:r>
                        <a:rPr lang="en-US" sz="1100" b="1">
                          <a:latin typeface="+mn-lt"/>
                        </a:rPr>
                        <a:t>If approver approves, send approval notice to Sales Rep</a:t>
                      </a:r>
                    </a:p>
                  </a:txBody>
                  <a:tcPr>
                    <a:solidFill>
                      <a:srgbClr val="FFE580"/>
                    </a:solidFill>
                  </a:tcPr>
                </a:tc>
                <a:tc>
                  <a:txBody>
                    <a:bodyPr/>
                    <a:lstStyle/>
                    <a:p>
                      <a:endParaRPr lang="en-US" sz="1100">
                        <a:latin typeface="+mn-lt"/>
                      </a:endParaRPr>
                    </a:p>
                  </a:txBody>
                  <a:tcPr>
                    <a:solidFill>
                      <a:schemeClr val="tx1">
                        <a:lumMod val="50000"/>
                        <a:lumOff val="50000"/>
                      </a:schemeClr>
                    </a:solidFill>
                  </a:tcPr>
                </a:tc>
                <a:tc>
                  <a:txBody>
                    <a:bodyPr/>
                    <a:lstStyle/>
                    <a:p>
                      <a:endParaRPr lang="en-US" sz="1100" i="1">
                        <a:latin typeface="+mn-lt"/>
                      </a:endParaRPr>
                    </a:p>
                  </a:txBody>
                  <a:tcPr>
                    <a:solidFill>
                      <a:schemeClr val="tx1">
                        <a:lumMod val="50000"/>
                        <a:lumOff val="50000"/>
                      </a:schemeClr>
                    </a:solidFill>
                  </a:tcPr>
                </a:tc>
                <a:extLst>
                  <a:ext uri="{0D108BD9-81ED-4DB2-BD59-A6C34878D82A}">
                    <a16:rowId xmlns:a16="http://schemas.microsoft.com/office/drawing/2014/main" val="872167488"/>
                  </a:ext>
                </a:extLst>
              </a:tr>
              <a:tr h="560027">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mn-lt"/>
                          <a:ea typeface="+mn-ea"/>
                          <a:cs typeface="+mn-cs"/>
                        </a:rPr>
                        <a:t>Secondary Approver</a:t>
                      </a:r>
                    </a:p>
                  </a:txBody>
                  <a:tcPr vert="vert270" anchor="ctr"/>
                </a:tc>
                <a:tc>
                  <a:txBody>
                    <a:bodyPr/>
                    <a:lstStyle/>
                    <a:p>
                      <a:r>
                        <a:rPr lang="en-US" sz="1100" b="0">
                          <a:solidFill>
                            <a:schemeClr val="tx1"/>
                          </a:solidFill>
                          <a:latin typeface="+mn-lt"/>
                        </a:rPr>
                        <a:t>Approver</a:t>
                      </a:r>
                    </a:p>
                  </a:txBody>
                  <a:tcPr>
                    <a:solidFill>
                      <a:schemeClr val="tx1">
                        <a:lumMod val="50000"/>
                        <a:lumOff val="50000"/>
                      </a:schemeClr>
                    </a:solidFill>
                  </a:tcPr>
                </a:tc>
                <a:tc>
                  <a:txBody>
                    <a:bodyPr/>
                    <a:lstStyle/>
                    <a:p>
                      <a:r>
                        <a:rPr lang="en-US" sz="1100" b="1">
                          <a:solidFill>
                            <a:schemeClr val="tx1"/>
                          </a:solidFill>
                          <a:latin typeface="+mn-lt"/>
                        </a:rPr>
                        <a:t>L2 – CBU Lead </a:t>
                      </a:r>
                    </a:p>
                    <a:p>
                      <a:r>
                        <a:rPr lang="en-US" sz="1100">
                          <a:solidFill>
                            <a:schemeClr val="tx1"/>
                          </a:solidFill>
                          <a:latin typeface="+mn-lt"/>
                        </a:rPr>
                        <a:t>(Industrial: Eric Johnson)</a:t>
                      </a:r>
                    </a:p>
                  </a:txBody>
                  <a:tcPr>
                    <a:solidFill>
                      <a:schemeClr val="tx1">
                        <a:lumMod val="50000"/>
                        <a:lumOff val="50000"/>
                      </a:schemeClr>
                    </a:solidFill>
                  </a:tcPr>
                </a:tc>
                <a:tc>
                  <a:txBody>
                    <a:bodyPr/>
                    <a:lstStyle/>
                    <a:p>
                      <a:r>
                        <a:rPr lang="en-US" sz="1100" b="1">
                          <a:solidFill>
                            <a:schemeClr val="tx1"/>
                          </a:solidFill>
                          <a:latin typeface="+mn-lt"/>
                        </a:rPr>
                        <a:t>L2 – CBU Portfolio Director </a:t>
                      </a:r>
                    </a:p>
                    <a:p>
                      <a:r>
                        <a:rPr lang="en-US" sz="1100" b="0">
                          <a:solidFill>
                            <a:schemeClr val="tx1"/>
                          </a:solidFill>
                          <a:latin typeface="+mn-lt"/>
                        </a:rPr>
                        <a:t>(e.g., Max George for Industrial)</a:t>
                      </a:r>
                    </a:p>
                  </a:txBody>
                  <a:tcPr>
                    <a:solidFill>
                      <a:schemeClr val="tx1">
                        <a:lumMod val="50000"/>
                        <a:lumOff val="50000"/>
                      </a:schemeClr>
                    </a:solidFill>
                  </a:tcPr>
                </a:tc>
                <a:tc>
                  <a:txBody>
                    <a:bodyPr/>
                    <a:lstStyle/>
                    <a:p>
                      <a:endParaRPr lang="en-US" sz="1100">
                        <a:solidFill>
                          <a:schemeClr val="bg1"/>
                        </a:solidFill>
                        <a:latin typeface="+mn-lt"/>
                      </a:endParaRPr>
                    </a:p>
                  </a:txBody>
                  <a:tcPr>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1" i="0">
                        <a:solidFill>
                          <a:schemeClr val="bg1"/>
                        </a:solidFill>
                        <a:latin typeface="+mn-lt"/>
                      </a:endParaRPr>
                    </a:p>
                  </a:txBody>
                  <a:tcPr>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65958082"/>
                  </a:ext>
                </a:extLst>
              </a:tr>
              <a:tr h="0">
                <a:tc vMerge="1">
                  <a:txBody>
                    <a:bodyPr/>
                    <a:lstStyle/>
                    <a:p>
                      <a:endParaRPr lang="en-US"/>
                    </a:p>
                  </a:txBody>
                  <a:tcPr/>
                </a:tc>
                <a:tc>
                  <a:txBody>
                    <a:bodyPr/>
                    <a:lstStyle/>
                    <a:p>
                      <a:r>
                        <a:rPr lang="en-US" sz="1100" b="0">
                          <a:solidFill>
                            <a:schemeClr val="tx1"/>
                          </a:solidFill>
                          <a:latin typeface="+mn-lt"/>
                        </a:rPr>
                        <a:t>Data</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Map of CBU Leads (exists within CRM / linked to managers)</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latin typeface="+mn-lt"/>
                        </a:rPr>
                        <a:t>Map of Portfolio Directors by CBU</a:t>
                      </a:r>
                    </a:p>
                    <a:p>
                      <a:pPr marL="0" marR="0" lvl="0" indent="0" algn="l" defTabSz="914370" rtl="0" eaLnBrk="1" fontAlgn="auto" latinLnBrk="0" hangingPunct="1">
                        <a:lnSpc>
                          <a:spcPct val="100000"/>
                        </a:lnSpc>
                        <a:spcBef>
                          <a:spcPts val="0"/>
                        </a:spcBef>
                        <a:spcAft>
                          <a:spcPts val="0"/>
                        </a:spcAft>
                        <a:buClrTx/>
                        <a:buSzTx/>
                        <a:buFontTx/>
                        <a:buNone/>
                        <a:tabLst/>
                        <a:defRPr/>
                      </a:pPr>
                      <a:endParaRPr kumimoji="0" lang="en-US" sz="1100" b="0" i="1" u="none" strike="noStrike" kern="0" cap="none" spc="0" normalizeH="0" baseline="0" noProof="0">
                        <a:ln>
                          <a:noFill/>
                        </a:ln>
                        <a:solidFill>
                          <a:schemeClr val="tx1"/>
                        </a:solidFill>
                        <a:effectLst/>
                        <a:uLnTx/>
                        <a:uFillTx/>
                        <a:latin typeface="Calibri"/>
                        <a:ea typeface="+mn-ea"/>
                        <a:cs typeface="+mn-cs"/>
                      </a:endParaRP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69417795"/>
                  </a:ext>
                </a:extLst>
              </a:tr>
              <a:tr h="698883">
                <a:tc vMerge="1">
                  <a:txBody>
                    <a:bodyPr/>
                    <a:lstStyle/>
                    <a:p>
                      <a:endParaRPr/>
                    </a:p>
                  </a:txBody>
                  <a:tcPr/>
                </a:tc>
                <a:tc>
                  <a:txBody>
                    <a:bodyPr/>
                    <a:lstStyle/>
                    <a:p>
                      <a:r>
                        <a:rPr lang="en-US" sz="1100" b="0">
                          <a:solidFill>
                            <a:schemeClr val="tx1"/>
                          </a:solidFill>
                          <a:latin typeface="+mn-lt"/>
                        </a:rPr>
                        <a:t>Process Steps</a:t>
                      </a:r>
                    </a:p>
                  </a:txBody>
                  <a:tcPr>
                    <a:solidFill>
                      <a:schemeClr val="tx1">
                        <a:lumMod val="50000"/>
                        <a:lumOff val="50000"/>
                      </a:schemeClr>
                    </a:solidFill>
                  </a:tcPr>
                </a:tc>
                <a:tc>
                  <a:txBody>
                    <a:bodyPr/>
                    <a:lstStyle/>
                    <a:p>
                      <a:pPr marL="0" indent="0">
                        <a:buFont typeface="+mj-lt"/>
                        <a:buNone/>
                      </a:pPr>
                      <a:r>
                        <a:rPr lang="en-US" sz="1100">
                          <a:solidFill>
                            <a:schemeClr val="tx1"/>
                          </a:solidFill>
                          <a:latin typeface="+mn-lt"/>
                        </a:rPr>
                        <a:t>N/A</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mn-lt"/>
                        </a:rPr>
                        <a:t>N/A</a:t>
                      </a:r>
                    </a:p>
                    <a:p>
                      <a:pPr marL="0" marR="0" lvl="0" indent="0" algn="l" defTabSz="914370" rtl="0" eaLnBrk="1" fontAlgn="auto" latinLnBrk="0" hangingPunct="1">
                        <a:lnSpc>
                          <a:spcPct val="100000"/>
                        </a:lnSpc>
                        <a:spcBef>
                          <a:spcPts val="0"/>
                        </a:spcBef>
                        <a:spcAft>
                          <a:spcPts val="0"/>
                        </a:spcAft>
                        <a:buClrTx/>
                        <a:buSzTx/>
                        <a:buFontTx/>
                        <a:buNone/>
                        <a:tabLst/>
                        <a:defRPr/>
                      </a:pPr>
                      <a:endParaRPr kumimoji="0" lang="en-US" sz="1100" b="0" i="1" u="none" strike="noStrike" kern="0" cap="none" spc="0" normalizeH="0" baseline="0" noProof="0">
                        <a:ln>
                          <a:noFill/>
                        </a:ln>
                        <a:solidFill>
                          <a:schemeClr val="tx1"/>
                        </a:solidFill>
                        <a:effectLst/>
                        <a:uLnTx/>
                        <a:uFillTx/>
                        <a:latin typeface="Calibri"/>
                        <a:ea typeface="+mn-ea"/>
                        <a:cs typeface="+mn-cs"/>
                      </a:endParaRPr>
                    </a:p>
                  </a:txBody>
                  <a:tcPr>
                    <a:solidFill>
                      <a:schemeClr val="tx1">
                        <a:lumMod val="50000"/>
                        <a:lumOff val="50000"/>
                      </a:schemeClr>
                    </a:solidFill>
                  </a:tcPr>
                </a:tc>
                <a:tc>
                  <a:txBody>
                    <a:bodyPr/>
                    <a:lstStyle/>
                    <a:p>
                      <a:pPr marL="228600" indent="-228600">
                        <a:buFont typeface="+mj-lt"/>
                        <a:buAutoNum type="arabicPeriod"/>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 typeface="+mj-lt"/>
                        <a:buNone/>
                        <a:tabLst/>
                        <a:defRPr/>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39651794"/>
                  </a:ext>
                </a:extLst>
              </a:tr>
              <a:tr h="370840">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mn-lt"/>
                        <a:ea typeface="+mn-ea"/>
                        <a:cs typeface="+mn-cs"/>
                      </a:endParaRPr>
                    </a:p>
                  </a:txBody>
                  <a:tcPr vert="vert270" anchor="ctr"/>
                </a:tc>
                <a:tc>
                  <a:txBody>
                    <a:bodyPr/>
                    <a:lstStyle/>
                    <a:p>
                      <a:endParaRPr lang="en-US" sz="1100" b="0">
                        <a:solidFill>
                          <a:schemeClr val="tx1"/>
                        </a:solidFill>
                        <a:latin typeface="+mn-lt"/>
                      </a:endParaRPr>
                    </a:p>
                  </a:txBody>
                  <a:tcPr>
                    <a:solidFill>
                      <a:schemeClr val="tx1">
                        <a:lumMod val="50000"/>
                        <a:lumOff val="50000"/>
                      </a:schemeClr>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solidFill>
                          <a:schemeClr val="tx1"/>
                        </a:solidFill>
                        <a:latin typeface="+mn-lt"/>
                      </a:endParaRPr>
                    </a:p>
                  </a:txBody>
                  <a:tcPr>
                    <a:solidFill>
                      <a:schemeClr val="tx1">
                        <a:lumMod val="50000"/>
                        <a:lumOff val="50000"/>
                      </a:schemeClr>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solidFill>
                          <a:schemeClr val="tx1"/>
                        </a:solidFill>
                        <a:latin typeface="+mn-lt"/>
                      </a:endParaRPr>
                    </a:p>
                  </a:txBody>
                  <a:tcPr>
                    <a:solidFill>
                      <a:schemeClr val="tx1">
                        <a:lumMod val="50000"/>
                        <a:lumOff val="50000"/>
                      </a:schemeClr>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dirty="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708649140"/>
                  </a:ext>
                </a:extLst>
              </a:tr>
            </a:tbl>
          </a:graphicData>
        </a:graphic>
      </p:graphicFrame>
      <p:sp>
        <p:nvSpPr>
          <p:cNvPr id="10" name="Speech Bubble: Rectangle 9">
            <a:extLst>
              <a:ext uri="{FF2B5EF4-FFF2-40B4-BE49-F238E27FC236}">
                <a16:creationId xmlns:a16="http://schemas.microsoft.com/office/drawing/2014/main" id="{4223E8AF-81E2-A6AD-A84F-E50FD1E75BDC}"/>
              </a:ext>
            </a:extLst>
          </p:cNvPr>
          <p:cNvSpPr/>
          <p:nvPr/>
        </p:nvSpPr>
        <p:spPr>
          <a:xfrm>
            <a:off x="9823249" y="3921152"/>
            <a:ext cx="1911550" cy="637909"/>
          </a:xfrm>
          <a:prstGeom prst="wedgeRectCallout">
            <a:avLst>
              <a:gd name="adj1" fmla="val -32068"/>
              <a:gd name="adj2" fmla="val -89455"/>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If at any stage, quote is rejected, send notice to Sales Rep and reset approval queues</a:t>
            </a:r>
          </a:p>
        </p:txBody>
      </p:sp>
      <p:sp>
        <p:nvSpPr>
          <p:cNvPr id="14" name="Numbered Circle">
            <a:extLst>
              <a:ext uri="{FF2B5EF4-FFF2-40B4-BE49-F238E27FC236}">
                <a16:creationId xmlns:a16="http://schemas.microsoft.com/office/drawing/2014/main" id="{DB6DC7EB-91A7-354C-A6BF-A2370CFF67BE}"/>
              </a:ext>
            </a:extLst>
          </p:cNvPr>
          <p:cNvSpPr>
            <a:spLocks noChangeAspect="1"/>
          </p:cNvSpPr>
          <p:nvPr/>
        </p:nvSpPr>
        <p:spPr>
          <a:xfrm>
            <a:off x="165100" y="409448"/>
            <a:ext cx="228600" cy="228600"/>
          </a:xfrm>
          <a:prstGeom prst="ellipse">
            <a:avLst/>
          </a:prstGeom>
          <a:solidFill>
            <a:schemeClr val="bg1"/>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GB" sz="1000" kern="0">
                <a:solidFill>
                  <a:schemeClr val="tx1"/>
                </a:solidFill>
              </a:rPr>
              <a:t>3</a:t>
            </a:r>
          </a:p>
        </p:txBody>
      </p:sp>
      <p:pic>
        <p:nvPicPr>
          <p:cNvPr id="16" name="Picture 15">
            <a:extLst>
              <a:ext uri="{FF2B5EF4-FFF2-40B4-BE49-F238E27FC236}">
                <a16:creationId xmlns:a16="http://schemas.microsoft.com/office/drawing/2014/main" id="{7CCF59DF-1146-F643-B61C-5BFF1A2B1A6A}"/>
              </a:ext>
            </a:extLst>
          </p:cNvPr>
          <p:cNvPicPr>
            <a:picLocks noChangeAspect="1"/>
          </p:cNvPicPr>
          <p:nvPr/>
        </p:nvPicPr>
        <p:blipFill>
          <a:blip r:embed="rId6"/>
          <a:stretch>
            <a:fillRect/>
          </a:stretch>
        </p:blipFill>
        <p:spPr>
          <a:xfrm>
            <a:off x="8919713" y="381000"/>
            <a:ext cx="2815086" cy="257590"/>
          </a:xfrm>
          <a:prstGeom prst="rect">
            <a:avLst/>
          </a:prstGeom>
        </p:spPr>
      </p:pic>
      <p:cxnSp>
        <p:nvCxnSpPr>
          <p:cNvPr id="18" name="Straight Connector 17">
            <a:extLst>
              <a:ext uri="{FF2B5EF4-FFF2-40B4-BE49-F238E27FC236}">
                <a16:creationId xmlns:a16="http://schemas.microsoft.com/office/drawing/2014/main" id="{993DCDB8-AB5D-FF25-3A7C-977B97C3BDD7}"/>
              </a:ext>
            </a:extLst>
          </p:cNvPr>
          <p:cNvCxnSpPr>
            <a:cxnSpLocks/>
          </p:cNvCxnSpPr>
          <p:nvPr/>
        </p:nvCxnSpPr>
        <p:spPr>
          <a:xfrm>
            <a:off x="1667775" y="1139691"/>
            <a:ext cx="10067027" cy="0"/>
          </a:xfrm>
          <a:prstGeom prst="line">
            <a:avLst/>
          </a:prstGeom>
          <a:ln w="19050">
            <a:solidFill>
              <a:schemeClr val="accent3">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64F9319-6B66-6585-DE96-1893CD69CC63}"/>
              </a:ext>
            </a:extLst>
          </p:cNvPr>
          <p:cNvSpPr/>
          <p:nvPr/>
        </p:nvSpPr>
        <p:spPr>
          <a:xfrm>
            <a:off x="2987874"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0" name="Oval 19">
            <a:extLst>
              <a:ext uri="{FF2B5EF4-FFF2-40B4-BE49-F238E27FC236}">
                <a16:creationId xmlns:a16="http://schemas.microsoft.com/office/drawing/2014/main" id="{CCE489C4-0199-0C9C-5DA9-50F76CFF6155}"/>
              </a:ext>
            </a:extLst>
          </p:cNvPr>
          <p:cNvSpPr/>
          <p:nvPr/>
        </p:nvSpPr>
        <p:spPr>
          <a:xfrm>
            <a:off x="5451868"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1" name="Oval 20">
            <a:extLst>
              <a:ext uri="{FF2B5EF4-FFF2-40B4-BE49-F238E27FC236}">
                <a16:creationId xmlns:a16="http://schemas.microsoft.com/office/drawing/2014/main" id="{DAD7D724-DD12-5184-DB8F-2DE3D5A84049}"/>
              </a:ext>
            </a:extLst>
          </p:cNvPr>
          <p:cNvSpPr/>
          <p:nvPr/>
        </p:nvSpPr>
        <p:spPr>
          <a:xfrm>
            <a:off x="7915862"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2" name="Oval 21">
            <a:extLst>
              <a:ext uri="{FF2B5EF4-FFF2-40B4-BE49-F238E27FC236}">
                <a16:creationId xmlns:a16="http://schemas.microsoft.com/office/drawing/2014/main" id="{EBD61074-4C85-10C5-9287-4C042FBBD055}"/>
              </a:ext>
            </a:extLst>
          </p:cNvPr>
          <p:cNvSpPr/>
          <p:nvPr/>
        </p:nvSpPr>
        <p:spPr>
          <a:xfrm>
            <a:off x="10379857"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3" name="Rectangle 22">
            <a:extLst>
              <a:ext uri="{FF2B5EF4-FFF2-40B4-BE49-F238E27FC236}">
                <a16:creationId xmlns:a16="http://schemas.microsoft.com/office/drawing/2014/main" id="{275B204B-127D-702D-ED16-7E571C0EB2B6}"/>
              </a:ext>
            </a:extLst>
          </p:cNvPr>
          <p:cNvSpPr/>
          <p:nvPr/>
        </p:nvSpPr>
        <p:spPr>
          <a:xfrm>
            <a:off x="7645306" y="801971"/>
            <a:ext cx="862641" cy="161721"/>
          </a:xfrm>
          <a:prstGeom prst="rect">
            <a:avLst/>
          </a:prstGeom>
          <a:solidFill>
            <a:schemeClr val="bg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100" i="1" kern="0">
                <a:solidFill>
                  <a:schemeClr val="tx1"/>
                </a:solidFill>
              </a:rPr>
              <a:t>(Skipped)</a:t>
            </a:r>
          </a:p>
        </p:txBody>
      </p:sp>
      <p:sp>
        <p:nvSpPr>
          <p:cNvPr id="24" name="Rectangle 23">
            <a:extLst>
              <a:ext uri="{FF2B5EF4-FFF2-40B4-BE49-F238E27FC236}">
                <a16:creationId xmlns:a16="http://schemas.microsoft.com/office/drawing/2014/main" id="{8DED98EA-3E0A-A455-A9E5-3A253C221E1D}"/>
              </a:ext>
            </a:extLst>
          </p:cNvPr>
          <p:cNvSpPr/>
          <p:nvPr/>
        </p:nvSpPr>
        <p:spPr>
          <a:xfrm>
            <a:off x="10109301" y="795873"/>
            <a:ext cx="862641" cy="161721"/>
          </a:xfrm>
          <a:prstGeom prst="rect">
            <a:avLst/>
          </a:prstGeom>
          <a:solidFill>
            <a:schemeClr val="bg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100" i="1" kern="0">
                <a:solidFill>
                  <a:schemeClr val="tx1"/>
                </a:solidFill>
              </a:rPr>
              <a:t>(Skipped)</a:t>
            </a:r>
          </a:p>
        </p:txBody>
      </p:sp>
      <p:sp>
        <p:nvSpPr>
          <p:cNvPr id="2" name="Rectangle 1">
            <a:extLst>
              <a:ext uri="{FF2B5EF4-FFF2-40B4-BE49-F238E27FC236}">
                <a16:creationId xmlns:a16="http://schemas.microsoft.com/office/drawing/2014/main" id="{55C00828-9023-B90A-E830-A2EA6C790AAD}"/>
              </a:ext>
            </a:extLst>
          </p:cNvPr>
          <p:cNvSpPr/>
          <p:nvPr/>
        </p:nvSpPr>
        <p:spPr>
          <a:xfrm>
            <a:off x="7533314" y="5503178"/>
            <a:ext cx="2919369" cy="552851"/>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400" kern="0" dirty="0">
                <a:solidFill>
                  <a:schemeClr val="tx1"/>
                </a:solidFill>
              </a:rPr>
              <a:t>Case 1: Frontline Sales and PM</a:t>
            </a:r>
          </a:p>
        </p:txBody>
      </p:sp>
    </p:spTree>
    <p:extLst>
      <p:ext uri="{BB962C8B-B14F-4D97-AF65-F5344CB8AC3E}">
        <p14:creationId xmlns:p14="http://schemas.microsoft.com/office/powerpoint/2010/main" val="249862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C65DF-C289-6073-5F79-5548FA987F46}"/>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C237623-A5FA-2EB3-DB47-5B78401EE2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7" name="think-cell data - do not delete" hidden="1">
                        <a:extLst>
                          <a:ext uri="{FF2B5EF4-FFF2-40B4-BE49-F238E27FC236}">
                            <a16:creationId xmlns:a16="http://schemas.microsoft.com/office/drawing/2014/main" id="{BC237623-A5FA-2EB3-DB47-5B78401EE29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5038E852-A83F-F62F-EA44-B5E08365DE1B}"/>
              </a:ext>
            </a:extLst>
          </p:cNvPr>
          <p:cNvSpPr>
            <a:spLocks noGrp="1"/>
          </p:cNvSpPr>
          <p:nvPr>
            <p:ph type="title"/>
          </p:nvPr>
        </p:nvSpPr>
        <p:spPr>
          <a:xfrm>
            <a:off x="457200" y="384048"/>
            <a:ext cx="11277600" cy="758952"/>
          </a:xfrm>
        </p:spPr>
        <p:txBody>
          <a:bodyPr vert="horz"/>
          <a:lstStyle/>
          <a:p>
            <a:r>
              <a:rPr lang="en-US"/>
              <a:t>Process flow (if L2 is required): L1, L2</a:t>
            </a:r>
          </a:p>
        </p:txBody>
      </p:sp>
      <p:graphicFrame>
        <p:nvGraphicFramePr>
          <p:cNvPr id="5" name="Table 4">
            <a:extLst>
              <a:ext uri="{FF2B5EF4-FFF2-40B4-BE49-F238E27FC236}">
                <a16:creationId xmlns:a16="http://schemas.microsoft.com/office/drawing/2014/main" id="{D956DD8C-3487-4B2F-54CF-F0A65630EC4A}"/>
              </a:ext>
            </a:extLst>
          </p:cNvPr>
          <p:cNvGraphicFramePr>
            <a:graphicFrameLocks noGrp="1"/>
          </p:cNvGraphicFramePr>
          <p:nvPr>
            <p:extLst>
              <p:ext uri="{D42A27DB-BD31-4B8C-83A1-F6EECF244321}">
                <p14:modId xmlns:p14="http://schemas.microsoft.com/office/powerpoint/2010/main" val="1967034691"/>
              </p:ext>
            </p:extLst>
          </p:nvPr>
        </p:nvGraphicFramePr>
        <p:xfrm>
          <a:off x="457201" y="1402080"/>
          <a:ext cx="11277601" cy="5008999"/>
        </p:xfrm>
        <a:graphic>
          <a:graphicData uri="http://schemas.openxmlformats.org/drawingml/2006/table">
            <a:tbl>
              <a:tblPr firstRow="1" bandRow="1">
                <a:tableStyleId>{839DD9DD-9E6C-4910-8AC0-68ADFF6A6AFC}</a:tableStyleId>
              </a:tblPr>
              <a:tblGrid>
                <a:gridCol w="552085">
                  <a:extLst>
                    <a:ext uri="{9D8B030D-6E8A-4147-A177-3AD203B41FA5}">
                      <a16:colId xmlns:a16="http://schemas.microsoft.com/office/drawing/2014/main" val="1160354700"/>
                    </a:ext>
                  </a:extLst>
                </a:gridCol>
                <a:gridCol w="1060718">
                  <a:extLst>
                    <a:ext uri="{9D8B030D-6E8A-4147-A177-3AD203B41FA5}">
                      <a16:colId xmlns:a16="http://schemas.microsoft.com/office/drawing/2014/main" val="335089722"/>
                    </a:ext>
                  </a:extLst>
                </a:gridCol>
                <a:gridCol w="2416199">
                  <a:extLst>
                    <a:ext uri="{9D8B030D-6E8A-4147-A177-3AD203B41FA5}">
                      <a16:colId xmlns:a16="http://schemas.microsoft.com/office/drawing/2014/main" val="950448801"/>
                    </a:ext>
                  </a:extLst>
                </a:gridCol>
                <a:gridCol w="2416200">
                  <a:extLst>
                    <a:ext uri="{9D8B030D-6E8A-4147-A177-3AD203B41FA5}">
                      <a16:colId xmlns:a16="http://schemas.microsoft.com/office/drawing/2014/main" val="2739390244"/>
                    </a:ext>
                  </a:extLst>
                </a:gridCol>
                <a:gridCol w="2416200">
                  <a:extLst>
                    <a:ext uri="{9D8B030D-6E8A-4147-A177-3AD203B41FA5}">
                      <a16:colId xmlns:a16="http://schemas.microsoft.com/office/drawing/2014/main" val="3889276174"/>
                    </a:ext>
                  </a:extLst>
                </a:gridCol>
                <a:gridCol w="2416199">
                  <a:extLst>
                    <a:ext uri="{9D8B030D-6E8A-4147-A177-3AD203B41FA5}">
                      <a16:colId xmlns:a16="http://schemas.microsoft.com/office/drawing/2014/main" val="1513992304"/>
                    </a:ext>
                  </a:extLst>
                </a:gridCol>
              </a:tblGrid>
              <a:tr h="0">
                <a:tc>
                  <a:txBody>
                    <a:bodyPr/>
                    <a:lstStyle/>
                    <a:p>
                      <a:r>
                        <a:rPr lang="en-US" sz="1100">
                          <a:latin typeface="+mn-lt"/>
                        </a:rPr>
                        <a:t>Queue</a:t>
                      </a:r>
                    </a:p>
                  </a:txBody>
                  <a:tcPr marR="45720"/>
                </a:tc>
                <a:tc>
                  <a:txBody>
                    <a:bodyPr/>
                    <a:lstStyle/>
                    <a:p>
                      <a:r>
                        <a:rPr lang="en-US" sz="1100">
                          <a:latin typeface="+mn-lt"/>
                        </a:rPr>
                        <a:t>Field</a:t>
                      </a:r>
                    </a:p>
                  </a:txBody>
                  <a:tcPr/>
                </a:tc>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cs typeface="+mn-cs"/>
                        </a:rPr>
                        <a:t>Sales Manager Approval</a:t>
                      </a:r>
                    </a:p>
                  </a:txBody>
                  <a:tcPr/>
                </a:tc>
                <a:tc>
                  <a:txBody>
                    <a:bodyPr/>
                    <a:lstStyle/>
                    <a:p>
                      <a:pPr algn="ctr"/>
                      <a:r>
                        <a:rPr lang="en-US" sz="1100" b="1">
                          <a:cs typeface="+mn-cs"/>
                        </a:rPr>
                        <a:t>Product Approval</a:t>
                      </a:r>
                    </a:p>
                  </a:txBody>
                  <a:tcPr/>
                </a:tc>
                <a:tc>
                  <a:txBody>
                    <a:bodyPr/>
                    <a:lstStyle/>
                    <a:p>
                      <a:pPr algn="ctr"/>
                      <a:r>
                        <a:rPr lang="en-US" sz="1100" b="1" dirty="0">
                          <a:solidFill>
                            <a:schemeClr val="tx1"/>
                          </a:solidFill>
                          <a:cs typeface="+mn-cs"/>
                        </a:rPr>
                        <a:t>Commercial Approval</a:t>
                      </a:r>
                    </a:p>
                  </a:txBody>
                  <a:tcPr>
                    <a:solidFill>
                      <a:schemeClr val="tx1">
                        <a:lumMod val="50000"/>
                        <a:lumOff val="50000"/>
                      </a:schemeClr>
                    </a:solidFill>
                  </a:tcPr>
                </a:tc>
                <a:tc>
                  <a:txBody>
                    <a:bodyPr/>
                    <a:lstStyle/>
                    <a:p>
                      <a:pPr algn="ctr"/>
                      <a:r>
                        <a:rPr lang="en-US" sz="1100" b="1">
                          <a:solidFill>
                            <a:schemeClr val="tx1"/>
                          </a:solidFill>
                          <a:cs typeface="+mn-cs"/>
                        </a:rPr>
                        <a:t>Enterprise Approval</a:t>
                      </a:r>
                    </a:p>
                  </a:txBody>
                  <a:tcPr>
                    <a:solidFill>
                      <a:schemeClr val="tx1">
                        <a:lumMod val="50000"/>
                        <a:lumOff val="50000"/>
                      </a:schemeClr>
                    </a:solidFill>
                  </a:tcPr>
                </a:tc>
                <a:extLst>
                  <a:ext uri="{0D108BD9-81ED-4DB2-BD59-A6C34878D82A}">
                    <a16:rowId xmlns:a16="http://schemas.microsoft.com/office/drawing/2014/main" val="805662088"/>
                  </a:ext>
                </a:extLst>
              </a:tr>
              <a:tr h="610649">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latin typeface="+mn-lt"/>
                        </a:rPr>
                        <a:t>Core Approver</a:t>
                      </a:r>
                    </a:p>
                  </a:txBody>
                  <a:tcPr vert="vert270" anchor="ctr"/>
                </a:tc>
                <a:tc>
                  <a:txBody>
                    <a:bodyPr/>
                    <a:lstStyle/>
                    <a:p>
                      <a:r>
                        <a:rPr lang="en-US" sz="1100" b="1">
                          <a:solidFill>
                            <a:schemeClr val="bg1"/>
                          </a:solidFill>
                          <a:latin typeface="+mn-lt"/>
                        </a:rPr>
                        <a:t>Approver</a:t>
                      </a:r>
                    </a:p>
                  </a:txBody>
                  <a:tcPr>
                    <a:solidFill>
                      <a:schemeClr val="accent2"/>
                    </a:solidFill>
                  </a:tcPr>
                </a:tc>
                <a:tc>
                  <a:txBody>
                    <a:bodyPr/>
                    <a:lstStyle/>
                    <a:p>
                      <a:pPr marL="0" indent="0">
                        <a:buFont typeface="+mj-lt"/>
                        <a:buNone/>
                      </a:pPr>
                      <a:r>
                        <a:rPr lang="en-US" sz="1100" b="1">
                          <a:solidFill>
                            <a:schemeClr val="bg1"/>
                          </a:solidFill>
                          <a:latin typeface="+mn-lt"/>
                        </a:rPr>
                        <a:t>L1 - Sales Rep Direct Manager</a:t>
                      </a:r>
                    </a:p>
                  </a:txBody>
                  <a:tcPr>
                    <a:solidFill>
                      <a:schemeClr val="accent2"/>
                    </a:solidFill>
                  </a:tcPr>
                </a:tc>
                <a:tc>
                  <a:txBody>
                    <a:bodyPr/>
                    <a:lstStyle/>
                    <a:p>
                      <a:r>
                        <a:rPr lang="en-US" sz="1100" b="1">
                          <a:solidFill>
                            <a:schemeClr val="bg1"/>
                          </a:solidFill>
                          <a:latin typeface="+mn-lt"/>
                          <a:cs typeface="+mn-cs"/>
                        </a:rPr>
                        <a:t>L1 - Product Manager – “PM”</a:t>
                      </a:r>
                    </a:p>
                    <a:p>
                      <a:r>
                        <a:rPr lang="en-US" sz="1100" b="0">
                          <a:solidFill>
                            <a:schemeClr val="bg1"/>
                          </a:solidFill>
                          <a:latin typeface="+mn-lt"/>
                          <a:cs typeface="+mn-cs"/>
                        </a:rPr>
                        <a:t>(e.g., Shoshana for Lubricants)</a:t>
                      </a:r>
                      <a:endParaRPr lang="en-US" sz="1100" b="0">
                        <a:solidFill>
                          <a:schemeClr val="bg1"/>
                        </a:solidFill>
                        <a:latin typeface="+mn-lt"/>
                      </a:endParaRPr>
                    </a:p>
                  </a:txBody>
                  <a:tcPr>
                    <a:solidFill>
                      <a:schemeClr val="accent2"/>
                    </a:solidFill>
                  </a:tcPr>
                </a:tc>
                <a:tc>
                  <a:txBody>
                    <a:bodyPr/>
                    <a:lstStyle/>
                    <a:p>
                      <a:r>
                        <a:rPr lang="en-US" sz="1100" b="1">
                          <a:solidFill>
                            <a:schemeClr val="tx1"/>
                          </a:solidFill>
                          <a:latin typeface="+mn-lt"/>
                        </a:rPr>
                        <a:t>L3 – VP Portfolio Management</a:t>
                      </a:r>
                      <a:r>
                        <a:rPr lang="en-US" sz="1100">
                          <a:solidFill>
                            <a:schemeClr val="tx1"/>
                          </a:solidFill>
                          <a:latin typeface="+mn-lt"/>
                        </a:rPr>
                        <a:t> (Eric Cecilio) OR </a:t>
                      </a:r>
                      <a:r>
                        <a:rPr lang="en-US" sz="1100" b="1">
                          <a:solidFill>
                            <a:schemeClr val="tx1"/>
                          </a:solidFill>
                          <a:latin typeface="+mn-lt"/>
                        </a:rPr>
                        <a:t>VP Commercial Excellence </a:t>
                      </a:r>
                      <a:r>
                        <a:rPr lang="en-US" sz="1100">
                          <a:solidFill>
                            <a:schemeClr val="tx1"/>
                          </a:solidFill>
                          <a:latin typeface="+mn-lt"/>
                        </a:rPr>
                        <a:t>(Jorge)</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rPr>
                        <a:t>L4 – Chief Revenue Officer </a:t>
                      </a:r>
                      <a:r>
                        <a:rPr lang="en-US" sz="1100" b="0" i="0">
                          <a:solidFill>
                            <a:schemeClr val="tx1"/>
                          </a:solidFill>
                          <a:latin typeface="+mn-lt"/>
                        </a:rPr>
                        <a:t>(Ken Chrisman) or </a:t>
                      </a:r>
                      <a:r>
                        <a:rPr lang="en-US" sz="1100" b="1" i="0">
                          <a:solidFill>
                            <a:schemeClr val="tx1"/>
                          </a:solidFill>
                          <a:latin typeface="+mn-lt"/>
                        </a:rPr>
                        <a:t>Chief Financial Officer</a:t>
                      </a:r>
                      <a:r>
                        <a:rPr lang="en-US" sz="1100" b="0" i="0">
                          <a:solidFill>
                            <a:schemeClr val="tx1"/>
                          </a:solidFill>
                          <a:latin typeface="+mn-lt"/>
                        </a:rPr>
                        <a:t> (Chris Heinold)</a:t>
                      </a:r>
                      <a:endParaRPr lang="en-US" sz="1100" b="1" i="0">
                        <a:solidFill>
                          <a:schemeClr val="tx1"/>
                        </a:solidFill>
                        <a:latin typeface="+mn-lt"/>
                      </a:endParaRPr>
                    </a:p>
                  </a:txBody>
                  <a:tcPr>
                    <a:solidFill>
                      <a:schemeClr val="tx1">
                        <a:lumMod val="50000"/>
                        <a:lumOff val="50000"/>
                      </a:schemeClr>
                    </a:solidFill>
                  </a:tcPr>
                </a:tc>
                <a:extLst>
                  <a:ext uri="{0D108BD9-81ED-4DB2-BD59-A6C34878D82A}">
                    <a16:rowId xmlns:a16="http://schemas.microsoft.com/office/drawing/2014/main" val="893372846"/>
                  </a:ext>
                </a:extLst>
              </a:tr>
              <a:tr h="402811">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indent="0">
                        <a:buFont typeface="+mj-lt"/>
                        <a:buNone/>
                      </a:pPr>
                      <a:r>
                        <a:rPr lang="en-US" sz="1100" b="0">
                          <a:latin typeface="+mn-lt"/>
                        </a:rPr>
                        <a:t>Map of Sales Reps and Direct Managers (exists within CRM)</a:t>
                      </a:r>
                    </a:p>
                  </a:txBody>
                  <a:tcPr>
                    <a:solidFill>
                      <a:schemeClr val="accent2">
                        <a:lumMod val="20000"/>
                        <a:lumOff val="80000"/>
                      </a:schemeClr>
                    </a:solidFill>
                  </a:tcPr>
                </a:tc>
                <a:tc>
                  <a:txBody>
                    <a:bodyPr/>
                    <a:lstStyle/>
                    <a:p>
                      <a:pPr marL="0" indent="0">
                        <a:buFont typeface="+mj-lt"/>
                        <a:buNone/>
                      </a:pPr>
                      <a:r>
                        <a:rPr lang="en-US" sz="1100" b="0">
                          <a:latin typeface="+mn-lt"/>
                        </a:rPr>
                        <a:t>Map of PL1s with PMs</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chemeClr val="tx1">
                        <a:lumMod val="50000"/>
                        <a:lumOff val="50000"/>
                      </a:schemeClr>
                    </a:solidFill>
                  </a:tcPr>
                </a:tc>
                <a:extLst>
                  <a:ext uri="{0D108BD9-81ED-4DB2-BD59-A6C34878D82A}">
                    <a16:rowId xmlns:a16="http://schemas.microsoft.com/office/drawing/2014/main" val="563561187"/>
                  </a:ext>
                </a:extLst>
              </a:tr>
              <a:tr h="927187">
                <a:tc vMerge="1">
                  <a:txBody>
                    <a:bodyPr/>
                    <a:lstStyle/>
                    <a:p>
                      <a:endParaRPr lang="en-US" b="1"/>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sales rep manager</a:t>
                      </a:r>
                    </a:p>
                    <a:p>
                      <a:pPr marL="228600" indent="-228600">
                        <a:buFont typeface="+mj-lt"/>
                        <a:buAutoNum type="arabicPeriod"/>
                      </a:pPr>
                      <a:r>
                        <a:rPr lang="en-US" sz="1100">
                          <a:latin typeface="+mn-lt"/>
                        </a:rPr>
                        <a:t>Assign approval to queue</a:t>
                      </a:r>
                    </a:p>
                    <a:p>
                      <a:pPr marL="228600" indent="-228600">
                        <a:buFont typeface="+mj-lt"/>
                        <a:buAutoNum type="arabicPeriod"/>
                      </a:pPr>
                      <a:r>
                        <a:rPr lang="en-US" sz="1100">
                          <a:latin typeface="+mn-lt"/>
                        </a:rPr>
                        <a:t>If approved, move onto CBU Lead</a:t>
                      </a:r>
                    </a:p>
                  </a:txBody>
                  <a:tcPr/>
                </a:tc>
                <a:tc>
                  <a:txBody>
                    <a:bodyPr/>
                    <a:lstStyle/>
                    <a:p>
                      <a:pPr marL="228600" indent="-228600">
                        <a:buFont typeface="+mj-lt"/>
                        <a:buAutoNum type="arabicPeriod"/>
                      </a:pPr>
                      <a:r>
                        <a:rPr lang="en-US" sz="1100">
                          <a:latin typeface="+mn-lt"/>
                        </a:rPr>
                        <a:t>Determine leading PL1 based on the products in basket</a:t>
                      </a:r>
                    </a:p>
                    <a:p>
                      <a:pPr marL="228600" indent="-228600">
                        <a:buFont typeface="+mj-lt"/>
                        <a:buAutoNum type="arabicPeriod"/>
                      </a:pPr>
                      <a:r>
                        <a:rPr lang="en-US" sz="1100">
                          <a:latin typeface="+mn-lt"/>
                        </a:rPr>
                        <a:t>Find PM based on PL1</a:t>
                      </a:r>
                    </a:p>
                    <a:p>
                      <a:pPr marL="228600" indent="-228600">
                        <a:buFont typeface="+mj-lt"/>
                        <a:buAutoNum type="arabicPeriod"/>
                      </a:pPr>
                      <a:r>
                        <a:rPr lang="en-US" sz="1100">
                          <a:latin typeface="+mn-lt"/>
                        </a:rPr>
                        <a:t>Assign approval to queue</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approved, move onto CBU Portfolio Director</a:t>
                      </a:r>
                    </a:p>
                  </a:txBody>
                  <a:tcPr/>
                </a:tc>
                <a:tc>
                  <a:txBody>
                    <a:bodyPr/>
                    <a:lstStyle/>
                    <a:p>
                      <a:pPr marL="228600" indent="-228600">
                        <a:buFont typeface="+mj-lt"/>
                        <a:buAutoNum type="arabicPeriod"/>
                      </a:pPr>
                      <a:endParaRPr lang="en-US" sz="1100">
                        <a:latin typeface="+mn-lt"/>
                      </a:endParaRPr>
                    </a:p>
                  </a:txBody>
                  <a:tcPr>
                    <a:solidFill>
                      <a:schemeClr val="tx1">
                        <a:lumMod val="50000"/>
                        <a:lumOff val="50000"/>
                      </a:schemeClr>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solidFill>
                      <a:schemeClr val="tx1">
                        <a:lumMod val="50000"/>
                        <a:lumOff val="50000"/>
                      </a:schemeClr>
                    </a:solidFill>
                  </a:tcPr>
                </a:tc>
                <a:extLst>
                  <a:ext uri="{0D108BD9-81ED-4DB2-BD59-A6C34878D82A}">
                    <a16:rowId xmlns:a16="http://schemas.microsoft.com/office/drawing/2014/main" val="872167488"/>
                  </a:ext>
                </a:extLst>
              </a:tr>
              <a:tr h="560027">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mn-lt"/>
                          <a:ea typeface="+mn-ea"/>
                          <a:cs typeface="+mn-cs"/>
                        </a:rPr>
                        <a:t>Secondary Approver</a:t>
                      </a:r>
                    </a:p>
                  </a:txBody>
                  <a:tcPr vert="vert270" anchor="ctr"/>
                </a:tc>
                <a:tc>
                  <a:txBody>
                    <a:bodyPr/>
                    <a:lstStyle/>
                    <a:p>
                      <a:r>
                        <a:rPr lang="en-US" sz="1100" b="0">
                          <a:solidFill>
                            <a:schemeClr val="bg1"/>
                          </a:solidFill>
                          <a:latin typeface="+mn-lt"/>
                        </a:rPr>
                        <a:t>Approver</a:t>
                      </a:r>
                    </a:p>
                  </a:txBody>
                  <a:tcPr>
                    <a:solidFill>
                      <a:schemeClr val="accent2"/>
                    </a:solidFill>
                  </a:tcPr>
                </a:tc>
                <a:tc>
                  <a:txBody>
                    <a:bodyPr/>
                    <a:lstStyle/>
                    <a:p>
                      <a:r>
                        <a:rPr lang="en-US" sz="1100" b="1">
                          <a:solidFill>
                            <a:schemeClr val="bg1"/>
                          </a:solidFill>
                          <a:latin typeface="+mn-lt"/>
                        </a:rPr>
                        <a:t>L2 – CBU Lead </a:t>
                      </a:r>
                    </a:p>
                    <a:p>
                      <a:r>
                        <a:rPr lang="en-US" sz="1100">
                          <a:solidFill>
                            <a:schemeClr val="bg1"/>
                          </a:solidFill>
                          <a:latin typeface="+mn-lt"/>
                        </a:rPr>
                        <a:t>(Industrial: Eric Johnson)</a:t>
                      </a:r>
                    </a:p>
                  </a:txBody>
                  <a:tcPr>
                    <a:solidFill>
                      <a:schemeClr val="accent2"/>
                    </a:solidFill>
                  </a:tcPr>
                </a:tc>
                <a:tc>
                  <a:txBody>
                    <a:bodyPr/>
                    <a:lstStyle/>
                    <a:p>
                      <a:r>
                        <a:rPr lang="en-US" sz="1100" b="1">
                          <a:solidFill>
                            <a:schemeClr val="bg1"/>
                          </a:solidFill>
                          <a:latin typeface="+mn-lt"/>
                        </a:rPr>
                        <a:t>L2 – CBU Portfolio Director </a:t>
                      </a:r>
                    </a:p>
                    <a:p>
                      <a:r>
                        <a:rPr lang="en-US" sz="1100" b="0">
                          <a:solidFill>
                            <a:schemeClr val="bg1"/>
                          </a:solidFill>
                          <a:latin typeface="+mn-lt"/>
                        </a:rPr>
                        <a:t>(e.g., Max George for Industrial)</a:t>
                      </a:r>
                    </a:p>
                  </a:txBody>
                  <a:tcPr>
                    <a:solidFill>
                      <a:schemeClr val="accent2"/>
                    </a:solidFill>
                  </a:tcPr>
                </a:tc>
                <a:tc>
                  <a:txBody>
                    <a:bodyPr/>
                    <a:lstStyle/>
                    <a:p>
                      <a:endParaRPr lang="en-US" sz="1100">
                        <a:solidFill>
                          <a:schemeClr val="bg1"/>
                        </a:solidFill>
                        <a:latin typeface="+mn-lt"/>
                      </a:endParaRPr>
                    </a:p>
                  </a:txBody>
                  <a:tcPr>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1" i="0">
                        <a:solidFill>
                          <a:schemeClr val="bg1"/>
                        </a:solidFill>
                        <a:latin typeface="+mn-lt"/>
                      </a:endParaRPr>
                    </a:p>
                  </a:txBody>
                  <a:tcPr>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65958082"/>
                  </a:ext>
                </a:extLst>
              </a:tr>
              <a:tr h="0">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latin typeface="+mn-lt"/>
                        </a:rPr>
                        <a:t>Map of CBU Leads (exists within CRM / linked to managers)</a:t>
                      </a:r>
                    </a:p>
                  </a:txBody>
                  <a:tcPr>
                    <a:solidFill>
                      <a:schemeClr val="accent2">
                        <a:lumMod val="20000"/>
                        <a:lumOff val="80000"/>
                      </a:schemeClr>
                    </a:solidFill>
                  </a:tcPr>
                </a:tc>
                <a:tc>
                  <a:txBody>
                    <a:bodyPr/>
                    <a:lstStyle/>
                    <a:p>
                      <a:r>
                        <a:rPr lang="en-US" sz="1100" b="0">
                          <a:latin typeface="+mn-lt"/>
                        </a:rPr>
                        <a:t>Map of Portfolio Directors by CBU</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69417795"/>
                  </a:ext>
                </a:extLst>
              </a:tr>
              <a:tr h="698883">
                <a:tc vMerge="1">
                  <a:txBody>
                    <a:bodyPr/>
                    <a:lstStyle/>
                    <a:p>
                      <a:endParaRPr/>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CBU Lead manager</a:t>
                      </a:r>
                    </a:p>
                    <a:p>
                      <a:pPr marL="228600" indent="-228600">
                        <a:buFont typeface="+mj-lt"/>
                        <a:buAutoNum type="arabicPeriod"/>
                      </a:pPr>
                      <a:r>
                        <a:rPr lang="en-US" sz="1100">
                          <a:latin typeface="+mn-lt"/>
                        </a:rPr>
                        <a:t>Assign approval to queue</a:t>
                      </a:r>
                    </a:p>
                  </a:txBody>
                  <a:tcPr/>
                </a:tc>
                <a:tc>
                  <a:txBody>
                    <a:bodyPr/>
                    <a:lstStyle/>
                    <a:p>
                      <a:pPr marL="228600" indent="-228600">
                        <a:buFont typeface="+mj-lt"/>
                        <a:buAutoNum type="arabicPeriod"/>
                      </a:pPr>
                      <a:r>
                        <a:rPr lang="en-US" sz="1100">
                          <a:latin typeface="+mn-lt"/>
                        </a:rPr>
                        <a:t>Determine CBU Product Director based on leading PL1</a:t>
                      </a:r>
                    </a:p>
                    <a:p>
                      <a:pPr marL="228600" indent="-228600">
                        <a:buFont typeface="+mj-lt"/>
                        <a:buAutoNum type="arabicPeriod"/>
                      </a:pPr>
                      <a:r>
                        <a:rPr lang="en-US" sz="1100">
                          <a:latin typeface="+mn-lt"/>
                        </a:rPr>
                        <a:t>Assign approval to queue</a:t>
                      </a:r>
                    </a:p>
                  </a:txBody>
                  <a:tcPr/>
                </a:tc>
                <a:tc>
                  <a:txBody>
                    <a:bodyPr/>
                    <a:lstStyle/>
                    <a:p>
                      <a:pPr marL="228600" indent="-228600">
                        <a:buFont typeface="+mj-lt"/>
                        <a:buAutoNum type="arabicPeriod"/>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 typeface="+mj-lt"/>
                        <a:buNone/>
                        <a:tabLst/>
                        <a:defRPr/>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39651794"/>
                  </a:ext>
                </a:extLst>
              </a:tr>
              <a:tr h="370840">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mn-lt"/>
                        <a:ea typeface="+mn-ea"/>
                        <a:cs typeface="+mn-cs"/>
                      </a:endParaRPr>
                    </a:p>
                  </a:txBody>
                  <a:tcPr vert="vert270" anchor="ctr"/>
                </a:tc>
                <a:tc>
                  <a:txBody>
                    <a:bodyPr/>
                    <a:lstStyle/>
                    <a:p>
                      <a:endParaRPr lang="en-US" sz="1100" b="0">
                        <a:latin typeface="+mn-lt"/>
                      </a:endParaRPr>
                    </a:p>
                  </a:txBody>
                  <a:tcPr/>
                </a:tc>
                <a:tc>
                  <a:txBody>
                    <a:bodyPr/>
                    <a:lstStyle/>
                    <a:p>
                      <a:pPr marL="228600" indent="-228600">
                        <a:buFont typeface="+mj-lt"/>
                        <a:buAutoNum type="arabicPeriod"/>
                      </a:pPr>
                      <a:r>
                        <a:rPr lang="en-US" sz="1100">
                          <a:latin typeface="+mn-lt"/>
                        </a:rPr>
                        <a:t>Steps above commence </a:t>
                      </a:r>
                      <a:r>
                        <a:rPr lang="en-US" sz="1100" b="0">
                          <a:latin typeface="+mn-lt"/>
                        </a:rPr>
                        <a:t>sequentially</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both manager approve, move to next stage</a:t>
                      </a:r>
                      <a:endParaRPr lang="en-US" sz="1100" b="1">
                        <a:highlight>
                          <a:srgbClr val="FFFF00"/>
                        </a:highlight>
                        <a:latin typeface="+mn-lt"/>
                      </a:endParaRPr>
                    </a:p>
                    <a:p>
                      <a:pPr marL="228600" indent="-228600">
                        <a:buFont typeface="+mj-lt"/>
                        <a:buAutoNum type="arabicPeriod"/>
                      </a:pPr>
                      <a:endParaRPr lang="en-US" sz="1100" b="1">
                        <a:highlight>
                          <a:srgbClr val="FFFF00"/>
                        </a:highlight>
                        <a:latin typeface="+mn-lt"/>
                      </a:endParaRPr>
                    </a:p>
                  </a:txBody>
                  <a:tcPr>
                    <a:noFill/>
                  </a:tcPr>
                </a:tc>
                <a:tc>
                  <a:txBody>
                    <a:bodyPr/>
                    <a:lstStyle/>
                    <a:p>
                      <a:pPr marL="228600" indent="-228600">
                        <a:buFont typeface="+mj-lt"/>
                        <a:buAutoNum type="arabicPeriod"/>
                      </a:pPr>
                      <a:r>
                        <a:rPr lang="en-US" sz="1100">
                          <a:latin typeface="+mn-lt"/>
                        </a:rPr>
                        <a:t>Steps above commence </a:t>
                      </a:r>
                      <a:r>
                        <a:rPr lang="en-US" sz="1100" b="0">
                          <a:latin typeface="+mn-lt"/>
                        </a:rPr>
                        <a:t>sequentially</a:t>
                      </a:r>
                    </a:p>
                    <a:p>
                      <a:pPr marL="228600" indent="-228600">
                        <a:buFont typeface="+mj-lt"/>
                        <a:buAutoNum type="arabicPeriod"/>
                      </a:pPr>
                      <a:r>
                        <a:rPr lang="en-US" sz="1100" b="1">
                          <a:latin typeface="+mn-lt"/>
                        </a:rPr>
                        <a:t>If both parties approve, send approval notice to Sales Rep to share quote with Customer</a:t>
                      </a:r>
                    </a:p>
                  </a:txBody>
                  <a:tcPr>
                    <a:solidFill>
                      <a:srgbClr val="FFE580"/>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dirty="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708649140"/>
                  </a:ext>
                </a:extLst>
              </a:tr>
            </a:tbl>
          </a:graphicData>
        </a:graphic>
      </p:graphicFrame>
      <p:sp>
        <p:nvSpPr>
          <p:cNvPr id="14" name="Numbered Circle">
            <a:extLst>
              <a:ext uri="{FF2B5EF4-FFF2-40B4-BE49-F238E27FC236}">
                <a16:creationId xmlns:a16="http://schemas.microsoft.com/office/drawing/2014/main" id="{C1AF58D9-5FCE-7869-7663-644805B1BC1B}"/>
              </a:ext>
            </a:extLst>
          </p:cNvPr>
          <p:cNvSpPr>
            <a:spLocks noChangeAspect="1"/>
          </p:cNvSpPr>
          <p:nvPr/>
        </p:nvSpPr>
        <p:spPr>
          <a:xfrm>
            <a:off x="165100" y="409448"/>
            <a:ext cx="228600" cy="228600"/>
          </a:xfrm>
          <a:prstGeom prst="ellipse">
            <a:avLst/>
          </a:prstGeom>
          <a:solidFill>
            <a:schemeClr val="bg1"/>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GB" sz="1000" kern="0">
                <a:solidFill>
                  <a:schemeClr val="tx1"/>
                </a:solidFill>
              </a:rPr>
              <a:t>3</a:t>
            </a:r>
          </a:p>
        </p:txBody>
      </p:sp>
      <p:sp>
        <p:nvSpPr>
          <p:cNvPr id="11" name="Speech Bubble: Rectangle 10">
            <a:extLst>
              <a:ext uri="{FF2B5EF4-FFF2-40B4-BE49-F238E27FC236}">
                <a16:creationId xmlns:a16="http://schemas.microsoft.com/office/drawing/2014/main" id="{260741BC-13A0-566F-7794-D66AD3EC5623}"/>
              </a:ext>
            </a:extLst>
          </p:cNvPr>
          <p:cNvSpPr/>
          <p:nvPr/>
        </p:nvSpPr>
        <p:spPr>
          <a:xfrm>
            <a:off x="9823249" y="3921152"/>
            <a:ext cx="1911550" cy="637909"/>
          </a:xfrm>
          <a:prstGeom prst="wedgeRectCallout">
            <a:avLst>
              <a:gd name="adj1" fmla="val -32068"/>
              <a:gd name="adj2" fmla="val -89455"/>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If at any stage, quote is rejected, send notice to Sales Rep and reset approval queues</a:t>
            </a:r>
          </a:p>
        </p:txBody>
      </p:sp>
      <p:pic>
        <p:nvPicPr>
          <p:cNvPr id="12" name="Picture 11">
            <a:extLst>
              <a:ext uri="{FF2B5EF4-FFF2-40B4-BE49-F238E27FC236}">
                <a16:creationId xmlns:a16="http://schemas.microsoft.com/office/drawing/2014/main" id="{A53C0BB7-9C9E-8774-7BE3-122B2DE7FADC}"/>
              </a:ext>
            </a:extLst>
          </p:cNvPr>
          <p:cNvPicPr>
            <a:picLocks noChangeAspect="1"/>
          </p:cNvPicPr>
          <p:nvPr/>
        </p:nvPicPr>
        <p:blipFill>
          <a:blip r:embed="rId5"/>
          <a:stretch>
            <a:fillRect/>
          </a:stretch>
        </p:blipFill>
        <p:spPr>
          <a:xfrm>
            <a:off x="8919713" y="381000"/>
            <a:ext cx="2815086" cy="257590"/>
          </a:xfrm>
          <a:prstGeom prst="rect">
            <a:avLst/>
          </a:prstGeom>
        </p:spPr>
      </p:pic>
      <p:cxnSp>
        <p:nvCxnSpPr>
          <p:cNvPr id="13" name="Straight Connector 12">
            <a:extLst>
              <a:ext uri="{FF2B5EF4-FFF2-40B4-BE49-F238E27FC236}">
                <a16:creationId xmlns:a16="http://schemas.microsoft.com/office/drawing/2014/main" id="{A2D742B4-1C0E-7FDB-4ECE-177A7BACF57F}"/>
              </a:ext>
            </a:extLst>
          </p:cNvPr>
          <p:cNvCxnSpPr>
            <a:cxnSpLocks/>
          </p:cNvCxnSpPr>
          <p:nvPr/>
        </p:nvCxnSpPr>
        <p:spPr>
          <a:xfrm>
            <a:off x="1667775" y="1139691"/>
            <a:ext cx="10067027" cy="0"/>
          </a:xfrm>
          <a:prstGeom prst="line">
            <a:avLst/>
          </a:prstGeom>
          <a:ln w="19050">
            <a:solidFill>
              <a:schemeClr val="accent3">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6D3FBFDA-09FA-0B64-A040-A59EE5D211A8}"/>
              </a:ext>
            </a:extLst>
          </p:cNvPr>
          <p:cNvSpPr/>
          <p:nvPr/>
        </p:nvSpPr>
        <p:spPr>
          <a:xfrm>
            <a:off x="2987874"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6" name="Oval 15">
            <a:extLst>
              <a:ext uri="{FF2B5EF4-FFF2-40B4-BE49-F238E27FC236}">
                <a16:creationId xmlns:a16="http://schemas.microsoft.com/office/drawing/2014/main" id="{18A012F2-0E26-E4A7-2DF7-2D10D450FA32}"/>
              </a:ext>
            </a:extLst>
          </p:cNvPr>
          <p:cNvSpPr/>
          <p:nvPr/>
        </p:nvSpPr>
        <p:spPr>
          <a:xfrm>
            <a:off x="5451868"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7" name="Oval 16">
            <a:extLst>
              <a:ext uri="{FF2B5EF4-FFF2-40B4-BE49-F238E27FC236}">
                <a16:creationId xmlns:a16="http://schemas.microsoft.com/office/drawing/2014/main" id="{22305A58-DA36-94B5-9B65-57B08BC80C7C}"/>
              </a:ext>
            </a:extLst>
          </p:cNvPr>
          <p:cNvSpPr/>
          <p:nvPr/>
        </p:nvSpPr>
        <p:spPr>
          <a:xfrm>
            <a:off x="7915862"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8" name="Oval 17">
            <a:extLst>
              <a:ext uri="{FF2B5EF4-FFF2-40B4-BE49-F238E27FC236}">
                <a16:creationId xmlns:a16="http://schemas.microsoft.com/office/drawing/2014/main" id="{497FB15E-F76A-E05D-0DB4-097051DABEAB}"/>
              </a:ext>
            </a:extLst>
          </p:cNvPr>
          <p:cNvSpPr/>
          <p:nvPr/>
        </p:nvSpPr>
        <p:spPr>
          <a:xfrm>
            <a:off x="10379857"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9" name="Rectangle 18">
            <a:extLst>
              <a:ext uri="{FF2B5EF4-FFF2-40B4-BE49-F238E27FC236}">
                <a16:creationId xmlns:a16="http://schemas.microsoft.com/office/drawing/2014/main" id="{CAA674CB-49A0-E361-3C2F-3C37F23F9E5B}"/>
              </a:ext>
            </a:extLst>
          </p:cNvPr>
          <p:cNvSpPr/>
          <p:nvPr/>
        </p:nvSpPr>
        <p:spPr>
          <a:xfrm>
            <a:off x="7645306" y="801971"/>
            <a:ext cx="862641" cy="161721"/>
          </a:xfrm>
          <a:prstGeom prst="rect">
            <a:avLst/>
          </a:prstGeom>
          <a:solidFill>
            <a:schemeClr val="bg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100" i="1" kern="0">
                <a:solidFill>
                  <a:schemeClr val="tx1"/>
                </a:solidFill>
              </a:rPr>
              <a:t>(Skipped)</a:t>
            </a:r>
          </a:p>
        </p:txBody>
      </p:sp>
      <p:sp>
        <p:nvSpPr>
          <p:cNvPr id="20" name="Rectangle 19">
            <a:extLst>
              <a:ext uri="{FF2B5EF4-FFF2-40B4-BE49-F238E27FC236}">
                <a16:creationId xmlns:a16="http://schemas.microsoft.com/office/drawing/2014/main" id="{0E3EF0B2-D2CA-703A-2DF7-D2A5354A0A76}"/>
              </a:ext>
            </a:extLst>
          </p:cNvPr>
          <p:cNvSpPr/>
          <p:nvPr/>
        </p:nvSpPr>
        <p:spPr>
          <a:xfrm>
            <a:off x="10109301" y="795873"/>
            <a:ext cx="862641" cy="161721"/>
          </a:xfrm>
          <a:prstGeom prst="rect">
            <a:avLst/>
          </a:prstGeom>
          <a:solidFill>
            <a:schemeClr val="bg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100" i="1" kern="0">
                <a:solidFill>
                  <a:schemeClr val="tx1"/>
                </a:solidFill>
              </a:rPr>
              <a:t>(Skipped)</a:t>
            </a:r>
          </a:p>
        </p:txBody>
      </p:sp>
      <p:sp>
        <p:nvSpPr>
          <p:cNvPr id="21" name="Speech Bubble: Rectangle 20">
            <a:extLst>
              <a:ext uri="{FF2B5EF4-FFF2-40B4-BE49-F238E27FC236}">
                <a16:creationId xmlns:a16="http://schemas.microsoft.com/office/drawing/2014/main" id="{1E4F12A0-BD1B-7C8B-4614-36D4452C06A2}"/>
              </a:ext>
            </a:extLst>
          </p:cNvPr>
          <p:cNvSpPr/>
          <p:nvPr/>
        </p:nvSpPr>
        <p:spPr>
          <a:xfrm>
            <a:off x="7008163" y="5080400"/>
            <a:ext cx="1911550" cy="897706"/>
          </a:xfrm>
          <a:prstGeom prst="wedgeRectCallout">
            <a:avLst>
              <a:gd name="adj1" fmla="val -63206"/>
              <a:gd name="adj2" fmla="val -38068"/>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Note: L1 and L2 Product Approvals may be mapped to the same approver (in which case there should only be 1 approval required at this stage)</a:t>
            </a:r>
          </a:p>
        </p:txBody>
      </p:sp>
      <p:sp>
        <p:nvSpPr>
          <p:cNvPr id="2" name="Rectangle 1">
            <a:extLst>
              <a:ext uri="{FF2B5EF4-FFF2-40B4-BE49-F238E27FC236}">
                <a16:creationId xmlns:a16="http://schemas.microsoft.com/office/drawing/2014/main" id="{B8E3D34D-1B1D-D3DB-04DA-449818F74CDD}"/>
              </a:ext>
            </a:extLst>
          </p:cNvPr>
          <p:cNvSpPr/>
          <p:nvPr/>
        </p:nvSpPr>
        <p:spPr>
          <a:xfrm>
            <a:off x="9080936" y="5322741"/>
            <a:ext cx="3111064" cy="552851"/>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400" kern="0" dirty="0">
                <a:solidFill>
                  <a:schemeClr val="tx1"/>
                </a:solidFill>
              </a:rPr>
              <a:t>Case 2: L1 + CBU Lead and Portfolio Director</a:t>
            </a:r>
          </a:p>
        </p:txBody>
      </p:sp>
    </p:spTree>
    <p:extLst>
      <p:ext uri="{BB962C8B-B14F-4D97-AF65-F5344CB8AC3E}">
        <p14:creationId xmlns:p14="http://schemas.microsoft.com/office/powerpoint/2010/main" val="1684951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C03F-947E-8206-AC3D-CBED1030A344}"/>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BA2746D-344E-FBC0-2BF1-F4BEEC1C955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69" imgH="469" progId="TCLayout.ActiveDocument.1">
                  <p:embed/>
                </p:oleObj>
              </mc:Choice>
              <mc:Fallback>
                <p:oleObj name="think-cell Slide" r:id="rId4" imgW="469" imgH="469" progId="TCLayout.ActiveDocument.1">
                  <p:embed/>
                  <p:pic>
                    <p:nvPicPr>
                      <p:cNvPr id="7" name="think-cell data - do not delete" hidden="1">
                        <a:extLst>
                          <a:ext uri="{FF2B5EF4-FFF2-40B4-BE49-F238E27FC236}">
                            <a16:creationId xmlns:a16="http://schemas.microsoft.com/office/drawing/2014/main" id="{1BA2746D-344E-FBC0-2BF1-F4BEEC1C955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F67A43B4-62D0-00A7-D453-5C13E9D8D388}"/>
              </a:ext>
            </a:extLst>
          </p:cNvPr>
          <p:cNvSpPr>
            <a:spLocks noGrp="1"/>
          </p:cNvSpPr>
          <p:nvPr>
            <p:ph type="title"/>
          </p:nvPr>
        </p:nvSpPr>
        <p:spPr>
          <a:xfrm>
            <a:off x="457200" y="384048"/>
            <a:ext cx="11277600" cy="758952"/>
          </a:xfrm>
        </p:spPr>
        <p:txBody>
          <a:bodyPr vert="horz"/>
          <a:lstStyle/>
          <a:p>
            <a:r>
              <a:rPr lang="en-US"/>
              <a:t>Process flow (if L3 is required): L1, l2, L3</a:t>
            </a:r>
          </a:p>
        </p:txBody>
      </p:sp>
      <p:graphicFrame>
        <p:nvGraphicFramePr>
          <p:cNvPr id="5" name="Table 4">
            <a:extLst>
              <a:ext uri="{FF2B5EF4-FFF2-40B4-BE49-F238E27FC236}">
                <a16:creationId xmlns:a16="http://schemas.microsoft.com/office/drawing/2014/main" id="{72251937-71AE-95BF-6A0F-07E2C2914020}"/>
              </a:ext>
            </a:extLst>
          </p:cNvPr>
          <p:cNvGraphicFramePr>
            <a:graphicFrameLocks noGrp="1"/>
          </p:cNvGraphicFramePr>
          <p:nvPr>
            <p:extLst>
              <p:ext uri="{D42A27DB-BD31-4B8C-83A1-F6EECF244321}">
                <p14:modId xmlns:p14="http://schemas.microsoft.com/office/powerpoint/2010/main" val="128792372"/>
              </p:ext>
            </p:extLst>
          </p:nvPr>
        </p:nvGraphicFramePr>
        <p:xfrm>
          <a:off x="457201" y="1402080"/>
          <a:ext cx="11277601" cy="5008999"/>
        </p:xfrm>
        <a:graphic>
          <a:graphicData uri="http://schemas.openxmlformats.org/drawingml/2006/table">
            <a:tbl>
              <a:tblPr firstRow="1" bandRow="1">
                <a:tableStyleId>{839DD9DD-9E6C-4910-8AC0-68ADFF6A6AFC}</a:tableStyleId>
              </a:tblPr>
              <a:tblGrid>
                <a:gridCol w="552085">
                  <a:extLst>
                    <a:ext uri="{9D8B030D-6E8A-4147-A177-3AD203B41FA5}">
                      <a16:colId xmlns:a16="http://schemas.microsoft.com/office/drawing/2014/main" val="1160354700"/>
                    </a:ext>
                  </a:extLst>
                </a:gridCol>
                <a:gridCol w="1060718">
                  <a:extLst>
                    <a:ext uri="{9D8B030D-6E8A-4147-A177-3AD203B41FA5}">
                      <a16:colId xmlns:a16="http://schemas.microsoft.com/office/drawing/2014/main" val="335089722"/>
                    </a:ext>
                  </a:extLst>
                </a:gridCol>
                <a:gridCol w="2416199">
                  <a:extLst>
                    <a:ext uri="{9D8B030D-6E8A-4147-A177-3AD203B41FA5}">
                      <a16:colId xmlns:a16="http://schemas.microsoft.com/office/drawing/2014/main" val="950448801"/>
                    </a:ext>
                  </a:extLst>
                </a:gridCol>
                <a:gridCol w="2416200">
                  <a:extLst>
                    <a:ext uri="{9D8B030D-6E8A-4147-A177-3AD203B41FA5}">
                      <a16:colId xmlns:a16="http://schemas.microsoft.com/office/drawing/2014/main" val="2739390244"/>
                    </a:ext>
                  </a:extLst>
                </a:gridCol>
                <a:gridCol w="2416200">
                  <a:extLst>
                    <a:ext uri="{9D8B030D-6E8A-4147-A177-3AD203B41FA5}">
                      <a16:colId xmlns:a16="http://schemas.microsoft.com/office/drawing/2014/main" val="3889276174"/>
                    </a:ext>
                  </a:extLst>
                </a:gridCol>
                <a:gridCol w="2416199">
                  <a:extLst>
                    <a:ext uri="{9D8B030D-6E8A-4147-A177-3AD203B41FA5}">
                      <a16:colId xmlns:a16="http://schemas.microsoft.com/office/drawing/2014/main" val="1513992304"/>
                    </a:ext>
                  </a:extLst>
                </a:gridCol>
              </a:tblGrid>
              <a:tr h="0">
                <a:tc>
                  <a:txBody>
                    <a:bodyPr/>
                    <a:lstStyle/>
                    <a:p>
                      <a:r>
                        <a:rPr lang="en-US" sz="1100">
                          <a:latin typeface="+mn-lt"/>
                        </a:rPr>
                        <a:t>Queue</a:t>
                      </a:r>
                    </a:p>
                  </a:txBody>
                  <a:tcPr marR="45720"/>
                </a:tc>
                <a:tc>
                  <a:txBody>
                    <a:bodyPr/>
                    <a:lstStyle/>
                    <a:p>
                      <a:r>
                        <a:rPr lang="en-US" sz="1100">
                          <a:latin typeface="+mn-lt"/>
                        </a:rPr>
                        <a:t>Field</a:t>
                      </a:r>
                    </a:p>
                  </a:txBody>
                  <a:tcPr/>
                </a:tc>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cs typeface="+mn-cs"/>
                        </a:rPr>
                        <a:t>Sales Manager Approval</a:t>
                      </a:r>
                    </a:p>
                  </a:txBody>
                  <a:tcPr/>
                </a:tc>
                <a:tc>
                  <a:txBody>
                    <a:bodyPr/>
                    <a:lstStyle/>
                    <a:p>
                      <a:pPr algn="ctr"/>
                      <a:r>
                        <a:rPr lang="en-US" sz="1100" b="1">
                          <a:cs typeface="+mn-cs"/>
                        </a:rPr>
                        <a:t>Product Approval</a:t>
                      </a:r>
                    </a:p>
                  </a:txBody>
                  <a:tcPr/>
                </a:tc>
                <a:tc>
                  <a:txBody>
                    <a:bodyPr/>
                    <a:lstStyle/>
                    <a:p>
                      <a:pPr algn="ctr"/>
                      <a:r>
                        <a:rPr lang="en-US" sz="1100" b="1" dirty="0">
                          <a:solidFill>
                            <a:schemeClr val="tx1"/>
                          </a:solidFill>
                          <a:cs typeface="+mn-cs"/>
                        </a:rPr>
                        <a:t>Commercial Approval</a:t>
                      </a:r>
                    </a:p>
                  </a:txBody>
                  <a:tcPr/>
                </a:tc>
                <a:tc>
                  <a:txBody>
                    <a:bodyPr/>
                    <a:lstStyle/>
                    <a:p>
                      <a:pPr algn="ctr"/>
                      <a:r>
                        <a:rPr lang="en-US" sz="1100" b="1">
                          <a:solidFill>
                            <a:schemeClr val="tx1"/>
                          </a:solidFill>
                          <a:cs typeface="+mn-cs"/>
                        </a:rPr>
                        <a:t>Enterprise Approval</a:t>
                      </a:r>
                    </a:p>
                  </a:txBody>
                  <a:tcPr/>
                </a:tc>
                <a:extLst>
                  <a:ext uri="{0D108BD9-81ED-4DB2-BD59-A6C34878D82A}">
                    <a16:rowId xmlns:a16="http://schemas.microsoft.com/office/drawing/2014/main" val="805662088"/>
                  </a:ext>
                </a:extLst>
              </a:tr>
              <a:tr h="610649">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latin typeface="+mn-lt"/>
                        </a:rPr>
                        <a:t>Core Approver</a:t>
                      </a:r>
                    </a:p>
                  </a:txBody>
                  <a:tcPr vert="vert270" anchor="ctr"/>
                </a:tc>
                <a:tc>
                  <a:txBody>
                    <a:bodyPr/>
                    <a:lstStyle/>
                    <a:p>
                      <a:r>
                        <a:rPr lang="en-US" sz="1100" b="1">
                          <a:solidFill>
                            <a:schemeClr val="bg1"/>
                          </a:solidFill>
                          <a:latin typeface="+mn-lt"/>
                        </a:rPr>
                        <a:t>Approver</a:t>
                      </a:r>
                    </a:p>
                  </a:txBody>
                  <a:tcPr>
                    <a:solidFill>
                      <a:schemeClr val="accent2"/>
                    </a:solidFill>
                  </a:tcPr>
                </a:tc>
                <a:tc>
                  <a:txBody>
                    <a:bodyPr/>
                    <a:lstStyle/>
                    <a:p>
                      <a:pPr marL="0" indent="0">
                        <a:buFont typeface="+mj-lt"/>
                        <a:buNone/>
                      </a:pPr>
                      <a:r>
                        <a:rPr lang="en-US" sz="1100" b="1">
                          <a:solidFill>
                            <a:schemeClr val="bg1"/>
                          </a:solidFill>
                          <a:latin typeface="+mn-lt"/>
                        </a:rPr>
                        <a:t>L1 - Sales Rep Direct Manager</a:t>
                      </a:r>
                    </a:p>
                  </a:txBody>
                  <a:tcPr>
                    <a:solidFill>
                      <a:schemeClr val="accent2"/>
                    </a:solidFill>
                  </a:tcPr>
                </a:tc>
                <a:tc>
                  <a:txBody>
                    <a:bodyPr/>
                    <a:lstStyle/>
                    <a:p>
                      <a:r>
                        <a:rPr lang="en-US" sz="1100" b="1">
                          <a:solidFill>
                            <a:schemeClr val="bg1"/>
                          </a:solidFill>
                          <a:latin typeface="+mn-lt"/>
                          <a:cs typeface="+mn-cs"/>
                        </a:rPr>
                        <a:t>L1 - Product Manager – “PM”</a:t>
                      </a:r>
                    </a:p>
                    <a:p>
                      <a:r>
                        <a:rPr lang="en-US" sz="1100" b="0">
                          <a:solidFill>
                            <a:schemeClr val="bg1"/>
                          </a:solidFill>
                          <a:latin typeface="+mn-lt"/>
                          <a:cs typeface="+mn-cs"/>
                        </a:rPr>
                        <a:t>(e.g., Shoshana for Lubricants)</a:t>
                      </a:r>
                      <a:endParaRPr lang="en-US" sz="1100" b="0">
                        <a:solidFill>
                          <a:schemeClr val="bg1"/>
                        </a:solidFill>
                        <a:latin typeface="+mn-lt"/>
                      </a:endParaRPr>
                    </a:p>
                  </a:txBody>
                  <a:tcPr>
                    <a:solidFill>
                      <a:schemeClr val="accent2"/>
                    </a:solidFill>
                  </a:tcPr>
                </a:tc>
                <a:tc>
                  <a:txBody>
                    <a:bodyPr/>
                    <a:lstStyle/>
                    <a:p>
                      <a:r>
                        <a:rPr lang="en-US" sz="1100" b="1">
                          <a:solidFill>
                            <a:schemeClr val="bg1"/>
                          </a:solidFill>
                          <a:latin typeface="+mn-lt"/>
                        </a:rPr>
                        <a:t>L3 – VP Portfolio Management</a:t>
                      </a:r>
                      <a:r>
                        <a:rPr lang="en-US" sz="1100">
                          <a:solidFill>
                            <a:schemeClr val="bg1"/>
                          </a:solidFill>
                          <a:latin typeface="+mn-lt"/>
                        </a:rPr>
                        <a:t> (Eric Cecilio) OR </a:t>
                      </a:r>
                      <a:r>
                        <a:rPr lang="en-US" sz="1100" b="1">
                          <a:solidFill>
                            <a:schemeClr val="bg1"/>
                          </a:solidFill>
                          <a:latin typeface="+mn-lt"/>
                        </a:rPr>
                        <a:t>VP Commercial Excellence </a:t>
                      </a:r>
                      <a:r>
                        <a:rPr lang="en-US" sz="1100">
                          <a:solidFill>
                            <a:schemeClr val="bg1"/>
                          </a:solidFill>
                          <a:latin typeface="+mn-lt"/>
                        </a:rPr>
                        <a:t>(Jorge)</a:t>
                      </a:r>
                    </a:p>
                  </a:txBody>
                  <a:tcPr>
                    <a:solidFill>
                      <a:schemeClr val="accent2"/>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1" i="0">
                          <a:solidFill>
                            <a:schemeClr val="tx1"/>
                          </a:solidFill>
                          <a:latin typeface="+mn-lt"/>
                        </a:rPr>
                        <a:t>L4 – Chief Revenue Officer </a:t>
                      </a:r>
                      <a:r>
                        <a:rPr lang="en-US" sz="1100" b="0" i="0">
                          <a:solidFill>
                            <a:schemeClr val="tx1"/>
                          </a:solidFill>
                          <a:latin typeface="+mn-lt"/>
                        </a:rPr>
                        <a:t>(Ken Chrisman) or </a:t>
                      </a:r>
                      <a:r>
                        <a:rPr lang="en-US" sz="1100" b="1" i="0">
                          <a:solidFill>
                            <a:schemeClr val="tx1"/>
                          </a:solidFill>
                          <a:latin typeface="+mn-lt"/>
                        </a:rPr>
                        <a:t>Chief Financial Officer</a:t>
                      </a:r>
                      <a:r>
                        <a:rPr lang="en-US" sz="1100" b="0" i="0">
                          <a:solidFill>
                            <a:schemeClr val="tx1"/>
                          </a:solidFill>
                          <a:latin typeface="+mn-lt"/>
                        </a:rPr>
                        <a:t> (Chris Heinold)</a:t>
                      </a:r>
                      <a:endParaRPr lang="en-US" sz="1100" b="1" i="0">
                        <a:solidFill>
                          <a:schemeClr val="tx1"/>
                        </a:solidFill>
                        <a:latin typeface="+mn-lt"/>
                      </a:endParaRPr>
                    </a:p>
                  </a:txBody>
                  <a:tcPr>
                    <a:solidFill>
                      <a:schemeClr val="bg1">
                        <a:lumMod val="50000"/>
                      </a:schemeClr>
                    </a:solidFill>
                  </a:tcPr>
                </a:tc>
                <a:extLst>
                  <a:ext uri="{0D108BD9-81ED-4DB2-BD59-A6C34878D82A}">
                    <a16:rowId xmlns:a16="http://schemas.microsoft.com/office/drawing/2014/main" val="893372846"/>
                  </a:ext>
                </a:extLst>
              </a:tr>
              <a:tr h="402811">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indent="0">
                        <a:buFont typeface="+mj-lt"/>
                        <a:buNone/>
                      </a:pPr>
                      <a:r>
                        <a:rPr lang="en-US" sz="1100" b="0">
                          <a:latin typeface="+mn-lt"/>
                        </a:rPr>
                        <a:t>Map of Sales Reps and Direct Managers (exists within CRM)</a:t>
                      </a:r>
                    </a:p>
                  </a:txBody>
                  <a:tcPr>
                    <a:solidFill>
                      <a:schemeClr val="accent2">
                        <a:lumMod val="20000"/>
                        <a:lumOff val="80000"/>
                      </a:schemeClr>
                    </a:solidFill>
                  </a:tcPr>
                </a:tc>
                <a:tc>
                  <a:txBody>
                    <a:bodyPr/>
                    <a:lstStyle/>
                    <a:p>
                      <a:pPr marL="0" indent="0">
                        <a:buFont typeface="+mj-lt"/>
                        <a:buNone/>
                      </a:pPr>
                      <a:r>
                        <a:rPr lang="en-US" sz="1100" b="0">
                          <a:latin typeface="+mn-lt"/>
                        </a:rPr>
                        <a:t>Map of PL1s with PMs</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chemeClr val="bg1">
                        <a:lumMod val="50000"/>
                      </a:schemeClr>
                    </a:solidFill>
                  </a:tcPr>
                </a:tc>
                <a:extLst>
                  <a:ext uri="{0D108BD9-81ED-4DB2-BD59-A6C34878D82A}">
                    <a16:rowId xmlns:a16="http://schemas.microsoft.com/office/drawing/2014/main" val="563561187"/>
                  </a:ext>
                </a:extLst>
              </a:tr>
              <a:tr h="927187">
                <a:tc vMerge="1">
                  <a:txBody>
                    <a:bodyPr/>
                    <a:lstStyle/>
                    <a:p>
                      <a:endParaRPr lang="en-US" b="1"/>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sales rep manager</a:t>
                      </a:r>
                    </a:p>
                    <a:p>
                      <a:pPr marL="228600" indent="-228600">
                        <a:buFont typeface="+mj-lt"/>
                        <a:buAutoNum type="arabicPeriod"/>
                      </a:pPr>
                      <a:r>
                        <a:rPr lang="en-US" sz="1100">
                          <a:latin typeface="+mn-lt"/>
                        </a:rPr>
                        <a:t>Assign approval to queue</a:t>
                      </a:r>
                    </a:p>
                    <a:p>
                      <a:pPr marL="228600" indent="-228600">
                        <a:buFont typeface="+mj-lt"/>
                        <a:buAutoNum type="arabicPeriod"/>
                      </a:pPr>
                      <a:r>
                        <a:rPr lang="en-US" sz="1100">
                          <a:latin typeface="+mn-lt"/>
                        </a:rPr>
                        <a:t>If approved, move onto CBU Lead</a:t>
                      </a:r>
                    </a:p>
                  </a:txBody>
                  <a:tcPr/>
                </a:tc>
                <a:tc>
                  <a:txBody>
                    <a:bodyPr/>
                    <a:lstStyle/>
                    <a:p>
                      <a:pPr marL="228600" indent="-228600">
                        <a:buFont typeface="+mj-lt"/>
                        <a:buAutoNum type="arabicPeriod"/>
                      </a:pPr>
                      <a:r>
                        <a:rPr lang="en-US" sz="1100">
                          <a:latin typeface="+mn-lt"/>
                        </a:rPr>
                        <a:t>Determine leading PL1 based on the products in basket</a:t>
                      </a:r>
                    </a:p>
                    <a:p>
                      <a:pPr marL="228600" indent="-228600">
                        <a:buFont typeface="+mj-lt"/>
                        <a:buAutoNum type="arabicPeriod"/>
                      </a:pPr>
                      <a:r>
                        <a:rPr lang="en-US" sz="1100">
                          <a:latin typeface="+mn-lt"/>
                        </a:rPr>
                        <a:t>Find PM based on PL1</a:t>
                      </a:r>
                    </a:p>
                    <a:p>
                      <a:pPr marL="228600" indent="-228600">
                        <a:buFont typeface="+mj-lt"/>
                        <a:buAutoNum type="arabicPeriod"/>
                      </a:pPr>
                      <a:r>
                        <a:rPr lang="en-US" sz="1100">
                          <a:latin typeface="+mn-lt"/>
                        </a:rPr>
                        <a:t>Assign approval to queue</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approved, move onto CBU Portfolio Director</a:t>
                      </a:r>
                    </a:p>
                  </a:txBody>
                  <a:tcPr/>
                </a:tc>
                <a:tc>
                  <a:txBody>
                    <a:bodyPr/>
                    <a:lstStyle/>
                    <a:p>
                      <a:pPr marL="228600" indent="-228600">
                        <a:buFont typeface="+mj-lt"/>
                        <a:buAutoNum type="arabicPeriod"/>
                      </a:pPr>
                      <a:r>
                        <a:rPr lang="en-US" sz="1100">
                          <a:latin typeface="+mn-lt"/>
                        </a:rPr>
                        <a:t>Assign approval to both queues</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b="1">
                          <a:latin typeface="+mn-lt"/>
                        </a:rPr>
                        <a:t>If EITHER approver approves, send approval notice to Sales Rep to share quote with Customer</a:t>
                      </a:r>
                    </a:p>
                  </a:txBody>
                  <a:tcPr>
                    <a:solidFill>
                      <a:srgbClr val="FFE580"/>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solidFill>
                      <a:schemeClr val="bg1">
                        <a:lumMod val="50000"/>
                      </a:schemeClr>
                    </a:solidFill>
                  </a:tcPr>
                </a:tc>
                <a:extLst>
                  <a:ext uri="{0D108BD9-81ED-4DB2-BD59-A6C34878D82A}">
                    <a16:rowId xmlns:a16="http://schemas.microsoft.com/office/drawing/2014/main" val="872167488"/>
                  </a:ext>
                </a:extLst>
              </a:tr>
              <a:tr h="560027">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mn-lt"/>
                          <a:ea typeface="+mn-ea"/>
                          <a:cs typeface="+mn-cs"/>
                        </a:rPr>
                        <a:t>Secondary Approver</a:t>
                      </a:r>
                    </a:p>
                  </a:txBody>
                  <a:tcPr vert="vert270" anchor="ctr"/>
                </a:tc>
                <a:tc>
                  <a:txBody>
                    <a:bodyPr/>
                    <a:lstStyle/>
                    <a:p>
                      <a:r>
                        <a:rPr lang="en-US" sz="1100" b="0">
                          <a:solidFill>
                            <a:schemeClr val="bg1"/>
                          </a:solidFill>
                          <a:latin typeface="+mn-lt"/>
                        </a:rPr>
                        <a:t>Approver</a:t>
                      </a:r>
                    </a:p>
                  </a:txBody>
                  <a:tcPr>
                    <a:solidFill>
                      <a:schemeClr val="accent2"/>
                    </a:solidFill>
                  </a:tcPr>
                </a:tc>
                <a:tc>
                  <a:txBody>
                    <a:bodyPr/>
                    <a:lstStyle/>
                    <a:p>
                      <a:r>
                        <a:rPr lang="en-US" sz="1100" b="1">
                          <a:solidFill>
                            <a:schemeClr val="bg1"/>
                          </a:solidFill>
                          <a:latin typeface="+mn-lt"/>
                        </a:rPr>
                        <a:t>L2 – CBU Lead </a:t>
                      </a:r>
                    </a:p>
                    <a:p>
                      <a:r>
                        <a:rPr lang="en-US" sz="1100">
                          <a:solidFill>
                            <a:schemeClr val="bg1"/>
                          </a:solidFill>
                          <a:latin typeface="+mn-lt"/>
                        </a:rPr>
                        <a:t>(Industrial: Eric Johnson)</a:t>
                      </a:r>
                    </a:p>
                  </a:txBody>
                  <a:tcPr>
                    <a:solidFill>
                      <a:schemeClr val="accent2"/>
                    </a:solidFill>
                  </a:tcPr>
                </a:tc>
                <a:tc>
                  <a:txBody>
                    <a:bodyPr/>
                    <a:lstStyle/>
                    <a:p>
                      <a:r>
                        <a:rPr lang="en-US" sz="1100" b="1">
                          <a:solidFill>
                            <a:schemeClr val="bg1"/>
                          </a:solidFill>
                          <a:latin typeface="+mn-lt"/>
                        </a:rPr>
                        <a:t>L2 – CBU Portfolio Director </a:t>
                      </a:r>
                    </a:p>
                    <a:p>
                      <a:r>
                        <a:rPr lang="en-US" sz="1100" b="0">
                          <a:solidFill>
                            <a:schemeClr val="bg1"/>
                          </a:solidFill>
                          <a:latin typeface="+mn-lt"/>
                        </a:rPr>
                        <a:t>(e.g., Max George for Industrial)</a:t>
                      </a:r>
                    </a:p>
                  </a:txBody>
                  <a:tcPr>
                    <a:solidFill>
                      <a:schemeClr val="accent2"/>
                    </a:solidFill>
                  </a:tcPr>
                </a:tc>
                <a:tc>
                  <a:txBody>
                    <a:bodyPr/>
                    <a:lstStyle/>
                    <a:p>
                      <a:endParaRPr lang="en-US" sz="1100">
                        <a:solidFill>
                          <a:schemeClr val="bg1"/>
                        </a:solidFill>
                        <a:latin typeface="+mn-lt"/>
                      </a:endParaRPr>
                    </a:p>
                  </a:txBody>
                  <a:tcPr>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1" i="0">
                        <a:solidFill>
                          <a:schemeClr val="bg1"/>
                        </a:solidFill>
                        <a:latin typeface="+mn-lt"/>
                      </a:endParaRPr>
                    </a:p>
                  </a:txBody>
                  <a:tcPr>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65958082"/>
                  </a:ext>
                </a:extLst>
              </a:tr>
              <a:tr h="0">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latin typeface="+mn-lt"/>
                        </a:rPr>
                        <a:t>Map of CBU Leads (exists within CRM / linked to managers)</a:t>
                      </a:r>
                    </a:p>
                  </a:txBody>
                  <a:tcPr>
                    <a:solidFill>
                      <a:schemeClr val="accent2">
                        <a:lumMod val="20000"/>
                        <a:lumOff val="80000"/>
                      </a:schemeClr>
                    </a:solidFill>
                  </a:tcPr>
                </a:tc>
                <a:tc>
                  <a:txBody>
                    <a:bodyPr/>
                    <a:lstStyle/>
                    <a:p>
                      <a:r>
                        <a:rPr lang="en-US" sz="1100" b="0">
                          <a:latin typeface="+mn-lt"/>
                        </a:rPr>
                        <a:t>Map of Portfolio Directors by CBU</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69417795"/>
                  </a:ext>
                </a:extLst>
              </a:tr>
              <a:tr h="698883">
                <a:tc vMerge="1">
                  <a:txBody>
                    <a:bodyPr/>
                    <a:lstStyle/>
                    <a:p>
                      <a:endParaRPr/>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CBU Lead manager</a:t>
                      </a:r>
                    </a:p>
                    <a:p>
                      <a:pPr marL="228600" indent="-228600">
                        <a:buFont typeface="+mj-lt"/>
                        <a:buAutoNum type="arabicPeriod"/>
                      </a:pPr>
                      <a:r>
                        <a:rPr lang="en-US" sz="1100">
                          <a:latin typeface="+mn-lt"/>
                        </a:rPr>
                        <a:t>Assign approval to queue</a:t>
                      </a:r>
                    </a:p>
                  </a:txBody>
                  <a:tcPr/>
                </a:tc>
                <a:tc>
                  <a:txBody>
                    <a:bodyPr/>
                    <a:lstStyle/>
                    <a:p>
                      <a:pPr marL="228600" indent="-228600">
                        <a:buFont typeface="+mj-lt"/>
                        <a:buAutoNum type="arabicPeriod"/>
                      </a:pPr>
                      <a:r>
                        <a:rPr lang="en-US" sz="1100">
                          <a:latin typeface="+mn-lt"/>
                        </a:rPr>
                        <a:t>Determine CBU Product Director based on leading PL1</a:t>
                      </a:r>
                    </a:p>
                    <a:p>
                      <a:pPr marL="228600" indent="-228600">
                        <a:buFont typeface="+mj-lt"/>
                        <a:buAutoNum type="arabicPeriod"/>
                      </a:pPr>
                      <a:r>
                        <a:rPr lang="en-US" sz="1100">
                          <a:latin typeface="+mn-lt"/>
                        </a:rPr>
                        <a:t>Assign approval to queue</a:t>
                      </a:r>
                    </a:p>
                  </a:txBody>
                  <a:tcPr/>
                </a:tc>
                <a:tc>
                  <a:txBody>
                    <a:bodyPr/>
                    <a:lstStyle/>
                    <a:p>
                      <a:pPr marL="228600" indent="-228600">
                        <a:buFont typeface="+mj-lt"/>
                        <a:buAutoNum type="arabicPeriod"/>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 typeface="+mj-lt"/>
                        <a:buNone/>
                        <a:tabLst/>
                        <a:defRPr/>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39651794"/>
                  </a:ext>
                </a:extLst>
              </a:tr>
              <a:tr h="370840">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mn-lt"/>
                        <a:ea typeface="+mn-ea"/>
                        <a:cs typeface="+mn-cs"/>
                      </a:endParaRPr>
                    </a:p>
                  </a:txBody>
                  <a:tcPr vert="vert270" anchor="ctr"/>
                </a:tc>
                <a:tc>
                  <a:txBody>
                    <a:bodyPr/>
                    <a:lstStyle/>
                    <a:p>
                      <a:endParaRPr lang="en-US" sz="1100" b="0">
                        <a:latin typeface="+mn-lt"/>
                      </a:endParaRPr>
                    </a:p>
                  </a:txBody>
                  <a:tcPr/>
                </a:tc>
                <a:tc>
                  <a:txBody>
                    <a:bodyPr/>
                    <a:lstStyle/>
                    <a:p>
                      <a:pPr marL="228600" indent="-228600">
                        <a:buFont typeface="+mj-lt"/>
                        <a:buAutoNum type="arabicPeriod"/>
                      </a:pPr>
                      <a:r>
                        <a:rPr lang="en-US" sz="1100">
                          <a:latin typeface="+mn-lt"/>
                        </a:rPr>
                        <a:t>Steps above commence </a:t>
                      </a:r>
                      <a:r>
                        <a:rPr lang="en-US" sz="1100" b="0">
                          <a:latin typeface="+mn-lt"/>
                        </a:rPr>
                        <a:t>sequentially</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both manager approve, move to next stage</a:t>
                      </a:r>
                      <a:endParaRPr lang="en-US" sz="1100" b="1">
                        <a:highlight>
                          <a:srgbClr val="FFFF00"/>
                        </a:highlight>
                        <a:latin typeface="+mn-lt"/>
                      </a:endParaRPr>
                    </a:p>
                  </a:txBody>
                  <a:tcPr>
                    <a:noFill/>
                  </a:tcPr>
                </a:tc>
                <a:tc>
                  <a:txBody>
                    <a:bodyPr/>
                    <a:lstStyle/>
                    <a:p>
                      <a:pPr marL="228600" indent="-228600">
                        <a:buFont typeface="+mj-lt"/>
                        <a:buAutoNum type="arabicPeriod"/>
                      </a:pPr>
                      <a:r>
                        <a:rPr lang="en-US" sz="1100">
                          <a:latin typeface="+mn-lt"/>
                        </a:rPr>
                        <a:t>Steps above commence </a:t>
                      </a:r>
                      <a:r>
                        <a:rPr lang="en-US" sz="1100" b="0">
                          <a:latin typeface="+mn-lt"/>
                        </a:rPr>
                        <a:t>sequentially</a:t>
                      </a:r>
                    </a:p>
                    <a:p>
                      <a:pPr marL="228600" indent="-228600">
                        <a:buFont typeface="+mj-lt"/>
                        <a:buAutoNum type="arabicPeriod"/>
                      </a:pPr>
                      <a:r>
                        <a:rPr lang="en-US" sz="1100" b="1">
                          <a:latin typeface="+mn-lt"/>
                        </a:rPr>
                        <a:t>If both parties approve, send approval notice to Sales Rep to share quote with Customer</a:t>
                      </a:r>
                    </a:p>
                  </a:txBody>
                  <a:tcPr>
                    <a:no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dirty="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708649140"/>
                  </a:ext>
                </a:extLst>
              </a:tr>
            </a:tbl>
          </a:graphicData>
        </a:graphic>
      </p:graphicFrame>
      <p:sp>
        <p:nvSpPr>
          <p:cNvPr id="14" name="Numbered Circle">
            <a:extLst>
              <a:ext uri="{FF2B5EF4-FFF2-40B4-BE49-F238E27FC236}">
                <a16:creationId xmlns:a16="http://schemas.microsoft.com/office/drawing/2014/main" id="{120E7367-CD3F-FE34-8D74-0E88901C9907}"/>
              </a:ext>
            </a:extLst>
          </p:cNvPr>
          <p:cNvSpPr>
            <a:spLocks noChangeAspect="1"/>
          </p:cNvSpPr>
          <p:nvPr/>
        </p:nvSpPr>
        <p:spPr>
          <a:xfrm>
            <a:off x="165100" y="409448"/>
            <a:ext cx="228600" cy="228600"/>
          </a:xfrm>
          <a:prstGeom prst="ellipse">
            <a:avLst/>
          </a:prstGeom>
          <a:solidFill>
            <a:schemeClr val="bg1"/>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GB" sz="1000" kern="0">
                <a:solidFill>
                  <a:schemeClr val="tx1"/>
                </a:solidFill>
              </a:rPr>
              <a:t>3</a:t>
            </a:r>
          </a:p>
        </p:txBody>
      </p:sp>
      <p:sp>
        <p:nvSpPr>
          <p:cNvPr id="12" name="StickyNote">
            <a:extLst>
              <a:ext uri="{FF2B5EF4-FFF2-40B4-BE49-F238E27FC236}">
                <a16:creationId xmlns:a16="http://schemas.microsoft.com/office/drawing/2014/main" id="{856B7E4A-194B-14B4-8379-F22B020AE37F}"/>
              </a:ext>
            </a:extLst>
          </p:cNvPr>
          <p:cNvSpPr/>
          <p:nvPr>
            <p:custDataLst>
              <p:tags r:id="rId2"/>
            </p:custDataLst>
          </p:nvPr>
        </p:nvSpPr>
        <p:spPr>
          <a:xfrm>
            <a:off x="0" y="6858000"/>
            <a:ext cx="3419856" cy="672173"/>
          </a:xfrm>
          <a:prstGeom prst="foldedCorner">
            <a:avLst/>
          </a:prstGeom>
          <a:solidFill>
            <a:srgbClr val="FFF2B5"/>
          </a:solidFill>
          <a:ln w="9525">
            <a:solidFill>
              <a:srgbClr val="FFB9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t">
            <a:spAutoFit/>
          </a:bodyPr>
          <a:lstStyle/>
          <a:p>
            <a:r>
              <a:rPr lang="en-US" sz="700" kern="0">
                <a:solidFill>
                  <a:srgbClr val="000000"/>
                </a:solidFill>
              </a:rPr>
              <a:t>2026-05-07 15:31 (-4)
</a:t>
            </a:r>
            <a:r>
              <a:rPr lang="en-US" sz="1000" b="1" kern="0">
                <a:solidFill>
                  <a:srgbClr val="000000"/>
                </a:solidFill>
              </a:rPr>
              <a:t>DC: </a:t>
            </a:r>
            <a:r>
              <a:rPr lang="en-US" sz="1000" kern="0">
                <a:solidFill>
                  <a:srgbClr val="000000"/>
                </a:solidFill>
              </a:rPr>
              <a:t>There are a lot of reviewers in this scenario. Should Max and/or Eric Johnson be skipped here?</a:t>
            </a:r>
          </a:p>
        </p:txBody>
      </p:sp>
      <p:sp>
        <p:nvSpPr>
          <p:cNvPr id="13" name="Speech Bubble: Rectangle 12">
            <a:extLst>
              <a:ext uri="{FF2B5EF4-FFF2-40B4-BE49-F238E27FC236}">
                <a16:creationId xmlns:a16="http://schemas.microsoft.com/office/drawing/2014/main" id="{ADB5F657-5E64-F099-765E-0378B3B96AE1}"/>
              </a:ext>
            </a:extLst>
          </p:cNvPr>
          <p:cNvSpPr/>
          <p:nvPr/>
        </p:nvSpPr>
        <p:spPr>
          <a:xfrm>
            <a:off x="9823249" y="3921152"/>
            <a:ext cx="1911550" cy="637909"/>
          </a:xfrm>
          <a:prstGeom prst="wedgeRectCallout">
            <a:avLst>
              <a:gd name="adj1" fmla="val -32068"/>
              <a:gd name="adj2" fmla="val -89455"/>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If at any stage, quote is rejected, send notice to Sales Rep and reset approval queues</a:t>
            </a:r>
          </a:p>
        </p:txBody>
      </p:sp>
      <p:pic>
        <p:nvPicPr>
          <p:cNvPr id="15" name="Picture 14">
            <a:extLst>
              <a:ext uri="{FF2B5EF4-FFF2-40B4-BE49-F238E27FC236}">
                <a16:creationId xmlns:a16="http://schemas.microsoft.com/office/drawing/2014/main" id="{6A500A21-3C31-8C65-C31D-99A76C835427}"/>
              </a:ext>
            </a:extLst>
          </p:cNvPr>
          <p:cNvPicPr>
            <a:picLocks noChangeAspect="1"/>
          </p:cNvPicPr>
          <p:nvPr/>
        </p:nvPicPr>
        <p:blipFill>
          <a:blip r:embed="rId6"/>
          <a:stretch>
            <a:fillRect/>
          </a:stretch>
        </p:blipFill>
        <p:spPr>
          <a:xfrm>
            <a:off x="8919713" y="381000"/>
            <a:ext cx="2815086" cy="257590"/>
          </a:xfrm>
          <a:prstGeom prst="rect">
            <a:avLst/>
          </a:prstGeom>
        </p:spPr>
      </p:pic>
      <p:cxnSp>
        <p:nvCxnSpPr>
          <p:cNvPr id="16" name="Straight Connector 15">
            <a:extLst>
              <a:ext uri="{FF2B5EF4-FFF2-40B4-BE49-F238E27FC236}">
                <a16:creationId xmlns:a16="http://schemas.microsoft.com/office/drawing/2014/main" id="{C309DC42-9107-1AA3-0D7E-16B0E90369A2}"/>
              </a:ext>
            </a:extLst>
          </p:cNvPr>
          <p:cNvCxnSpPr>
            <a:cxnSpLocks/>
          </p:cNvCxnSpPr>
          <p:nvPr/>
        </p:nvCxnSpPr>
        <p:spPr>
          <a:xfrm>
            <a:off x="1667775" y="1139691"/>
            <a:ext cx="10067027" cy="0"/>
          </a:xfrm>
          <a:prstGeom prst="line">
            <a:avLst/>
          </a:prstGeom>
          <a:ln w="19050">
            <a:solidFill>
              <a:schemeClr val="accent3">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1A528D2-59CB-3DF4-21E5-4DC74A541E97}"/>
              </a:ext>
            </a:extLst>
          </p:cNvPr>
          <p:cNvSpPr/>
          <p:nvPr/>
        </p:nvSpPr>
        <p:spPr>
          <a:xfrm>
            <a:off x="2987874"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8" name="Oval 17">
            <a:extLst>
              <a:ext uri="{FF2B5EF4-FFF2-40B4-BE49-F238E27FC236}">
                <a16:creationId xmlns:a16="http://schemas.microsoft.com/office/drawing/2014/main" id="{6FA50171-88C5-C72B-ECEF-2DA543FBCF1A}"/>
              </a:ext>
            </a:extLst>
          </p:cNvPr>
          <p:cNvSpPr/>
          <p:nvPr/>
        </p:nvSpPr>
        <p:spPr>
          <a:xfrm>
            <a:off x="5451868"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9" name="Oval 18">
            <a:extLst>
              <a:ext uri="{FF2B5EF4-FFF2-40B4-BE49-F238E27FC236}">
                <a16:creationId xmlns:a16="http://schemas.microsoft.com/office/drawing/2014/main" id="{4D9CCAB0-C4AC-E856-AD20-03B9CD20ACF2}"/>
              </a:ext>
            </a:extLst>
          </p:cNvPr>
          <p:cNvSpPr/>
          <p:nvPr/>
        </p:nvSpPr>
        <p:spPr>
          <a:xfrm>
            <a:off x="7915862"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0" name="Oval 19">
            <a:extLst>
              <a:ext uri="{FF2B5EF4-FFF2-40B4-BE49-F238E27FC236}">
                <a16:creationId xmlns:a16="http://schemas.microsoft.com/office/drawing/2014/main" id="{472145A1-3AFF-EBFE-3F1A-A90517AA6845}"/>
              </a:ext>
            </a:extLst>
          </p:cNvPr>
          <p:cNvSpPr/>
          <p:nvPr/>
        </p:nvSpPr>
        <p:spPr>
          <a:xfrm>
            <a:off x="10379857"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2" name="Rectangle 21">
            <a:extLst>
              <a:ext uri="{FF2B5EF4-FFF2-40B4-BE49-F238E27FC236}">
                <a16:creationId xmlns:a16="http://schemas.microsoft.com/office/drawing/2014/main" id="{DC6EFF4F-8CDE-4377-624C-D56372F1042F}"/>
              </a:ext>
            </a:extLst>
          </p:cNvPr>
          <p:cNvSpPr/>
          <p:nvPr/>
        </p:nvSpPr>
        <p:spPr>
          <a:xfrm>
            <a:off x="10109301" y="795873"/>
            <a:ext cx="862641" cy="161721"/>
          </a:xfrm>
          <a:prstGeom prst="rect">
            <a:avLst/>
          </a:prstGeom>
          <a:solidFill>
            <a:schemeClr val="bg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100" i="1" kern="0">
                <a:solidFill>
                  <a:schemeClr val="tx1"/>
                </a:solidFill>
              </a:rPr>
              <a:t>(Skipped)</a:t>
            </a:r>
          </a:p>
        </p:txBody>
      </p:sp>
      <p:sp>
        <p:nvSpPr>
          <p:cNvPr id="2" name="Rectangle 1">
            <a:extLst>
              <a:ext uri="{FF2B5EF4-FFF2-40B4-BE49-F238E27FC236}">
                <a16:creationId xmlns:a16="http://schemas.microsoft.com/office/drawing/2014/main" id="{2EB0D85C-9332-420E-7031-C464E0A4ED0E}"/>
              </a:ext>
            </a:extLst>
          </p:cNvPr>
          <p:cNvSpPr/>
          <p:nvPr/>
        </p:nvSpPr>
        <p:spPr>
          <a:xfrm>
            <a:off x="7310859" y="5041710"/>
            <a:ext cx="3111064" cy="552851"/>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400" kern="0" dirty="0">
                <a:solidFill>
                  <a:schemeClr val="tx1"/>
                </a:solidFill>
              </a:rPr>
              <a:t>Case 3: L2 + Commercial Approval</a:t>
            </a:r>
          </a:p>
        </p:txBody>
      </p:sp>
    </p:spTree>
    <p:extLst>
      <p:ext uri="{BB962C8B-B14F-4D97-AF65-F5344CB8AC3E}">
        <p14:creationId xmlns:p14="http://schemas.microsoft.com/office/powerpoint/2010/main" val="712453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953B1-7E5F-67F5-9963-FD1B9B9E2B0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12ED4EA-ADAB-FB0A-24C6-C25928D95E8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7" name="think-cell data - do not delete" hidden="1">
                        <a:extLst>
                          <a:ext uri="{FF2B5EF4-FFF2-40B4-BE49-F238E27FC236}">
                            <a16:creationId xmlns:a16="http://schemas.microsoft.com/office/drawing/2014/main" id="{212ED4EA-ADAB-FB0A-24C6-C25928D95E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55005A90-EE20-DCC4-D3E8-928005E0DB99}"/>
              </a:ext>
            </a:extLst>
          </p:cNvPr>
          <p:cNvSpPr>
            <a:spLocks noGrp="1"/>
          </p:cNvSpPr>
          <p:nvPr>
            <p:ph type="title"/>
          </p:nvPr>
        </p:nvSpPr>
        <p:spPr>
          <a:xfrm>
            <a:off x="457200" y="384048"/>
            <a:ext cx="11277600" cy="758952"/>
          </a:xfrm>
        </p:spPr>
        <p:txBody>
          <a:bodyPr vert="horz"/>
          <a:lstStyle/>
          <a:p>
            <a:r>
              <a:rPr lang="en-US"/>
              <a:t>Process flow (if L4 is required): L2, L3, L4</a:t>
            </a:r>
          </a:p>
        </p:txBody>
      </p:sp>
      <p:graphicFrame>
        <p:nvGraphicFramePr>
          <p:cNvPr id="5" name="Table 4">
            <a:extLst>
              <a:ext uri="{FF2B5EF4-FFF2-40B4-BE49-F238E27FC236}">
                <a16:creationId xmlns:a16="http://schemas.microsoft.com/office/drawing/2014/main" id="{49171B25-F392-5036-3D36-75586305A422}"/>
              </a:ext>
            </a:extLst>
          </p:cNvPr>
          <p:cNvGraphicFramePr>
            <a:graphicFrameLocks noGrp="1"/>
          </p:cNvGraphicFramePr>
          <p:nvPr>
            <p:extLst>
              <p:ext uri="{D42A27DB-BD31-4B8C-83A1-F6EECF244321}">
                <p14:modId xmlns:p14="http://schemas.microsoft.com/office/powerpoint/2010/main" val="1244799477"/>
              </p:ext>
            </p:extLst>
          </p:nvPr>
        </p:nvGraphicFramePr>
        <p:xfrm>
          <a:off x="457201" y="1402080"/>
          <a:ext cx="11277601" cy="4513316"/>
        </p:xfrm>
        <a:graphic>
          <a:graphicData uri="http://schemas.openxmlformats.org/drawingml/2006/table">
            <a:tbl>
              <a:tblPr firstRow="1" bandRow="1">
                <a:tableStyleId>{839DD9DD-9E6C-4910-8AC0-68ADFF6A6AFC}</a:tableStyleId>
              </a:tblPr>
              <a:tblGrid>
                <a:gridCol w="552085">
                  <a:extLst>
                    <a:ext uri="{9D8B030D-6E8A-4147-A177-3AD203B41FA5}">
                      <a16:colId xmlns:a16="http://schemas.microsoft.com/office/drawing/2014/main" val="1160354700"/>
                    </a:ext>
                  </a:extLst>
                </a:gridCol>
                <a:gridCol w="1060718">
                  <a:extLst>
                    <a:ext uri="{9D8B030D-6E8A-4147-A177-3AD203B41FA5}">
                      <a16:colId xmlns:a16="http://schemas.microsoft.com/office/drawing/2014/main" val="335089722"/>
                    </a:ext>
                  </a:extLst>
                </a:gridCol>
                <a:gridCol w="2416199">
                  <a:extLst>
                    <a:ext uri="{9D8B030D-6E8A-4147-A177-3AD203B41FA5}">
                      <a16:colId xmlns:a16="http://schemas.microsoft.com/office/drawing/2014/main" val="950448801"/>
                    </a:ext>
                  </a:extLst>
                </a:gridCol>
                <a:gridCol w="2416200">
                  <a:extLst>
                    <a:ext uri="{9D8B030D-6E8A-4147-A177-3AD203B41FA5}">
                      <a16:colId xmlns:a16="http://schemas.microsoft.com/office/drawing/2014/main" val="2739390244"/>
                    </a:ext>
                  </a:extLst>
                </a:gridCol>
                <a:gridCol w="2416200">
                  <a:extLst>
                    <a:ext uri="{9D8B030D-6E8A-4147-A177-3AD203B41FA5}">
                      <a16:colId xmlns:a16="http://schemas.microsoft.com/office/drawing/2014/main" val="3889276174"/>
                    </a:ext>
                  </a:extLst>
                </a:gridCol>
                <a:gridCol w="2416199">
                  <a:extLst>
                    <a:ext uri="{9D8B030D-6E8A-4147-A177-3AD203B41FA5}">
                      <a16:colId xmlns:a16="http://schemas.microsoft.com/office/drawing/2014/main" val="1513992304"/>
                    </a:ext>
                  </a:extLst>
                </a:gridCol>
              </a:tblGrid>
              <a:tr h="0">
                <a:tc>
                  <a:txBody>
                    <a:bodyPr/>
                    <a:lstStyle/>
                    <a:p>
                      <a:r>
                        <a:rPr lang="en-US" sz="1100">
                          <a:latin typeface="+mn-lt"/>
                        </a:rPr>
                        <a:t>Queue</a:t>
                      </a:r>
                    </a:p>
                  </a:txBody>
                  <a:tcPr marR="45720"/>
                </a:tc>
                <a:tc>
                  <a:txBody>
                    <a:bodyPr/>
                    <a:lstStyle/>
                    <a:p>
                      <a:r>
                        <a:rPr lang="en-US" sz="1100">
                          <a:latin typeface="+mn-lt"/>
                        </a:rPr>
                        <a:t>Field</a:t>
                      </a:r>
                    </a:p>
                  </a:txBody>
                  <a:tcPr/>
                </a:tc>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cs typeface="+mn-cs"/>
                        </a:rPr>
                        <a:t>Sales Manager Approval</a:t>
                      </a:r>
                    </a:p>
                  </a:txBody>
                  <a:tcPr/>
                </a:tc>
                <a:tc>
                  <a:txBody>
                    <a:bodyPr/>
                    <a:lstStyle/>
                    <a:p>
                      <a:pPr algn="ctr"/>
                      <a:r>
                        <a:rPr lang="en-US" sz="1100" b="1">
                          <a:cs typeface="+mn-cs"/>
                        </a:rPr>
                        <a:t>Product Approval</a:t>
                      </a:r>
                    </a:p>
                  </a:txBody>
                  <a:tcPr/>
                </a:tc>
                <a:tc>
                  <a:txBody>
                    <a:bodyPr/>
                    <a:lstStyle/>
                    <a:p>
                      <a:pPr algn="ctr"/>
                      <a:r>
                        <a:rPr lang="en-US" sz="1100" b="1" dirty="0">
                          <a:solidFill>
                            <a:schemeClr val="tx1"/>
                          </a:solidFill>
                          <a:cs typeface="+mn-cs"/>
                        </a:rPr>
                        <a:t>Commercial Approval</a:t>
                      </a:r>
                    </a:p>
                  </a:txBody>
                  <a:tcPr/>
                </a:tc>
                <a:tc>
                  <a:txBody>
                    <a:bodyPr/>
                    <a:lstStyle/>
                    <a:p>
                      <a:pPr algn="ctr"/>
                      <a:r>
                        <a:rPr lang="en-US" sz="1100" b="1">
                          <a:solidFill>
                            <a:schemeClr val="tx1"/>
                          </a:solidFill>
                          <a:cs typeface="+mn-cs"/>
                        </a:rPr>
                        <a:t>Enterprise Approval</a:t>
                      </a:r>
                    </a:p>
                  </a:txBody>
                  <a:tcPr>
                    <a:solidFill>
                      <a:schemeClr val="bg1"/>
                    </a:solidFill>
                  </a:tcPr>
                </a:tc>
                <a:extLst>
                  <a:ext uri="{0D108BD9-81ED-4DB2-BD59-A6C34878D82A}">
                    <a16:rowId xmlns:a16="http://schemas.microsoft.com/office/drawing/2014/main" val="805662088"/>
                  </a:ext>
                </a:extLst>
              </a:tr>
              <a:tr h="610649">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lang="en-US" sz="1100" b="1">
                          <a:solidFill>
                            <a:schemeClr val="tx1"/>
                          </a:solidFill>
                          <a:latin typeface="+mn-lt"/>
                        </a:rPr>
                        <a:t>Core Approver</a:t>
                      </a:r>
                    </a:p>
                  </a:txBody>
                  <a:tcPr vert="vert270" anchor="ctr"/>
                </a:tc>
                <a:tc>
                  <a:txBody>
                    <a:bodyPr/>
                    <a:lstStyle/>
                    <a:p>
                      <a:r>
                        <a:rPr lang="en-US" sz="1100" b="1">
                          <a:solidFill>
                            <a:schemeClr val="tx1"/>
                          </a:solidFill>
                          <a:latin typeface="+mn-lt"/>
                        </a:rPr>
                        <a:t>Approver</a:t>
                      </a:r>
                    </a:p>
                  </a:txBody>
                  <a:tcPr>
                    <a:solidFill>
                      <a:schemeClr val="tx1">
                        <a:lumMod val="50000"/>
                        <a:lumOff val="50000"/>
                      </a:schemeClr>
                    </a:solidFill>
                  </a:tcPr>
                </a:tc>
                <a:tc>
                  <a:txBody>
                    <a:bodyPr/>
                    <a:lstStyle/>
                    <a:p>
                      <a:pPr marL="0" indent="0">
                        <a:buFont typeface="+mj-lt"/>
                        <a:buNone/>
                      </a:pPr>
                      <a:r>
                        <a:rPr lang="en-US" sz="1100" b="1">
                          <a:solidFill>
                            <a:schemeClr val="tx1"/>
                          </a:solidFill>
                          <a:latin typeface="+mn-lt"/>
                        </a:rPr>
                        <a:t>L1 - Sales Rep Direct Manager</a:t>
                      </a:r>
                    </a:p>
                  </a:txBody>
                  <a:tcPr>
                    <a:solidFill>
                      <a:schemeClr val="tx1">
                        <a:lumMod val="50000"/>
                        <a:lumOff val="50000"/>
                      </a:schemeClr>
                    </a:solidFill>
                  </a:tcPr>
                </a:tc>
                <a:tc>
                  <a:txBody>
                    <a:bodyPr/>
                    <a:lstStyle/>
                    <a:p>
                      <a:r>
                        <a:rPr lang="en-US" sz="1100" b="1">
                          <a:solidFill>
                            <a:schemeClr val="tx1"/>
                          </a:solidFill>
                          <a:latin typeface="+mn-lt"/>
                          <a:cs typeface="+mn-cs"/>
                        </a:rPr>
                        <a:t>L1 - Product Manager – “PM”</a:t>
                      </a:r>
                    </a:p>
                    <a:p>
                      <a:r>
                        <a:rPr lang="en-US" sz="1100" b="0">
                          <a:solidFill>
                            <a:schemeClr val="tx1"/>
                          </a:solidFill>
                          <a:latin typeface="+mn-lt"/>
                          <a:cs typeface="+mn-cs"/>
                        </a:rPr>
                        <a:t>(e.g., Shoshana for Lubricants)</a:t>
                      </a:r>
                      <a:endParaRPr lang="en-US" sz="1100" b="0">
                        <a:solidFill>
                          <a:schemeClr val="tx1"/>
                        </a:solidFill>
                        <a:latin typeface="+mn-lt"/>
                      </a:endParaRPr>
                    </a:p>
                  </a:txBody>
                  <a:tcPr>
                    <a:solidFill>
                      <a:schemeClr val="tx1">
                        <a:lumMod val="50000"/>
                        <a:lumOff val="50000"/>
                      </a:schemeClr>
                    </a:solidFill>
                  </a:tcPr>
                </a:tc>
                <a:tc>
                  <a:txBody>
                    <a:bodyPr/>
                    <a:lstStyle/>
                    <a:p>
                      <a:r>
                        <a:rPr lang="en-US" sz="1100" b="1">
                          <a:solidFill>
                            <a:schemeClr val="bg1"/>
                          </a:solidFill>
                          <a:latin typeface="+mn-lt"/>
                        </a:rPr>
                        <a:t>L3 – VP Portfolio Management</a:t>
                      </a:r>
                      <a:r>
                        <a:rPr lang="en-US" sz="1100">
                          <a:solidFill>
                            <a:schemeClr val="bg1"/>
                          </a:solidFill>
                          <a:latin typeface="+mn-lt"/>
                        </a:rPr>
                        <a:t> (Eric Cecilio) OR </a:t>
                      </a:r>
                      <a:r>
                        <a:rPr lang="en-US" sz="1100" b="1">
                          <a:solidFill>
                            <a:schemeClr val="bg1"/>
                          </a:solidFill>
                          <a:latin typeface="+mn-lt"/>
                        </a:rPr>
                        <a:t>VP Commercial Excellence </a:t>
                      </a:r>
                      <a:r>
                        <a:rPr lang="en-US" sz="1100">
                          <a:solidFill>
                            <a:schemeClr val="bg1"/>
                          </a:solidFill>
                          <a:latin typeface="+mn-lt"/>
                        </a:rPr>
                        <a:t>(Jorge)</a:t>
                      </a:r>
                    </a:p>
                  </a:txBody>
                  <a:tcPr>
                    <a:solidFill>
                      <a:schemeClr val="accent2"/>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1" i="0">
                          <a:solidFill>
                            <a:schemeClr val="bg1"/>
                          </a:solidFill>
                          <a:latin typeface="+mn-lt"/>
                        </a:rPr>
                        <a:t>L4 – Chief Revenue Officer </a:t>
                      </a:r>
                      <a:r>
                        <a:rPr lang="en-US" sz="1100" b="0" i="0">
                          <a:solidFill>
                            <a:schemeClr val="bg1"/>
                          </a:solidFill>
                          <a:latin typeface="+mn-lt"/>
                        </a:rPr>
                        <a:t>(Ken Chrisman) or </a:t>
                      </a:r>
                      <a:r>
                        <a:rPr lang="en-US" sz="1100" b="1" i="0">
                          <a:solidFill>
                            <a:schemeClr val="bg1"/>
                          </a:solidFill>
                          <a:latin typeface="+mn-lt"/>
                        </a:rPr>
                        <a:t>Chief Financial Officer</a:t>
                      </a:r>
                      <a:r>
                        <a:rPr lang="en-US" sz="1100" b="0" i="0">
                          <a:solidFill>
                            <a:schemeClr val="bg1"/>
                          </a:solidFill>
                          <a:latin typeface="+mn-lt"/>
                        </a:rPr>
                        <a:t> (Chris Heinold)</a:t>
                      </a:r>
                      <a:endParaRPr lang="en-US" sz="1100" b="1" i="0">
                        <a:solidFill>
                          <a:schemeClr val="bg1"/>
                        </a:solidFill>
                        <a:latin typeface="+mn-lt"/>
                      </a:endParaRPr>
                    </a:p>
                  </a:txBody>
                  <a:tcPr>
                    <a:solidFill>
                      <a:srgbClr val="009DE0"/>
                    </a:solidFill>
                  </a:tcPr>
                </a:tc>
                <a:extLst>
                  <a:ext uri="{0D108BD9-81ED-4DB2-BD59-A6C34878D82A}">
                    <a16:rowId xmlns:a16="http://schemas.microsoft.com/office/drawing/2014/main" val="893372846"/>
                  </a:ext>
                </a:extLst>
              </a:tr>
              <a:tr h="402811">
                <a:tc vMerge="1">
                  <a:txBody>
                    <a:bodyPr/>
                    <a:lstStyle/>
                    <a:p>
                      <a:endParaRPr lang="en-US"/>
                    </a:p>
                  </a:txBody>
                  <a:tcPr/>
                </a:tc>
                <a:tc>
                  <a:txBody>
                    <a:bodyPr/>
                    <a:lstStyle/>
                    <a:p>
                      <a:r>
                        <a:rPr lang="en-US" sz="1100" b="0">
                          <a:latin typeface="+mn-lt"/>
                        </a:rPr>
                        <a:t>Data</a:t>
                      </a:r>
                    </a:p>
                  </a:txBody>
                  <a:tcPr>
                    <a:solidFill>
                      <a:schemeClr val="tx1">
                        <a:lumMod val="50000"/>
                        <a:lumOff val="50000"/>
                      </a:schemeClr>
                    </a:solidFill>
                  </a:tcPr>
                </a:tc>
                <a:tc>
                  <a:txBody>
                    <a:bodyPr/>
                    <a:lstStyle/>
                    <a:p>
                      <a:pPr marL="0" indent="0">
                        <a:buFont typeface="+mj-lt"/>
                        <a:buNone/>
                      </a:pPr>
                      <a:r>
                        <a:rPr lang="en-US" sz="1100" b="0">
                          <a:latin typeface="+mn-lt"/>
                        </a:rPr>
                        <a:t>Map of Sales Reps and Direct Managers (exists within CRM)</a:t>
                      </a:r>
                    </a:p>
                  </a:txBody>
                  <a:tcPr>
                    <a:solidFill>
                      <a:schemeClr val="tx1">
                        <a:lumMod val="50000"/>
                        <a:lumOff val="50000"/>
                      </a:schemeClr>
                    </a:solidFill>
                  </a:tcPr>
                </a:tc>
                <a:tc>
                  <a:txBody>
                    <a:bodyPr/>
                    <a:lstStyle/>
                    <a:p>
                      <a:pPr marL="0" indent="0">
                        <a:buFont typeface="+mj-lt"/>
                        <a:buNone/>
                      </a:pPr>
                      <a:r>
                        <a:rPr lang="en-US" sz="1100" b="0">
                          <a:latin typeface="+mn-lt"/>
                        </a:rPr>
                        <a:t>Map of PL1s with PMs</a:t>
                      </a:r>
                    </a:p>
                  </a:txBody>
                  <a:tcPr>
                    <a:solidFill>
                      <a:schemeClr val="tx1">
                        <a:lumMod val="50000"/>
                        <a:lumOff val="5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a:ln>
                            <a:noFill/>
                          </a:ln>
                          <a:solidFill>
                            <a:srgbClr val="000000"/>
                          </a:solidFill>
                          <a:effectLst/>
                          <a:uLnTx/>
                          <a:uFillTx/>
                          <a:latin typeface="Calibri"/>
                          <a:ea typeface="+mn-ea"/>
                          <a:cs typeface="+mn-cs"/>
                        </a:rPr>
                        <a:t>N/A</a:t>
                      </a:r>
                    </a:p>
                  </a:txBody>
                  <a:tcPr>
                    <a:solidFill>
                      <a:srgbClr val="C6EEFF"/>
                    </a:solidFill>
                  </a:tcPr>
                </a:tc>
                <a:extLst>
                  <a:ext uri="{0D108BD9-81ED-4DB2-BD59-A6C34878D82A}">
                    <a16:rowId xmlns:a16="http://schemas.microsoft.com/office/drawing/2014/main" val="563561187"/>
                  </a:ext>
                </a:extLst>
              </a:tr>
              <a:tr h="927187">
                <a:tc vMerge="1">
                  <a:txBody>
                    <a:bodyPr/>
                    <a:lstStyle/>
                    <a:p>
                      <a:endParaRPr lang="en-US" b="1"/>
                    </a:p>
                  </a:txBody>
                  <a:tcPr/>
                </a:tc>
                <a:tc>
                  <a:txBody>
                    <a:bodyPr/>
                    <a:lstStyle/>
                    <a:p>
                      <a:r>
                        <a:rPr lang="en-US" sz="1100" b="0">
                          <a:latin typeface="+mn-lt"/>
                        </a:rPr>
                        <a:t>Process Steps</a:t>
                      </a:r>
                    </a:p>
                  </a:txBody>
                  <a:tcPr>
                    <a:solidFill>
                      <a:schemeClr val="tx1">
                        <a:lumMod val="50000"/>
                        <a:lumOff val="50000"/>
                      </a:schemeClr>
                    </a:solidFill>
                  </a:tcPr>
                </a:tc>
                <a:tc>
                  <a:txBody>
                    <a:bodyPr/>
                    <a:lstStyle/>
                    <a:p>
                      <a:pPr marL="228600" indent="-228600">
                        <a:buFont typeface="+mj-lt"/>
                        <a:buAutoNum type="arabicPeriod"/>
                      </a:pPr>
                      <a:endParaRPr lang="en-US" sz="1100">
                        <a:latin typeface="+mn-lt"/>
                      </a:endParaRPr>
                    </a:p>
                  </a:txBody>
                  <a:tcPr>
                    <a:solidFill>
                      <a:schemeClr val="tx1">
                        <a:lumMod val="50000"/>
                        <a:lumOff val="50000"/>
                      </a:schemeClr>
                    </a:solidFill>
                  </a:tcPr>
                </a:tc>
                <a:tc>
                  <a:txBody>
                    <a:bodyPr/>
                    <a:lstStyle/>
                    <a:p>
                      <a:pPr marL="228600" indent="-228600">
                        <a:buFont typeface="+mj-lt"/>
                        <a:buAutoNum type="arabicPeriod"/>
                      </a:pPr>
                      <a:endParaRPr lang="en-US" sz="1100">
                        <a:latin typeface="+mn-lt"/>
                      </a:endParaRPr>
                    </a:p>
                  </a:txBody>
                  <a:tcPr>
                    <a:solidFill>
                      <a:schemeClr val="tx1">
                        <a:lumMod val="50000"/>
                        <a:lumOff val="50000"/>
                      </a:schemeClr>
                    </a:solidFill>
                  </a:tcPr>
                </a:tc>
                <a:tc>
                  <a:txBody>
                    <a:bodyPr/>
                    <a:lstStyle/>
                    <a:p>
                      <a:pPr marL="228600" indent="-228600">
                        <a:buFont typeface="+mj-lt"/>
                        <a:buAutoNum type="arabicPeriod"/>
                      </a:pPr>
                      <a:r>
                        <a:rPr lang="en-US" sz="1100">
                          <a:latin typeface="+mn-lt"/>
                        </a:rPr>
                        <a:t>Assign approval to both queues</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EITHER approver approves, move to next stage</a:t>
                      </a:r>
                    </a:p>
                    <a:p>
                      <a:pPr marL="0" indent="0">
                        <a:buFont typeface="+mj-lt"/>
                        <a:buNone/>
                      </a:pPr>
                      <a:endParaRPr lang="en-US" sz="1100">
                        <a:latin typeface="+mn-lt"/>
                      </a:endParaRPr>
                    </a:p>
                  </a:txBody>
                  <a:tcPr>
                    <a:solidFill>
                      <a:schemeClr val="bg1"/>
                    </a:solidFill>
                  </a:tcPr>
                </a:tc>
                <a:tc>
                  <a:txBody>
                    <a:bodyPr/>
                    <a:lstStyle/>
                    <a:p>
                      <a:pPr marL="228600" indent="-228600">
                        <a:buFont typeface="+mj-lt"/>
                        <a:buAutoNum type="arabicPeriod"/>
                      </a:pPr>
                      <a:r>
                        <a:rPr lang="en-US" sz="1100">
                          <a:latin typeface="+mn-lt"/>
                        </a:rPr>
                        <a:t>Assign approval to both queues</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b="1">
                          <a:latin typeface="+mn-lt"/>
                        </a:rPr>
                        <a:t>If EITHER approver approves, send approval notice to Sales Rep to share quote with Customer</a:t>
                      </a:r>
                    </a:p>
                    <a:p>
                      <a:pPr marL="0" marR="0" lvl="0" indent="0" algn="l" defTabSz="914370" rtl="0" eaLnBrk="1" fontAlgn="auto" latinLnBrk="0" hangingPunct="1">
                        <a:lnSpc>
                          <a:spcPct val="100000"/>
                        </a:lnSpc>
                        <a:spcBef>
                          <a:spcPts val="0"/>
                        </a:spcBef>
                        <a:spcAft>
                          <a:spcPts val="0"/>
                        </a:spcAft>
                        <a:buClrTx/>
                        <a:buSzTx/>
                        <a:buFont typeface="+mj-lt"/>
                        <a:buNone/>
                        <a:tabLst/>
                        <a:defRPr/>
                      </a:pPr>
                      <a:endParaRPr lang="en-US" sz="1100">
                        <a:latin typeface="+mn-lt"/>
                      </a:endParaRPr>
                    </a:p>
                  </a:txBody>
                  <a:tcPr>
                    <a:solidFill>
                      <a:srgbClr val="FFE580"/>
                    </a:solidFill>
                  </a:tcPr>
                </a:tc>
                <a:extLst>
                  <a:ext uri="{0D108BD9-81ED-4DB2-BD59-A6C34878D82A}">
                    <a16:rowId xmlns:a16="http://schemas.microsoft.com/office/drawing/2014/main" val="872167488"/>
                  </a:ext>
                </a:extLst>
              </a:tr>
              <a:tr h="560027">
                <a:tc rowSpan="3">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mn-lt"/>
                          <a:ea typeface="+mn-ea"/>
                          <a:cs typeface="+mn-cs"/>
                        </a:rPr>
                        <a:t>Secondary Approver</a:t>
                      </a:r>
                    </a:p>
                  </a:txBody>
                  <a:tcPr vert="vert270" anchor="ctr"/>
                </a:tc>
                <a:tc>
                  <a:txBody>
                    <a:bodyPr/>
                    <a:lstStyle/>
                    <a:p>
                      <a:r>
                        <a:rPr lang="en-US" sz="1100" b="0">
                          <a:solidFill>
                            <a:schemeClr val="bg1"/>
                          </a:solidFill>
                          <a:latin typeface="+mn-lt"/>
                        </a:rPr>
                        <a:t>Approver</a:t>
                      </a:r>
                    </a:p>
                  </a:txBody>
                  <a:tcPr>
                    <a:solidFill>
                      <a:schemeClr val="accent2"/>
                    </a:solidFill>
                  </a:tcPr>
                </a:tc>
                <a:tc>
                  <a:txBody>
                    <a:bodyPr/>
                    <a:lstStyle/>
                    <a:p>
                      <a:r>
                        <a:rPr lang="en-US" sz="1100" b="1">
                          <a:solidFill>
                            <a:schemeClr val="bg1"/>
                          </a:solidFill>
                          <a:latin typeface="+mn-lt"/>
                        </a:rPr>
                        <a:t>L2 – CBU Lead </a:t>
                      </a:r>
                    </a:p>
                    <a:p>
                      <a:r>
                        <a:rPr lang="en-US" sz="1100">
                          <a:solidFill>
                            <a:schemeClr val="bg1"/>
                          </a:solidFill>
                          <a:latin typeface="+mn-lt"/>
                        </a:rPr>
                        <a:t>(Industrial: Eric Johnson)</a:t>
                      </a:r>
                    </a:p>
                  </a:txBody>
                  <a:tcPr>
                    <a:solidFill>
                      <a:schemeClr val="accent2"/>
                    </a:solidFill>
                  </a:tcPr>
                </a:tc>
                <a:tc>
                  <a:txBody>
                    <a:bodyPr/>
                    <a:lstStyle/>
                    <a:p>
                      <a:r>
                        <a:rPr lang="en-US" sz="1100" b="1">
                          <a:solidFill>
                            <a:schemeClr val="bg1"/>
                          </a:solidFill>
                          <a:latin typeface="+mn-lt"/>
                        </a:rPr>
                        <a:t>L2 – CBU Portfolio Director </a:t>
                      </a:r>
                    </a:p>
                    <a:p>
                      <a:r>
                        <a:rPr lang="en-US" sz="1100" b="0">
                          <a:solidFill>
                            <a:schemeClr val="bg1"/>
                          </a:solidFill>
                          <a:latin typeface="+mn-lt"/>
                        </a:rPr>
                        <a:t>(e.g., Max George for Industrial)</a:t>
                      </a:r>
                    </a:p>
                  </a:txBody>
                  <a:tcPr>
                    <a:solidFill>
                      <a:schemeClr val="accent2"/>
                    </a:solidFill>
                  </a:tcPr>
                </a:tc>
                <a:tc>
                  <a:txBody>
                    <a:bodyPr/>
                    <a:lstStyle/>
                    <a:p>
                      <a:endParaRPr lang="en-US" sz="1100">
                        <a:solidFill>
                          <a:schemeClr val="bg1"/>
                        </a:solidFill>
                        <a:latin typeface="+mn-lt"/>
                      </a:endParaRPr>
                    </a:p>
                  </a:txBody>
                  <a:tcPr>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1" i="0">
                        <a:solidFill>
                          <a:schemeClr val="bg1"/>
                        </a:solidFill>
                        <a:latin typeface="+mn-lt"/>
                      </a:endParaRPr>
                    </a:p>
                  </a:txBody>
                  <a:tcPr>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65958082"/>
                  </a:ext>
                </a:extLst>
              </a:tr>
              <a:tr h="0">
                <a:tc vMerge="1">
                  <a:txBody>
                    <a:bodyPr/>
                    <a:lstStyle/>
                    <a:p>
                      <a:endParaRPr lang="en-US"/>
                    </a:p>
                  </a:txBody>
                  <a:tcPr/>
                </a:tc>
                <a:tc>
                  <a:txBody>
                    <a:bodyPr/>
                    <a:lstStyle/>
                    <a:p>
                      <a:r>
                        <a:rPr lang="en-US" sz="1100" b="0">
                          <a:latin typeface="+mn-lt"/>
                        </a:rPr>
                        <a:t>Data</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r>
                        <a:rPr lang="en-US" sz="1100" b="0">
                          <a:latin typeface="+mn-lt"/>
                        </a:rPr>
                        <a:t>Map of CBU Leads (exists within CRM / linked to managers)</a:t>
                      </a:r>
                    </a:p>
                  </a:txBody>
                  <a:tcPr>
                    <a:solidFill>
                      <a:schemeClr val="accent2">
                        <a:lumMod val="20000"/>
                        <a:lumOff val="80000"/>
                      </a:schemeClr>
                    </a:solidFill>
                  </a:tcPr>
                </a:tc>
                <a:tc>
                  <a:txBody>
                    <a:bodyPr/>
                    <a:lstStyle/>
                    <a:p>
                      <a:r>
                        <a:rPr lang="en-US" sz="1100" b="0">
                          <a:latin typeface="+mn-lt"/>
                        </a:rPr>
                        <a:t>Map of Portfolio Directors by CBU</a:t>
                      </a:r>
                    </a:p>
                  </a:txBody>
                  <a:tcPr>
                    <a:solidFill>
                      <a:schemeClr val="accent2">
                        <a:lumMod val="20000"/>
                        <a:lumOff val="80000"/>
                      </a:schemeClr>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Tx/>
                        <a:buNone/>
                        <a:tabLst/>
                        <a:defRPr/>
                      </a:pPr>
                      <a:endParaRPr lang="en-US" sz="1100" b="0" i="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569417795"/>
                  </a:ext>
                </a:extLst>
              </a:tr>
              <a:tr h="698883">
                <a:tc vMerge="1">
                  <a:txBody>
                    <a:bodyPr/>
                    <a:lstStyle/>
                    <a:p>
                      <a:endParaRPr/>
                    </a:p>
                  </a:txBody>
                  <a:tcPr/>
                </a:tc>
                <a:tc>
                  <a:txBody>
                    <a:bodyPr/>
                    <a:lstStyle/>
                    <a:p>
                      <a:r>
                        <a:rPr lang="en-US" sz="1100" b="0">
                          <a:latin typeface="+mn-lt"/>
                        </a:rPr>
                        <a:t>Process Steps</a:t>
                      </a:r>
                    </a:p>
                  </a:txBody>
                  <a:tcPr/>
                </a:tc>
                <a:tc>
                  <a:txBody>
                    <a:bodyPr/>
                    <a:lstStyle/>
                    <a:p>
                      <a:pPr marL="228600" indent="-228600">
                        <a:buFont typeface="+mj-lt"/>
                        <a:buAutoNum type="arabicPeriod"/>
                      </a:pPr>
                      <a:r>
                        <a:rPr lang="en-US" sz="1100">
                          <a:latin typeface="+mn-lt"/>
                        </a:rPr>
                        <a:t>Find CBU Lead manager</a:t>
                      </a:r>
                    </a:p>
                    <a:p>
                      <a:pPr marL="228600" indent="-228600">
                        <a:buFont typeface="+mj-lt"/>
                        <a:buAutoNum type="arabicPeriod"/>
                      </a:pPr>
                      <a:r>
                        <a:rPr lang="en-US" sz="1100">
                          <a:latin typeface="+mn-lt"/>
                        </a:rPr>
                        <a:t>Assign approval to queue</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manager approves, move to next stage</a:t>
                      </a:r>
                    </a:p>
                  </a:txBody>
                  <a:tcPr/>
                </a:tc>
                <a:tc>
                  <a:txBody>
                    <a:bodyPr/>
                    <a:lstStyle/>
                    <a:p>
                      <a:pPr marL="228600" indent="-228600">
                        <a:buFont typeface="+mj-lt"/>
                        <a:buAutoNum type="arabicPeriod"/>
                      </a:pPr>
                      <a:r>
                        <a:rPr lang="en-US" sz="1100">
                          <a:latin typeface="+mn-lt"/>
                        </a:rPr>
                        <a:t>Determine CBU Product Director based on leading PL1</a:t>
                      </a:r>
                    </a:p>
                    <a:p>
                      <a:pPr marL="228600" indent="-228600">
                        <a:buFont typeface="+mj-lt"/>
                        <a:buAutoNum type="arabicPeriod"/>
                      </a:pPr>
                      <a:r>
                        <a:rPr lang="en-US" sz="1100">
                          <a:latin typeface="+mn-lt"/>
                        </a:rPr>
                        <a:t>Assign approval to queue</a:t>
                      </a:r>
                    </a:p>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r>
                        <a:rPr lang="en-US" sz="1100">
                          <a:latin typeface="+mn-lt"/>
                        </a:rPr>
                        <a:t>If manager approves, move to next stage</a:t>
                      </a:r>
                    </a:p>
                  </a:txBody>
                  <a:tcPr/>
                </a:tc>
                <a:tc>
                  <a:txBody>
                    <a:bodyPr/>
                    <a:lstStyle/>
                    <a:p>
                      <a:pPr marL="228600" indent="-228600">
                        <a:buFont typeface="+mj-lt"/>
                        <a:buAutoNum type="arabicPeriod"/>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marR="0" lvl="0" indent="0" algn="l" defTabSz="914370" rtl="0" eaLnBrk="1" fontAlgn="auto" latinLnBrk="0" hangingPunct="1">
                        <a:lnSpc>
                          <a:spcPct val="100000"/>
                        </a:lnSpc>
                        <a:spcBef>
                          <a:spcPts val="0"/>
                        </a:spcBef>
                        <a:spcAft>
                          <a:spcPts val="0"/>
                        </a:spcAft>
                        <a:buClrTx/>
                        <a:buSzTx/>
                        <a:buFont typeface="+mj-lt"/>
                        <a:buNone/>
                        <a:tabLst/>
                        <a:defRPr/>
                      </a:pPr>
                      <a:endParaRPr lang="en-US" sz="110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539651794"/>
                  </a:ext>
                </a:extLst>
              </a:tr>
              <a:tr h="370840">
                <a:tc>
                  <a:txBody>
                    <a:bodyPr/>
                    <a:lstStyle/>
                    <a:p>
                      <a:pPr marL="0" marR="0" lvl="0" indent="0" algn="ctr" defTabSz="91437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rgbClr val="000000"/>
                        </a:solidFill>
                        <a:effectLst/>
                        <a:uLnTx/>
                        <a:uFillTx/>
                        <a:latin typeface="+mn-lt"/>
                        <a:ea typeface="+mn-ea"/>
                        <a:cs typeface="+mn-cs"/>
                      </a:endParaRPr>
                    </a:p>
                  </a:txBody>
                  <a:tcPr vert="vert270" anchor="ctr"/>
                </a:tc>
                <a:tc>
                  <a:txBody>
                    <a:bodyPr/>
                    <a:lstStyle/>
                    <a:p>
                      <a:endParaRPr lang="en-US" sz="1100" b="0">
                        <a:latin typeface="+mn-lt"/>
                      </a:endParaRPr>
                    </a:p>
                  </a:txBody>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no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no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228600" marR="0" lvl="0" indent="-228600" algn="l" defTabSz="914370" rtl="0" eaLnBrk="1" fontAlgn="auto" latinLnBrk="0" hangingPunct="1">
                        <a:lnSpc>
                          <a:spcPct val="100000"/>
                        </a:lnSpc>
                        <a:spcBef>
                          <a:spcPts val="0"/>
                        </a:spcBef>
                        <a:spcAft>
                          <a:spcPts val="0"/>
                        </a:spcAft>
                        <a:buClrTx/>
                        <a:buSzTx/>
                        <a:buFont typeface="+mj-lt"/>
                        <a:buAutoNum type="arabicPeriod"/>
                        <a:tabLst/>
                        <a:defRPr/>
                      </a:pPr>
                      <a:endParaRPr lang="en-US" sz="1100" b="1" dirty="0">
                        <a:latin typeface="+mn-lt"/>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708649140"/>
                  </a:ext>
                </a:extLst>
              </a:tr>
            </a:tbl>
          </a:graphicData>
        </a:graphic>
      </p:graphicFrame>
      <p:sp>
        <p:nvSpPr>
          <p:cNvPr id="14" name="Numbered Circle">
            <a:extLst>
              <a:ext uri="{FF2B5EF4-FFF2-40B4-BE49-F238E27FC236}">
                <a16:creationId xmlns:a16="http://schemas.microsoft.com/office/drawing/2014/main" id="{CCAA1565-15B7-D68E-75AA-FC2D0F02DD89}"/>
              </a:ext>
            </a:extLst>
          </p:cNvPr>
          <p:cNvSpPr>
            <a:spLocks noChangeAspect="1"/>
          </p:cNvSpPr>
          <p:nvPr/>
        </p:nvSpPr>
        <p:spPr>
          <a:xfrm>
            <a:off x="165100" y="409448"/>
            <a:ext cx="228600" cy="228600"/>
          </a:xfrm>
          <a:prstGeom prst="ellipse">
            <a:avLst/>
          </a:prstGeom>
          <a:solidFill>
            <a:schemeClr val="bg1"/>
          </a:solidFill>
          <a:ln w="9525" cap="flat" cmpd="sng" algn="ctr">
            <a:solidFill>
              <a:schemeClr val="tx1"/>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GB" sz="1000" kern="0">
                <a:solidFill>
                  <a:schemeClr val="tx1"/>
                </a:solidFill>
              </a:rPr>
              <a:t>3</a:t>
            </a:r>
          </a:p>
        </p:txBody>
      </p:sp>
      <p:sp>
        <p:nvSpPr>
          <p:cNvPr id="8" name="Speech Bubble: Rectangle 7">
            <a:extLst>
              <a:ext uri="{FF2B5EF4-FFF2-40B4-BE49-F238E27FC236}">
                <a16:creationId xmlns:a16="http://schemas.microsoft.com/office/drawing/2014/main" id="{5453FDB6-BA4F-F8D1-791C-F69B36FD0DDE}"/>
              </a:ext>
            </a:extLst>
          </p:cNvPr>
          <p:cNvSpPr/>
          <p:nvPr/>
        </p:nvSpPr>
        <p:spPr>
          <a:xfrm>
            <a:off x="9823249" y="3921152"/>
            <a:ext cx="1911550" cy="637909"/>
          </a:xfrm>
          <a:prstGeom prst="wedgeRectCallout">
            <a:avLst>
              <a:gd name="adj1" fmla="val -32068"/>
              <a:gd name="adj2" fmla="val -89455"/>
            </a:avLst>
          </a:prstGeom>
          <a:solidFill>
            <a:schemeClr val="accent4"/>
          </a:solidFill>
          <a:ln w="9525" cap="flat" cmpd="sng" algn="ctr">
            <a:solidFill>
              <a:schemeClr val="accent4"/>
            </a:solidFill>
            <a:prstDash val="solid"/>
            <a:miter lim="800000"/>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2009" tIns="72009" rIns="72009" bIns="72009" rtlCol="0" anchor="ctr">
            <a:noAutofit/>
          </a:bodyPr>
          <a:lstStyle/>
          <a:p>
            <a:pPr algn="ctr"/>
            <a:r>
              <a:rPr lang="en-US" sz="1050" kern="0">
                <a:solidFill>
                  <a:schemeClr val="tx1"/>
                </a:solidFill>
                <a:sym typeface="+mn-lt"/>
              </a:rPr>
              <a:t>If at any stage, quote is rejected, send notice to Sales Rep and reset approval queues</a:t>
            </a:r>
          </a:p>
        </p:txBody>
      </p:sp>
      <p:pic>
        <p:nvPicPr>
          <p:cNvPr id="9" name="Picture 8">
            <a:extLst>
              <a:ext uri="{FF2B5EF4-FFF2-40B4-BE49-F238E27FC236}">
                <a16:creationId xmlns:a16="http://schemas.microsoft.com/office/drawing/2014/main" id="{90087B97-77BC-02D2-8C86-4A7B76E6A6B4}"/>
              </a:ext>
            </a:extLst>
          </p:cNvPr>
          <p:cNvPicPr>
            <a:picLocks noChangeAspect="1"/>
          </p:cNvPicPr>
          <p:nvPr/>
        </p:nvPicPr>
        <p:blipFill>
          <a:blip r:embed="rId5"/>
          <a:stretch>
            <a:fillRect/>
          </a:stretch>
        </p:blipFill>
        <p:spPr>
          <a:xfrm>
            <a:off x="8919713" y="381000"/>
            <a:ext cx="2815086" cy="257590"/>
          </a:xfrm>
          <a:prstGeom prst="rect">
            <a:avLst/>
          </a:prstGeom>
        </p:spPr>
      </p:pic>
      <p:cxnSp>
        <p:nvCxnSpPr>
          <p:cNvPr id="11" name="Straight Connector 10">
            <a:extLst>
              <a:ext uri="{FF2B5EF4-FFF2-40B4-BE49-F238E27FC236}">
                <a16:creationId xmlns:a16="http://schemas.microsoft.com/office/drawing/2014/main" id="{52A33FDB-37E2-1DBB-DF4A-7798CDD3B362}"/>
              </a:ext>
            </a:extLst>
          </p:cNvPr>
          <p:cNvCxnSpPr>
            <a:cxnSpLocks/>
          </p:cNvCxnSpPr>
          <p:nvPr/>
        </p:nvCxnSpPr>
        <p:spPr>
          <a:xfrm>
            <a:off x="1667775" y="1139691"/>
            <a:ext cx="10067027" cy="0"/>
          </a:xfrm>
          <a:prstGeom prst="line">
            <a:avLst/>
          </a:prstGeom>
          <a:ln w="19050">
            <a:solidFill>
              <a:schemeClr val="accent3">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5099EC9-68D6-A7AA-303E-43A67C0A2A9D}"/>
              </a:ext>
            </a:extLst>
          </p:cNvPr>
          <p:cNvSpPr/>
          <p:nvPr/>
        </p:nvSpPr>
        <p:spPr>
          <a:xfrm>
            <a:off x="2987874"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3" name="Oval 12">
            <a:extLst>
              <a:ext uri="{FF2B5EF4-FFF2-40B4-BE49-F238E27FC236}">
                <a16:creationId xmlns:a16="http://schemas.microsoft.com/office/drawing/2014/main" id="{22720CF5-99B3-498A-75B0-9A79B6E9A6F0}"/>
              </a:ext>
            </a:extLst>
          </p:cNvPr>
          <p:cNvSpPr/>
          <p:nvPr/>
        </p:nvSpPr>
        <p:spPr>
          <a:xfrm>
            <a:off x="5451868"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5" name="Oval 14">
            <a:extLst>
              <a:ext uri="{FF2B5EF4-FFF2-40B4-BE49-F238E27FC236}">
                <a16:creationId xmlns:a16="http://schemas.microsoft.com/office/drawing/2014/main" id="{0B369C7B-FE73-CB71-87B5-6F8CD299A22C}"/>
              </a:ext>
            </a:extLst>
          </p:cNvPr>
          <p:cNvSpPr/>
          <p:nvPr/>
        </p:nvSpPr>
        <p:spPr>
          <a:xfrm>
            <a:off x="7915862"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16" name="Oval 15">
            <a:extLst>
              <a:ext uri="{FF2B5EF4-FFF2-40B4-BE49-F238E27FC236}">
                <a16:creationId xmlns:a16="http://schemas.microsoft.com/office/drawing/2014/main" id="{23655D80-8057-15D9-510B-1148E1851362}"/>
              </a:ext>
            </a:extLst>
          </p:cNvPr>
          <p:cNvSpPr/>
          <p:nvPr/>
        </p:nvSpPr>
        <p:spPr>
          <a:xfrm>
            <a:off x="10379857" y="982408"/>
            <a:ext cx="321530" cy="314567"/>
          </a:xfrm>
          <a:prstGeom prst="ellipse">
            <a:avLst/>
          </a:prstGeom>
          <a:solidFill>
            <a:schemeClr val="bg1"/>
          </a:solidFill>
          <a:ln w="19050">
            <a:solidFill>
              <a:schemeClr val="accent3">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US" sz="1400" kern="0" err="1">
              <a:solidFill>
                <a:schemeClr val="tx1"/>
              </a:solidFill>
            </a:endParaRPr>
          </a:p>
        </p:txBody>
      </p:sp>
      <p:sp>
        <p:nvSpPr>
          <p:cNvPr id="2" name="Rectangle 1">
            <a:extLst>
              <a:ext uri="{FF2B5EF4-FFF2-40B4-BE49-F238E27FC236}">
                <a16:creationId xmlns:a16="http://schemas.microsoft.com/office/drawing/2014/main" id="{4B266797-639C-2715-4728-131B25E85014}"/>
              </a:ext>
            </a:extLst>
          </p:cNvPr>
          <p:cNvSpPr/>
          <p:nvPr/>
        </p:nvSpPr>
        <p:spPr>
          <a:xfrm>
            <a:off x="7310859" y="5041710"/>
            <a:ext cx="3111064" cy="552851"/>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US" sz="1400" kern="0" dirty="0">
                <a:solidFill>
                  <a:schemeClr val="tx1"/>
                </a:solidFill>
              </a:rPr>
              <a:t>Case 4: Part of L2 + Commercial Approval + Enterprise Approval</a:t>
            </a:r>
          </a:p>
        </p:txBody>
      </p:sp>
    </p:spTree>
    <p:extLst>
      <p:ext uri="{BB962C8B-B14F-4D97-AF65-F5344CB8AC3E}">
        <p14:creationId xmlns:p14="http://schemas.microsoft.com/office/powerpoint/2010/main" val="1000071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4313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W 2026&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Fill&quot;:{&quot;FillType&quot;:0,&quot;Color&quot;:[]}},&quot;Ghost&quot;:{&quot;Font&quot;:{&quot;Color&quot;:[{&quot;Source&quot;:0,&quot;Data&quot;:&quot;Neutral 500&quot;},{&quot;Source&quot;:1,&quot;Data&quot;:&quot;0xB1B6B9&quot;}],&quot;Name&quot;:&quot;+mn-lt&quot;,&quot;Style&quot;:0,&quot;Size&quot;:10}}}"/>
  <p:tag name="DTP_TOOLSPOWERPOINTCONFIG" val="{&quot;ConfigName&quot;:&quot;OW 2026&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false,&quot;Color&quot;:[{&quot;Source&quot;:0,&quot;Data&quot;:&quot;Neutral 250&quot;},{&quot;Source&quot;:1,&quot;Data&quot;:&quot;0xEEF3F7&quot;}],&quot;Width&quot;:0.75},&quot;FillColor&quot;:[{&quot;Source&quot;:0,&quot;Data&quot;:&quot;Neutral 250&quot;},{&quot;Source&quot;:1,&quot;Data&quot;:&quot;0xEEF3F7&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6&quot;,&quot;Font&quot;:{&quot;Color&quot;:[{&quot;Source&quot;:2,&quot;Data&quot;:&quot;msoThemeColorBackground1&quot;}],&quot;Name&quot;:&quot;+mn-lt&quot;,&quot;Style&quot;:0,&quot;Size&quot;:10},&quot;FillColor&quot;:[{&quot;Source&quot;:2,&quot;Data&quot;:&quot;msoThemeColorText1&quot;}],&quot;Line&quot;:{&quot;Visible&quot;:true,&quot;Color&quot;:[{&quot;Source&quot;:2,&quot;Data&quot;:&quot;msoThemeColorText1&quot;}],&quot;Width&quot;:0.75}},&quot;CrossTick&quot;:{&quot;Cross&quot;:{&quot;Visible&quot;:true,&quot;Color&quot;:[{&quot;Source&quot;:0,&quot;Data&quot;:&quot;Warning Red&quot;},{&quot;Source&quot;:2,&quot;Data&quot;:&quot;msoThemeColorText1&quot;}],&quot;Width&quot;:1.5},&quot;Tick&quot;:{&quot;Visible&quot;:true,&quot;Color&quot;:[{&quot;Source&quot;:0,&quot;Data&quot;:&quot;Green 750&quot;},{&quot;Source&quot;:2,&quot;Data&quot;:&quot;msoThemeColorText1&quot;}],&quot;Width&quot;:1.5}},&quot;Highlight&quot;:{&quot;Line&quot;:{&quot;Visible&quot;:true,&quot;Color&quot;:[{&quot;Source&quot;:0,&quot;Data&quot;:&quot;Gold 750&quot;},{&quot;Source&quot;:1,&quot;Data&quot;:&quot;0xFFBF00&quot;}],&quot;Width&quot;:1.5},&quot;Font&quot;:{&quot;Color&quot;:[{&quot;Source&quot;:0,&quot;Data&quot;:&quot;Gold 750&quot;},{&quot;Source&quot;:1,&quot;Data&quot;:&quot;0xFFBF00&quot;}],&quot;Name&quot;:&quot;+mn-lt&quot;,&quot;Style&quot;:1,&quot;Size&quot;:10},&quot;Alignment&quot;:1,&quot;VerticalAnchor&quot;:1},&quot;Title&quot;:{&quot;SubTitle&quot;:{&quot;Font&quot;:{&quot;Color&quot;:[{&quot;Source&quot;:2,&quot;Data&quot;:&quot;msoThemeColorText1&quot;}],&quot;Name&quot;:&quot;+mn-lt&quot;,&quot;Style&quot;:0,&quot;Size&quot;:14},&quot;AllCaps&quot;:false}},&quot;Headings&quot;:{&quot;Heading&quot;:{&quot;Font&quot;:{&quot;Color&quot;:[{&quot;Source&quot;:2,&quot;Data&quot;:&quot;msoThemeColorText1&quot;}],&quot;Name&quot;:&quot;+mn-lt&quot;,&quot;Style&quot;:2,&quot;Size&quot;:12}},&quot;Subheading&quot;:{&quot;Font&quot;:{&quot;Color&quot;:[{&quot;Source&quot;:2,&quot;Data&quot;:&quot;msoThemeColorText1&quot;}],&quot;Name&quot;:&quot;+mn-lt&quot;,&quot;Style&quot;:0,&quot;Size&quot;:12}}},&quot;Conclusion&quot;:{&quot;Fill&quot;:{&quot;FillType&quot;:0,&quot;Color&quot;:[]},&quot;VisibleBorders&quot;:[2],&quot;Line&quot;:{&quot;Visible&quot;:true,&quot;Color&quot;:[{&quot;Source&quot;:0,&quot;Data&quot;:&quot;Gold 750&quot;},{&quot;Source&quot;:1,&quot;Data&quot;:&quot;0xFFBF00&quot;}],&quot;Width&quot;:1.5},&quot;Font&quot;:{&quot;Color&quot;:[{&quot;Source&quot;:2,&quot;Data&quot;:&quot;msoThemeColorText1&quot;}],&quot;Name&quot;:&quot;+mj-lt&quot;,&quot;Style&quot;:0,&quot;Size&quot;:18}},&quot;FootNote&quot;:{&quot;Font&quot;:{&quot;Color&quot;:[{&quot;Source&quot;:2,&quot;Data&quot;:&quot;msoThemeColorText1&quot;}],&quot;Name&quot;:&quot;+mn-lt&quot;,&quot;Style&quot;:0,&quot;Size&quot;:8},&quot;VerticalAnchor&quot;:4},&quot;Bullet&quot;:{&quot;List1Level&quot;:2,&quot;List2Level&quot;:3,&quot;List3Level&quot;:4,&quot;List4Level&quot;:5},&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Text1&quot;}],&quot;Width&quot;:0.75},&quot;ArcFill&quot;:[{&quot;Source&quot;:2,&quot;Data&quot;:&quot;msoThemeColorText1&quot;}],&quot;BallFill&quot;:[{&quot;Source&quot;:2,&quot;Data&quot;:&quot;msoThemeColorBackground1&quot;}]},&quot;Label&quot;:{&quot;Font&quot;:{&quot;Color&quot;:[{&quot;Source&quot;:2,&quot;Data&quot;:&quot;msoThemeColorAccent1&quot;}],&quot;Name&quot;:&quot;+mn-lt&quot;,&quot;Style&quot;:0,&quot;Size&quot;:8},&quot;Line&quot;:{&quot;Visible&quot;:true,&quot;Color&quot;:[{&quot;Source&quot;:2,&quot;Data&quot;:&quot;msoThemeColorAccent1&quot;}],&quot;Width&quot;:0.75}},&quot;Ghost&quot;:{&quot;Font&quot;:{&quot;Color&quot;:[{&quot;Source&quot;:0,&quot;Data&quot;:&quot;Neutral 500&quot;},{&quot;Source&quot;:1,&quot;Data&quot;:&quot;0xB1B6B9&quot;}],&quot;Name&quot;:&quot;+mn-lt&quot;,&quot;Style&quot;:0,&quot;Size&quot;:1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OOLS_METADATA_OBJECT" val="{&quot;PositionLocked&quot;:false,&quot;CanBeHidden&quot;:fals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2.xml><?xml version="1.0" encoding="utf-8"?>
<a:theme xmlns:a="http://schemas.openxmlformats.org/drawingml/2006/main" name="1_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Widescreen 16x9.potx" id="{6B03B70D-6EFD-4FBD-AE23-C1F12C5C48AF}" vid="{0F2DB142-F5C5-4CD7-B25E-A6EB494470FF}"/>
    </a:ext>
  </a:extLst>
</a:theme>
</file>

<file path=ppt/theme/theme3.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ppt/theme/theme4.xml><?xml version="1.0" encoding="utf-8"?>
<a:theme xmlns:a="http://schemas.openxmlformats.org/drawingml/2006/main" name="Oliver Wyman">
  <a:themeElements>
    <a:clrScheme name="Oliver Wyman">
      <a:dk1>
        <a:srgbClr val="000F47"/>
      </a:dk1>
      <a:lt1>
        <a:srgbClr val="FFFFFF"/>
      </a:lt1>
      <a:dk2>
        <a:srgbClr val="7B7974"/>
      </a:dk2>
      <a:lt2>
        <a:srgbClr val="CEECFF"/>
      </a:lt2>
      <a:accent1>
        <a:srgbClr val="000F47"/>
      </a:accent1>
      <a:accent2>
        <a:srgbClr val="82BAFF"/>
      </a:accent2>
      <a:accent3>
        <a:srgbClr val="CEECFF"/>
      </a:accent3>
      <a:accent4>
        <a:srgbClr val="7B7974"/>
      </a:accent4>
      <a:accent5>
        <a:srgbClr val="B9B6B1"/>
      </a:accent5>
      <a:accent6>
        <a:srgbClr val="EBE7E2"/>
      </a:accent6>
      <a:hlink>
        <a:srgbClr val="0B4BFF"/>
      </a:hlink>
      <a:folHlink>
        <a:srgbClr val="B9B6B1"/>
      </a:folHlink>
    </a:clrScheme>
    <a:fontScheme name="Oliver Wyman">
      <a:majorFont>
        <a:latin typeface="Marsh Serif"/>
        <a:ea typeface=""/>
        <a:cs typeface=""/>
        <a:font script="Jpan" typeface="Noto Serif JP"/>
        <a:font script="Hang" typeface="Noto Serif KR"/>
        <a:font script="Hans" typeface="Noto Serif SC"/>
        <a:font script="Hant" typeface="Noto Serif TC"/>
        <a:font script="Arab" typeface="Noto Naskh Arabic"/>
        <a:font script="Hebr" typeface="Times New Roman"/>
        <a:font script="Thai" typeface="Noto Serif Thai"/>
        <a:font script="Viet" typeface="Noto Serif"/>
      </a:majorFont>
      <a:minorFont>
        <a:latin typeface="Noto Sans"/>
        <a:ea typeface=""/>
        <a:cs typeface=""/>
        <a:font script="Jpan" typeface="Noto Sans JP"/>
        <a:font script="Hang" typeface="Noto Sans KR"/>
        <a:font script="Hans" typeface="Noto Sans SC"/>
        <a:font script="Hant" typeface="Noto Sans TC"/>
        <a:font script="Arab" typeface="Noto Sans Arabic"/>
        <a:font script="Hebr" typeface="Arial"/>
        <a:font script="Thai" typeface="Noto Sans Thai"/>
        <a:font script="Viet" typeface="Noto Sans"/>
      </a:minorFont>
    </a:fontScheme>
    <a:fmtScheme name="Oliver Wyman">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ln>
        <a:ln w="19050" cap="flat" cmpd="sng" algn="ctr">
          <a:solidFill>
            <a:schemeClr val="phClr"/>
          </a:solidFill>
          <a:prstDash val="solid"/>
          <a:miter lim="800000"/>
        </a:ln>
        <a:ln w="28575" cap="flat" cmpd="sng" algn="ctr">
          <a:solidFill>
            <a:schemeClr val="phClr"/>
          </a:solidFill>
          <a:prstDash val="solid"/>
          <a:miter lim="800000"/>
        </a:ln>
      </a:lnStyleLst>
      <a:effectStyleLst>
        <a:effectStyle>
          <a:effectLst/>
        </a:effectStyle>
        <a:effectStyle>
          <a:effectLst/>
        </a:effectStyle>
        <a:effectStyle>
          <a:effectLst>
            <a:outerShdw blurRad="76200" dist="25400" dir="4200000" sx="101000" sy="101000" rotWithShape="0">
              <a:srgbClr val="000000">
                <a:alpha val="1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rgbClr val="F7F3EE"/>
        </a:solidFill>
        <a:ln w="19050" cap="flat" cmpd="sng" algn="ctr">
          <a:noFill/>
          <a:prstDash val="solid"/>
          <a:miter lim="800000"/>
        </a:ln>
        <a:effectLst/>
        <a:extLst>
          <a:ext uri="{91240B29-F687-4F45-9708-019B960494DF}">
            <a14:hiddenLine xmlns:a14="http://schemas.microsoft.com/office/drawing/2010/main" w="19050" cap="flat" cmpd="sng" algn="ctr">
              <a:solidFill>
                <a:schemeClr val="dk1"/>
              </a:solidFill>
              <a:prstDash val="solid"/>
              <a:miter lim="800000"/>
            </a14:hiddenLine>
          </a:ext>
        </a:extLst>
      </a:spPr>
      <a:bodyPr lIns="137160" tIns="137160" rIns="137160" bIns="137160" rtlCol="0" anchor="ctr"/>
      <a:lstStyle>
        <a:defPPr algn="ctr">
          <a:defRPr sz="1200" dirty="0">
            <a:solidFill>
              <a:schemeClr val="tx1"/>
            </a:solidFill>
          </a:defRPr>
        </a:defPPr>
      </a:lstStyle>
      <a:style>
        <a:lnRef idx="2">
          <a:schemeClr val="dk1"/>
        </a:lnRef>
        <a:fillRef idx="1">
          <a:schemeClr val="lt1"/>
        </a:fillRef>
        <a:effectRef idx="0">
          <a:schemeClr val="dk1"/>
        </a:effectRef>
        <a:fontRef idx="minor">
          <a:schemeClr val="dk1"/>
        </a:fontRef>
      </a:style>
    </a:spDef>
    <a:lnDef>
      <a:spPr>
        <a:ln>
          <a:solidFill>
            <a:schemeClr val="tx1"/>
          </a:solidFill>
        </a:ln>
      </a:spPr>
      <a:bodyPr/>
      <a:lstStyle/>
      <a:style>
        <a:lnRef idx="1">
          <a:schemeClr val="dk1"/>
        </a:lnRef>
        <a:fillRef idx="0">
          <a:schemeClr val="dk1"/>
        </a:fillRef>
        <a:effectRef idx="0">
          <a:schemeClr val="dk1"/>
        </a:effectRef>
        <a:fontRef idx="minor">
          <a:schemeClr val="tx1"/>
        </a:fontRef>
      </a:style>
    </a:lnDef>
    <a:txDef>
      <a:spPr>
        <a:noFill/>
      </a:spPr>
      <a:bodyPr wrap="none" lIns="0" tIns="0" rIns="0" bIns="0" rtlCol="0">
        <a:spAutoFit/>
      </a:bodyPr>
      <a:lstStyle>
        <a:defPPr algn="l">
          <a:defRPr sz="1200" kern="0" smtClean="0"/>
        </a:defPPr>
      </a:lstStyle>
    </a:txDef>
  </a:objectDefaults>
  <a:extraClrSchemeLst/>
  <a:custClrLst>
    <a:custClr name="Midnight Blue">
      <a:srgbClr val="000F47"/>
    </a:custClr>
    <a:custClr name="Blue 750">
      <a:srgbClr val="0B4BFF"/>
    </a:custClr>
    <a:custClr name="Blue 500">
      <a:srgbClr val="82BAFF"/>
    </a:custClr>
    <a:custClr name="Sky Blue">
      <a:srgbClr val="CEECFF"/>
    </a:custClr>
    <a:custClr name="Gold 1000">
      <a:srgbClr val="CB7E03"/>
    </a:custClr>
    <a:custClr name="Gold 750">
      <a:srgbClr val="FFBF00"/>
    </a:custClr>
    <a:custClr name="Gold 500">
      <a:srgbClr val="FFD98A"/>
    </a:custClr>
    <a:custClr name="Gold 250">
      <a:srgbClr val="FFF3DA"/>
    </a:custClr>
    <a:custClr>
      <a:srgbClr val="FFFFFF"/>
    </a:custClr>
    <a:custClr name="Warning Red">
      <a:srgbClr val="C53532"/>
    </a:custClr>
    <a:custClr name="Purple 1000">
      <a:srgbClr val="5E017F"/>
    </a:custClr>
    <a:custClr name="Purple 750">
      <a:srgbClr val="8F20DE"/>
    </a:custClr>
    <a:custClr name="Purple 500">
      <a:srgbClr val="DEB1FF"/>
    </a:custClr>
    <a:custClr name="Purple 250">
      <a:srgbClr val="F5E8FF"/>
    </a:custClr>
    <a:custClr name="Green 1000">
      <a:srgbClr val="2F7500"/>
    </a:custClr>
    <a:custClr name="Green 750">
      <a:srgbClr val="6ABF30"/>
    </a:custClr>
    <a:custClr name="Green 500">
      <a:srgbClr val="B0DC92"/>
    </a:custClr>
    <a:custClr name="Green 250">
      <a:srgbClr val="DFECD7"/>
    </a:custClr>
    <a:custClr>
      <a:srgbClr val="FFFFFF"/>
    </a:custClr>
    <a:custClr name="Neutral 250">
      <a:srgbClr val="F7F3EE"/>
    </a:custClr>
    <a:custClr name="Neutral 1000">
      <a:srgbClr val="3D3C37"/>
    </a:custClr>
    <a:custClr name="Neutral 750">
      <a:srgbClr val="7B7974"/>
    </a:custClr>
    <a:custClr name="Neutral 500">
      <a:srgbClr val="B9B6B1"/>
    </a:custClr>
    <a:custClr name="Neutral 300">
      <a:srgbClr val="EAE7E2"/>
    </a:custClr>
    <a:custClr>
      <a:srgbClr val="FFFFFF"/>
    </a:custClr>
    <a:custClr>
      <a:srgbClr val="FFFFFF"/>
    </a:custClr>
    <a:custClr>
      <a:srgbClr val="FFFFFF"/>
    </a:custClr>
    <a:custClr>
      <a:srgbClr val="FFFFFF"/>
    </a:custClr>
    <a:custClr>
      <a:srgbClr val="FFFFFF"/>
    </a:custClr>
    <a:custClr name="Neutral 400">
      <a:srgbClr val="D1CEC9"/>
    </a:custClr>
  </a:custClrLst>
  <a:extLst>
    <a:ext uri="{05A4C25C-085E-4340-85A3-A5531E510DB2}">
      <thm15:themeFamily xmlns:thm15="http://schemas.microsoft.com/office/thememl/2012/main" name="Oliver Wyman" id="{FAEB5AE3-80BD-4306-BA23-31AF59B546B5}" vid="{105C08B7-7731-413D-A33F-DB90493376DE}"/>
    </a:ext>
  </a:extLst>
</a:theme>
</file>

<file path=docProps/app.xml><?xml version="1.0" encoding="utf-8"?>
<Properties xmlns="http://schemas.openxmlformats.org/officeDocument/2006/extended-properties" xmlns:vt="http://schemas.openxmlformats.org/officeDocument/2006/docPropsVTypes">
  <Template>blank</Template>
  <TotalTime>25</TotalTime>
  <Words>3315</Words>
  <Application>Microsoft Office PowerPoint</Application>
  <PresentationFormat>Widescreen</PresentationFormat>
  <Paragraphs>518</Paragraphs>
  <Slides>17</Slides>
  <Notes>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7" baseType="lpstr">
      <vt:lpstr>Courier New</vt:lpstr>
      <vt:lpstr>Wingdings</vt:lpstr>
      <vt:lpstr>Calibri</vt:lpstr>
      <vt:lpstr>Noto Sans</vt:lpstr>
      <vt:lpstr>MMC Display Condensed</vt:lpstr>
      <vt:lpstr>Arial</vt:lpstr>
      <vt:lpstr>Marsh Serif</vt:lpstr>
      <vt:lpstr>Oliver Wyman</vt:lpstr>
      <vt:lpstr>1_Oliver Wyman</vt:lpstr>
      <vt:lpstr>think-cell Slide</vt:lpstr>
      <vt:lpstr>PowerPoint Presentation</vt:lpstr>
      <vt:lpstr>Overall vision &amp; objectives Custom, easy-to-use pricing tool supports a structured quoting process</vt:lpstr>
      <vt:lpstr>Process Steps: future state overview among various use cases</vt:lpstr>
      <vt:lpstr>PowerPoint Presentation</vt:lpstr>
      <vt:lpstr>Quoting happens in PriceAdvisor. PriceAdvisor writes the completed quote to the CRM Quote record. The CRM Quote is then routed for approval. The Opportunity only displays the Quote’s progress.</vt:lpstr>
      <vt:lpstr>Opportunity form and process changes (1/2)</vt:lpstr>
      <vt:lpstr>Opportunity form and process changes (1/2)</vt:lpstr>
      <vt:lpstr>PowerPoint Presentation</vt:lpstr>
      <vt:lpstr>Approvals workflow || crm implementation</vt:lpstr>
      <vt:lpstr>Approval workflows:  Deal scores and size will drive routing of approvals </vt:lpstr>
      <vt:lpstr>Level of approval: Deal scores and size will drive level of approval required</vt:lpstr>
      <vt:lpstr>PowerPoint Presentation</vt:lpstr>
      <vt:lpstr>Process flow (if L1 is required): L1 only</vt:lpstr>
      <vt:lpstr>Process flow (if L2 is required): L1, L2</vt:lpstr>
      <vt:lpstr>Process flow (if L3 is required): L1, l2, L3</vt:lpstr>
      <vt:lpstr>Process flow (if L4 is required): L2, L3, L4</vt:lpstr>
      <vt:lpstr>PowerPoint Presentation</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Walker, Harry</dc:creator>
  <cp:keywords/>
  <cp:lastModifiedBy>Walker, Harry</cp:lastModifiedBy>
  <cp:revision>2</cp:revision>
  <dcterms:created xsi:type="dcterms:W3CDTF">2026-05-18T15:27:02Z</dcterms:created>
  <dcterms:modified xsi:type="dcterms:W3CDTF">2026-05-22T18:35:37Z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2026/03/20</vt:lpwstr>
  </property>
  <property fmtid="{D5CDD505-2E9C-101B-9397-08002B2CF9AE}" pid="3" name="PackageID">
    <vt:lpwstr>OfficeOW@017</vt:lpwstr>
  </property>
  <property fmtid="{D5CDD505-2E9C-101B-9397-08002B2CF9AE}" pid="4" name="DocumentMSOLanguageID">
    <vt:lpwstr>msoLanguageIDEnglishUK</vt:lpwstr>
  </property>
  <property fmtid="{D5CDD505-2E9C-101B-9397-08002B2CF9AE}" pid="5" name="LogoName">
    <vt:lpwstr>Oliver Wyman</vt:lpwstr>
  </property>
  <property fmtid="{D5CDD505-2E9C-101B-9397-08002B2CF9AE}" pid="6" name="MSIP_Label_38f1469a-2c2a-4aee-b92b-090d4c5468ff_Enabled">
    <vt:lpwstr>true</vt:lpwstr>
  </property>
  <property fmtid="{D5CDD505-2E9C-101B-9397-08002B2CF9AE}" pid="7" name="MSIP_Label_38f1469a-2c2a-4aee-b92b-090d4c5468ff_SetDate">
    <vt:lpwstr>2026-05-18T15:31:41Z</vt:lpwstr>
  </property>
  <property fmtid="{D5CDD505-2E9C-101B-9397-08002B2CF9AE}" pid="8" name="MSIP_Label_38f1469a-2c2a-4aee-b92b-090d4c5468ff_Method">
    <vt:lpwstr>Standard</vt:lpwstr>
  </property>
  <property fmtid="{D5CDD505-2E9C-101B-9397-08002B2CF9AE}" pid="9" name="MSIP_Label_38f1469a-2c2a-4aee-b92b-090d4c5468ff_Name">
    <vt:lpwstr>Confidential - Unmarked</vt:lpwstr>
  </property>
  <property fmtid="{D5CDD505-2E9C-101B-9397-08002B2CF9AE}" pid="10" name="MSIP_Label_38f1469a-2c2a-4aee-b92b-090d4c5468ff_SiteId">
    <vt:lpwstr>2a6e6092-73e4-4752-b1a5-477a17f5056d</vt:lpwstr>
  </property>
  <property fmtid="{D5CDD505-2E9C-101B-9397-08002B2CF9AE}" pid="11" name="MSIP_Label_38f1469a-2c2a-4aee-b92b-090d4c5468ff_ActionId">
    <vt:lpwstr>eacb7558-fb60-4de2-acaf-e146acfe1ae7</vt:lpwstr>
  </property>
  <property fmtid="{D5CDD505-2E9C-101B-9397-08002B2CF9AE}" pid="12" name="MSIP_Label_38f1469a-2c2a-4aee-b92b-090d4c5468ff_ContentBits">
    <vt:lpwstr>0</vt:lpwstr>
  </property>
  <property fmtid="{D5CDD505-2E9C-101B-9397-08002B2CF9AE}" pid="13" name="MSIP_Label_38f1469a-2c2a-4aee-b92b-090d4c5468ff_Tag">
    <vt:lpwstr>10, 3, 0, 1</vt:lpwstr>
  </property>
</Properties>
</file>